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6" r:id="rId7"/>
    <p:sldId id="259" r:id="rId8"/>
    <p:sldId id="260" r:id="rId9"/>
    <p:sldId id="268" r:id="rId10"/>
    <p:sldId id="262" r:id="rId11"/>
    <p:sldId id="267" r:id="rId12"/>
    <p:sldId id="263" r:id="rId13"/>
    <p:sldId id="26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8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6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E00BB0-7985-3AED-7300-7C0BFC7EA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AC82DC-D766-C579-0B55-84856A9A2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B40F49-AA8F-5E3D-2045-E941CCFF1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A13A82-F146-90C1-74EA-C37429DC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E8F100-84D7-7FE5-B8ED-E92454F1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8150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914C2-EB9C-E374-960C-89365C37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9FFBBC-DE23-71D5-03A8-82EEBA9D5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18A06E-9A98-A16C-9E86-E601AE7C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F9D4DC-755B-564F-2C10-A486E7B3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48D5A8-E322-B265-6FD6-EEBEF31F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640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3C46A-1B01-72BB-FCE6-1B80669B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3EE1E5-787C-759A-6947-0D043711F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1F3E9E-FB10-FC27-A6DC-236878E9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D05EA5-6D45-F8DD-7B9D-5763C427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254BD9-8199-8638-1651-E626ADD6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757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129B4-9BEE-4134-8AF3-CDFD977FC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6DF178-1674-77EF-29D3-EFAE29CB2F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FF920F-B7E7-0A71-5150-A99698600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67AFE9-935A-5822-464E-26774E6D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A34A81-FEA2-EDA7-F0D3-836AE36CB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1D1471-034D-BB46-2432-102AD663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1130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9EB20-4806-0C17-585A-1BA951B9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5A11BE-B536-95E6-9A54-DD8D6BBC5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704A21-2D16-1D7B-A8EA-6FA686371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7F12CA-A600-86F2-9F2C-78281F319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6982CD-321C-9435-AC1D-A430280432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C9685B-DB9E-9B0C-0BD8-AE43C79D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1C79156-716E-5B3F-04B0-975D19EE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2D8C20-B7BD-3795-DF17-8F1AD07A6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53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EBF97-005E-0884-88C0-A851E799F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369CEA6-FE5E-20A2-8E80-5AE708548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A42E73-A0D0-2F0B-FD89-194AEFFD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8C1A6D-9EA3-9AA8-5BEA-5F30BD3C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740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477551-4126-3596-9F33-8CC875E4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6DC295-DB96-906B-6262-013F8FF2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023379-9CB3-D39C-07DA-5A79B57A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51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3B428-5553-87CC-FAD5-643032C85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9C7C34-2BA1-D190-83C2-5FBBA29A3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CFABD6-CB3C-9124-0927-3EA59F48A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22C077-547F-14B7-A638-D01DAAFAC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92D653-2072-D40E-CC12-7E5EFDC2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D12380-7FEA-F28F-785F-AA7F986B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343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CCBFD-1E73-66E3-E444-1F39388D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50E29C-6439-0B72-F3B8-FC2B4C2FC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E945EF-BA5C-E9F6-0125-CD031BC8E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98A6BF-A687-59F9-139F-9FE72258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706BC6-6657-D37C-6B7B-1550DA2F8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CFB7C5-87F3-0CA4-ABAA-FE0F29C42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144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AF5F3-1163-DBCE-3136-6A37B87CB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667728-218A-3528-A30B-557A651A5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EE4388-C2BC-AE36-FD81-565EBA41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7F5904-AFFF-BD4C-5690-599BF425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98E4D7-E0C0-5F40-2289-02BFE49C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672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D753C1-CBF4-19E9-B3CF-1C6E8B50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6FBBA5-0F9F-3246-3732-CF609F9E5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686A90-2100-8F54-A894-0FE2F72D6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FC7E46-CACB-A0C7-20A4-D12A4E485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38853-C27F-9A3C-ED7D-44D1B7B4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72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FB89E1-BCFC-C4B7-EA38-E258E7DF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DE256A-1E86-6993-10AC-5C48157C2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524EC1-1F32-9926-79AC-B5E858FC99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CA190-892F-4999-AE26-76D903ACC5F1}" type="datetimeFigureOut">
              <a:rPr lang="es-CO" smtClean="0"/>
              <a:t>20/01/2026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954FE1-D53F-941B-2E99-25E76C8F4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5E03AC-C3D3-149E-116D-56FC13394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C0270-2B73-4D5C-9042-14937B13B7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411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F71FA-4176-F882-D866-9D4E55585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Nociones de </a:t>
            </a:r>
            <a:r>
              <a:rPr lang="es-CO" dirty="0" err="1"/>
              <a:t>Kubernetes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F87158-D294-D740-CD7C-E1D965B76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325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94054-E60C-8259-F3A0-03812BA8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¿Qué son </a:t>
            </a:r>
            <a:r>
              <a:rPr lang="es-CO" dirty="0" err="1"/>
              <a:t>Kubernetes</a:t>
            </a:r>
            <a:r>
              <a:rPr lang="es-CO" dirty="0"/>
              <a:t>?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13DE9A-AEF6-17DD-0249-A53EAD5571AB}"/>
              </a:ext>
            </a:extLst>
          </p:cNvPr>
          <p:cNvSpPr txBox="1"/>
          <p:nvPr/>
        </p:nvSpPr>
        <p:spPr>
          <a:xfrm>
            <a:off x="664832" y="2065069"/>
            <a:ext cx="1086233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 err="1"/>
              <a:t>Kubernetes</a:t>
            </a:r>
            <a:r>
              <a:rPr lang="es-ES" sz="2400" dirty="0"/>
              <a:t> o K8s fue un proyecto surgido de Google como un programador de contenedores de código abierto de última generación, diseñado con las lecciones aprendidas en el desarrollo y la gestión de Borg y Omega.</a:t>
            </a:r>
          </a:p>
          <a:p>
            <a:endParaRPr lang="es-ES" sz="2400" dirty="0"/>
          </a:p>
          <a:p>
            <a:r>
              <a:rPr lang="es-ES" sz="2400" dirty="0" err="1"/>
              <a:t>Kubernetes</a:t>
            </a:r>
            <a:r>
              <a:rPr lang="es-ES" sz="2400" dirty="0"/>
              <a:t> se diseñó desde cero como un conjunto de componentes débilmente acoplados, centrados en la implementación, el mantenimiento y el escalado de aplicaciones.</a:t>
            </a:r>
          </a:p>
          <a:p>
            <a:endParaRPr lang="es-ES" sz="2400" dirty="0"/>
          </a:p>
          <a:p>
            <a:r>
              <a:rPr lang="es-ES" sz="2400" dirty="0" err="1"/>
              <a:t>Kubernetes</a:t>
            </a:r>
            <a:r>
              <a:rPr lang="es-ES" sz="2400" dirty="0"/>
              <a:t> es el núcleo Linux de los sistemas distribuidos. Abstrae el hardware subyacente de los nodos y proporciona una interfaz uniforme para que las aplicaciones se implementen y consuman el conjunto compartido de recursos.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55838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64002-5E7E-85B0-E3C8-993ABF39D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026" name="Picture 2" descr="Diagrama que ilustra la evolución de la implementación de cargas de trabajo en tres etapas: Tradicional, virtualizada y contenedorizada.">
            <a:extLst>
              <a:ext uri="{FF2B5EF4-FFF2-40B4-BE49-F238E27FC236}">
                <a16:creationId xmlns:a16="http://schemas.microsoft.com/office/drawing/2014/main" id="{17B27A78-BF4A-357B-721F-D55ADA3425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432" y="1137094"/>
            <a:ext cx="8796213" cy="49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326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FF3F2-E3AC-6518-F948-0D68EC48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56" y="671971"/>
            <a:ext cx="3187615" cy="1325563"/>
          </a:xfrm>
        </p:spPr>
        <p:txBody>
          <a:bodyPr/>
          <a:lstStyle/>
          <a:p>
            <a:pPr algn="ctr"/>
            <a:r>
              <a:rPr lang="es-CO" dirty="0"/>
              <a:t>Arquitectura General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966634A8-08F3-F11C-CF25-EDC5F16AEC78}"/>
              </a:ext>
            </a:extLst>
          </p:cNvPr>
          <p:cNvSpPr/>
          <p:nvPr/>
        </p:nvSpPr>
        <p:spPr>
          <a:xfrm>
            <a:off x="4179239" y="512709"/>
            <a:ext cx="7843496" cy="5943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626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0C577-28FF-C652-ADC1-4D2270147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33" y="914400"/>
            <a:ext cx="6526917" cy="5366891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s-ES" sz="3400" b="1" dirty="0"/>
              <a:t>. El Portero y la Memoria (El Núcleo)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400" b="1" dirty="0" err="1"/>
              <a:t>kube-apiserver</a:t>
            </a:r>
            <a:r>
              <a:rPr lang="es-ES" sz="3400" b="1" dirty="0"/>
              <a:t> (El Recepcionista):</a:t>
            </a:r>
            <a:endParaRPr lang="es-ES" sz="3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Es el componente más importante (el recuadro amarillo grande). Es la </a:t>
            </a:r>
            <a:r>
              <a:rPr lang="es-ES" sz="3100" b="1" dirty="0"/>
              <a:t>única</a:t>
            </a:r>
            <a:r>
              <a:rPr lang="es-ES" sz="3100" dirty="0"/>
              <a:t> vía de comunicación.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Nadie habla entre sí directamente; todos hablan con el API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Cuando usas </a:t>
            </a:r>
            <a:r>
              <a:rPr lang="es-ES" sz="3100" dirty="0" err="1">
                <a:latin typeface="Courier New" panose="02070309020205020404" pitchFamily="49" charset="0"/>
              </a:rPr>
              <a:t>kubectl</a:t>
            </a:r>
            <a:r>
              <a:rPr lang="es-ES" sz="3100" dirty="0"/>
              <a:t> (el usuario arriba a la derecha), le envías órdenes a este componente. Él valida si tienes permiso y si la orden es correcta.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400" b="1" dirty="0" err="1"/>
              <a:t>etcd</a:t>
            </a:r>
            <a:r>
              <a:rPr lang="es-ES" sz="3400" b="1" dirty="0"/>
              <a:t> (La Memoria / Base de Datos):</a:t>
            </a:r>
            <a:endParaRPr lang="es-ES" sz="3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Es el "disco duro" del clúster. Almacena toda la configuración y el estado actual de </a:t>
            </a:r>
            <a:r>
              <a:rPr lang="es-ES" sz="3100" dirty="0" err="1"/>
              <a:t>Kubernetes</a:t>
            </a:r>
            <a:r>
              <a:rPr lang="es-ES" sz="3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Es vital: si pierdes los datos de </a:t>
            </a:r>
            <a:r>
              <a:rPr lang="es-ES" sz="3100" dirty="0" err="1">
                <a:latin typeface="Courier New" panose="02070309020205020404" pitchFamily="49" charset="0"/>
              </a:rPr>
              <a:t>etcd</a:t>
            </a:r>
            <a:r>
              <a:rPr lang="es-ES" sz="3100" dirty="0"/>
              <a:t>, pierdes tu clúster.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b="1" dirty="0"/>
              <a:t>Dato clave:</a:t>
            </a:r>
            <a:r>
              <a:rPr lang="es-ES" sz="3100" dirty="0"/>
              <a:t> Solo el </a:t>
            </a:r>
            <a:r>
              <a:rPr lang="es-ES" sz="3100" dirty="0" err="1">
                <a:latin typeface="Courier New" panose="02070309020205020404" pitchFamily="49" charset="0"/>
              </a:rPr>
              <a:t>kube-apiserver</a:t>
            </a:r>
            <a:r>
              <a:rPr lang="es-ES" sz="3100" dirty="0"/>
              <a:t> puede hablar con </a:t>
            </a:r>
            <a:r>
              <a:rPr lang="es-ES" sz="3100" dirty="0" err="1">
                <a:latin typeface="Courier New" panose="02070309020205020404" pitchFamily="49" charset="0"/>
              </a:rPr>
              <a:t>etcd</a:t>
            </a:r>
            <a:r>
              <a:rPr lang="es-ES" sz="3100" dirty="0"/>
              <a:t> por seguridad.</a:t>
            </a:r>
          </a:p>
          <a:p>
            <a:pPr>
              <a:buNone/>
            </a:pPr>
            <a:r>
              <a:rPr lang="es-ES" sz="3400" b="1" dirty="0"/>
              <a:t>2. Los Gerentes (Toma de Decisiones)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400" b="1" dirty="0" err="1"/>
              <a:t>kube-scheduler</a:t>
            </a:r>
            <a:r>
              <a:rPr lang="es-ES" sz="3400" b="1" dirty="0"/>
              <a:t> (El Asignador de Asientos):</a:t>
            </a:r>
            <a:endParaRPr lang="es-ES" sz="3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Su trabajo es decidir </a:t>
            </a:r>
            <a:r>
              <a:rPr lang="es-ES" sz="3100" b="1" dirty="0"/>
              <a:t>dónde</a:t>
            </a:r>
            <a:r>
              <a:rPr lang="es-ES" sz="3100" dirty="0"/>
              <a:t> poner los nuevos </a:t>
            </a:r>
            <a:r>
              <a:rPr lang="es-ES" sz="3100" dirty="0" err="1"/>
              <a:t>Pods</a:t>
            </a:r>
            <a:r>
              <a:rPr lang="es-ES" sz="3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Mira qué nodos tienen CPU/Memoria libre y decide: </a:t>
            </a:r>
            <a:r>
              <a:rPr lang="es-ES" sz="3100" i="1" dirty="0"/>
              <a:t>"El </a:t>
            </a:r>
            <a:r>
              <a:rPr lang="es-ES" sz="3100" i="1" dirty="0" err="1"/>
              <a:t>Pod</a:t>
            </a:r>
            <a:r>
              <a:rPr lang="es-ES" sz="3100" i="1" dirty="0"/>
              <a:t> A irá al Nodo 3"</a:t>
            </a:r>
            <a:r>
              <a:rPr lang="es-ES" sz="3100" dirty="0"/>
              <a:t>. No ejecuta el </a:t>
            </a:r>
            <a:r>
              <a:rPr lang="es-ES" sz="3100" dirty="0" err="1"/>
              <a:t>pod</a:t>
            </a:r>
            <a:r>
              <a:rPr lang="es-ES" sz="3100" dirty="0"/>
              <a:t>, solo decide el destino.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400" b="1" dirty="0" err="1"/>
              <a:t>kube</a:t>
            </a:r>
            <a:r>
              <a:rPr lang="es-ES" sz="3400" b="1" dirty="0"/>
              <a:t>-</a:t>
            </a:r>
            <a:r>
              <a:rPr lang="es-ES" sz="3400" b="1" dirty="0" err="1"/>
              <a:t>controller</a:t>
            </a:r>
            <a:r>
              <a:rPr lang="es-ES" sz="3400" b="1" dirty="0"/>
              <a:t>-manager (El Capataz):</a:t>
            </a:r>
            <a:endParaRPr lang="es-ES" sz="3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Es un proceso que vigila constantemente que el </a:t>
            </a:r>
            <a:r>
              <a:rPr lang="es-ES" sz="3100" b="1" dirty="0"/>
              <a:t>estado actual</a:t>
            </a:r>
            <a:r>
              <a:rPr lang="es-ES" sz="3100" dirty="0"/>
              <a:t> coincida con el </a:t>
            </a:r>
            <a:r>
              <a:rPr lang="es-ES" sz="3100" b="1" dirty="0"/>
              <a:t>estado deseado</a:t>
            </a:r>
            <a:r>
              <a:rPr lang="es-ES" sz="31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Si tú dijiste "quiero 3 réplicas de mi web" y una se muere, este componente se da cuenta y ordena crear una nueva para volver a tener 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400" b="1" dirty="0" err="1"/>
              <a:t>cloud</a:t>
            </a:r>
            <a:r>
              <a:rPr lang="es-ES" sz="3400" b="1" dirty="0"/>
              <a:t>-</a:t>
            </a:r>
            <a:r>
              <a:rPr lang="es-ES" sz="3400" b="1" dirty="0" err="1"/>
              <a:t>controller</a:t>
            </a:r>
            <a:r>
              <a:rPr lang="es-ES" sz="3400" b="1" dirty="0"/>
              <a:t>-manager (El Enlace con la Nube):</a:t>
            </a:r>
            <a:endParaRPr lang="es-ES" sz="3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Si usas AWS, Google Cloud o Azure, este componente permite que </a:t>
            </a:r>
            <a:r>
              <a:rPr lang="es-ES" sz="3100" dirty="0" err="1"/>
              <a:t>Kubernetes</a:t>
            </a:r>
            <a:r>
              <a:rPr lang="es-ES" sz="3100" dirty="0"/>
              <a:t> hable con ellos.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100" dirty="0"/>
              <a:t>Por ejemplo: Si pides un "Load </a:t>
            </a:r>
            <a:r>
              <a:rPr lang="es-ES" sz="3100" dirty="0" err="1"/>
              <a:t>Balancer</a:t>
            </a:r>
            <a:r>
              <a:rPr lang="es-ES" sz="3100" dirty="0"/>
              <a:t>" en </a:t>
            </a:r>
            <a:r>
              <a:rPr lang="es-ES" sz="3100" dirty="0" err="1"/>
              <a:t>Kubernetes</a:t>
            </a:r>
            <a:r>
              <a:rPr lang="es-ES" sz="3100" dirty="0"/>
              <a:t>, este componente va a la API de AWS (nube arriba a la izquierda) y lo contrata.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71AEA6-9845-E7F4-5F44-15A64566F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669" y="569383"/>
            <a:ext cx="4265251" cy="584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4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AC57-120C-4F9C-87DD-2C1C11D0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90B3A-1EDC-5F3C-43EB-C9D02091F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CF909B-8A2D-AF82-FBDA-19B65D97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283" y="1929953"/>
            <a:ext cx="5077784" cy="4351338"/>
          </a:xfrm>
        </p:spPr>
        <p:txBody>
          <a:bodyPr>
            <a:normAutofit fontScale="62500" lnSpcReduction="20000"/>
          </a:bodyPr>
          <a:lstStyle/>
          <a:p>
            <a:r>
              <a:rPr lang="es-ES" b="1" dirty="0"/>
              <a:t>Los Operarios (Componentes de Nodo)</a:t>
            </a:r>
          </a:p>
          <a:p>
            <a:r>
              <a:rPr lang="es-ES" i="1" dirty="0"/>
              <a:t>Aunque este diagrama los muestra en el Master, estos componentes están en </a:t>
            </a:r>
            <a:r>
              <a:rPr lang="es-ES" b="1" i="1" dirty="0"/>
              <a:t>todos</a:t>
            </a:r>
            <a:r>
              <a:rPr lang="es-ES" i="1" dirty="0"/>
              <a:t> los nodos (incluidos los trabajadores).</a:t>
            </a:r>
            <a:endParaRPr lang="es-ES" dirty="0"/>
          </a:p>
          <a:p>
            <a:r>
              <a:rPr lang="es-ES" b="1" dirty="0" err="1"/>
              <a:t>kubelet</a:t>
            </a:r>
            <a:r>
              <a:rPr lang="es-ES" b="1" dirty="0"/>
              <a:t> (El Agente):</a:t>
            </a:r>
            <a:endParaRPr lang="es-ES" dirty="0"/>
          </a:p>
          <a:p>
            <a:pPr lvl="1"/>
            <a:r>
              <a:rPr lang="es-ES" dirty="0"/>
              <a:t>Es el "jefe de obra" local. Recibe órdenes del API Server (ej. "Levanta este contenedor aquí") y se asegura de que el contenedor esté corriendo y sano. Si el contenedor muere, le avisa al API Server.</a:t>
            </a:r>
          </a:p>
          <a:p>
            <a:r>
              <a:rPr lang="es-ES" b="1" dirty="0" err="1"/>
              <a:t>kube</a:t>
            </a:r>
            <a:r>
              <a:rPr lang="es-ES" b="1" dirty="0"/>
              <a:t>-proxy (El Policía de Tráfico):</a:t>
            </a:r>
            <a:endParaRPr lang="es-ES" dirty="0"/>
          </a:p>
          <a:p>
            <a:pPr lvl="1"/>
            <a:r>
              <a:rPr lang="es-ES" dirty="0"/>
              <a:t>Se encarga de la red. Mantiene las reglas de red para que los servicios sean accesibles y redirige el tráfico a los </a:t>
            </a:r>
            <a:r>
              <a:rPr lang="es-ES" dirty="0" err="1"/>
              <a:t>pods</a:t>
            </a:r>
            <a:r>
              <a:rPr lang="es-ES" dirty="0"/>
              <a:t> correctos.</a:t>
            </a:r>
          </a:p>
          <a:p>
            <a:r>
              <a:rPr lang="es-ES" b="1" dirty="0"/>
              <a:t>Container </a:t>
            </a:r>
            <a:r>
              <a:rPr lang="es-ES" b="1" dirty="0" err="1"/>
              <a:t>Runtime</a:t>
            </a:r>
            <a:r>
              <a:rPr lang="es-ES" b="1" dirty="0"/>
              <a:t> (El Motor):</a:t>
            </a:r>
            <a:endParaRPr lang="es-ES" dirty="0"/>
          </a:p>
          <a:p>
            <a:pPr lvl="1"/>
            <a:r>
              <a:rPr lang="es-ES" dirty="0"/>
              <a:t>Es el software que realmente ejecuta los contenedores (como Docker, </a:t>
            </a:r>
            <a:r>
              <a:rPr lang="es-ES" dirty="0" err="1"/>
              <a:t>containerd</a:t>
            </a:r>
            <a:r>
              <a:rPr lang="es-ES" dirty="0"/>
              <a:t> o CRI-O). </a:t>
            </a:r>
            <a:r>
              <a:rPr lang="es-ES" dirty="0" err="1"/>
              <a:t>Kubernetes</a:t>
            </a:r>
            <a:r>
              <a:rPr lang="es-ES" dirty="0"/>
              <a:t> no ejecuta contenedores por sí mismo, necesita este motor para hacerlo.</a:t>
            </a:r>
          </a:p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BFE0D-1895-C10A-FB5F-13A4623D6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200" y="1915531"/>
            <a:ext cx="3337453" cy="457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9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22C0F-5FE9-1129-4863-AEDAFF37B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¿Que es un </a:t>
            </a:r>
            <a:r>
              <a:rPr lang="es-CO" dirty="0" err="1"/>
              <a:t>Pod</a:t>
            </a:r>
            <a:r>
              <a:rPr lang="es-CO" dirty="0"/>
              <a:t>?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B9AA0763-9583-2446-01C5-8BE485380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2033" y="2017350"/>
            <a:ext cx="3467584" cy="22863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4438535-ADD5-B285-E0AB-AF8A57F56F56}"/>
              </a:ext>
            </a:extLst>
          </p:cNvPr>
          <p:cNvSpPr txBox="1"/>
          <p:nvPr/>
        </p:nvSpPr>
        <p:spPr>
          <a:xfrm>
            <a:off x="980372" y="2144848"/>
            <a:ext cx="5647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Un </a:t>
            </a:r>
            <a:r>
              <a:rPr lang="es-ES" dirty="0" err="1"/>
              <a:t>Pod</a:t>
            </a:r>
            <a:r>
              <a:rPr lang="es-ES" dirty="0"/>
              <a:t> consta de uno o más contenedores que comparten una dirección IP, acceso al almacenamiento y espacio de nombres.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• Unidad atómica de gestión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• Normalmente, un contenedor en un </a:t>
            </a:r>
            <a:r>
              <a:rPr lang="es-ES" dirty="0" err="1"/>
              <a:t>Pod</a:t>
            </a:r>
            <a:r>
              <a:rPr lang="es-ES" dirty="0"/>
              <a:t> ejecuta una aplicación, mientras que otros contenedores dan soporte a la aplicación principal.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93561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D2F293BD-3993-A4D8-CAFE-52FFE36F49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497" y="702644"/>
            <a:ext cx="6643006" cy="515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AB0DC-066C-36CA-DA21-F6041740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872" y="1253331"/>
            <a:ext cx="5257800" cy="435133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ES" b="1" dirty="0"/>
              <a:t>1. Parte Superior</a:t>
            </a:r>
          </a:p>
          <a:p>
            <a:r>
              <a:rPr lang="es-ES" dirty="0"/>
              <a:t>Estos componentes deciden </a:t>
            </a:r>
            <a:r>
              <a:rPr lang="es-ES" b="1" dirty="0"/>
              <a:t>cuándo</a:t>
            </a:r>
            <a:r>
              <a:rPr lang="es-ES" dirty="0"/>
              <a:t> y </a:t>
            </a:r>
            <a:r>
              <a:rPr lang="es-ES" b="1" dirty="0"/>
              <a:t>dónde</a:t>
            </a:r>
            <a:r>
              <a:rPr lang="es-ES" dirty="0"/>
              <a:t> nace o muere un </a:t>
            </a:r>
            <a:r>
              <a:rPr lang="es-ES" dirty="0" err="1"/>
              <a:t>Pod</a:t>
            </a:r>
            <a:r>
              <a:rPr lang="es-ES" dirty="0"/>
              <a:t>. Un </a:t>
            </a:r>
            <a:r>
              <a:rPr lang="es-ES" dirty="0" err="1"/>
              <a:t>Pod</a:t>
            </a:r>
            <a:r>
              <a:rPr lang="es-ES" dirty="0"/>
              <a:t> casi nunca nace solo; alguien lo gestiona.</a:t>
            </a:r>
          </a:p>
          <a:p>
            <a:r>
              <a:rPr lang="es-ES" b="1" dirty="0" err="1"/>
              <a:t>Deployment</a:t>
            </a:r>
            <a:r>
              <a:rPr lang="es-ES" b="1" dirty="0"/>
              <a:t> / </a:t>
            </a:r>
            <a:r>
              <a:rPr lang="es-ES" b="1" dirty="0" err="1"/>
              <a:t>ReplicaSet</a:t>
            </a:r>
            <a:r>
              <a:rPr lang="es-ES" b="1" dirty="0"/>
              <a:t>:</a:t>
            </a:r>
            <a:r>
              <a:rPr lang="es-ES" dirty="0"/>
              <a:t> Aseguran que siempre haya X copias de tu </a:t>
            </a:r>
            <a:r>
              <a:rPr lang="es-ES" dirty="0" err="1"/>
              <a:t>Pod</a:t>
            </a:r>
            <a:r>
              <a:rPr lang="es-ES" dirty="0"/>
              <a:t> funcionando (ej. "Quiero 3 réplicas").</a:t>
            </a:r>
          </a:p>
          <a:p>
            <a:r>
              <a:rPr lang="es-ES" b="1" dirty="0" err="1"/>
              <a:t>DaemonSet</a:t>
            </a:r>
            <a:r>
              <a:rPr lang="es-ES" b="1" dirty="0"/>
              <a:t>:</a:t>
            </a:r>
            <a:r>
              <a:rPr lang="es-ES" dirty="0"/>
              <a:t> Asegura que haya un </a:t>
            </a:r>
            <a:r>
              <a:rPr lang="es-ES" dirty="0" err="1"/>
              <a:t>Pod</a:t>
            </a:r>
            <a:r>
              <a:rPr lang="es-ES" dirty="0"/>
              <a:t> en </a:t>
            </a:r>
            <a:r>
              <a:rPr lang="es-ES" i="1" dirty="0"/>
              <a:t>cada</a:t>
            </a:r>
            <a:r>
              <a:rPr lang="es-ES" dirty="0"/>
              <a:t> nodo del clúster (útil para antivirus o logs).</a:t>
            </a:r>
          </a:p>
          <a:p>
            <a:r>
              <a:rPr lang="es-ES" b="1" dirty="0" err="1"/>
              <a:t>CronJob</a:t>
            </a:r>
            <a:r>
              <a:rPr lang="es-ES" b="1" dirty="0"/>
              <a:t> / Job:</a:t>
            </a:r>
            <a:r>
              <a:rPr lang="es-ES" dirty="0"/>
              <a:t> Crean </a:t>
            </a:r>
            <a:r>
              <a:rPr lang="es-ES" dirty="0" err="1"/>
              <a:t>Pods</a:t>
            </a:r>
            <a:r>
              <a:rPr lang="es-ES" dirty="0"/>
              <a:t> que hacen una tarea y luego mueren (como un script de </a:t>
            </a:r>
            <a:r>
              <a:rPr lang="es-ES" dirty="0" err="1"/>
              <a:t>backup</a:t>
            </a:r>
            <a:r>
              <a:rPr lang="es-ES" dirty="0"/>
              <a:t> nocturno).</a:t>
            </a:r>
          </a:p>
          <a:p>
            <a:r>
              <a:rPr lang="es-ES" b="1" dirty="0" err="1"/>
              <a:t>StatefulSet</a:t>
            </a:r>
            <a:r>
              <a:rPr lang="es-ES" b="1" dirty="0"/>
              <a:t>:</a:t>
            </a:r>
            <a:r>
              <a:rPr lang="es-ES" dirty="0"/>
              <a:t> Para bases de datos, donde importa el orden y la identidad de cada </a:t>
            </a:r>
            <a:r>
              <a:rPr lang="es-ES" dirty="0" err="1"/>
              <a:t>Pod</a:t>
            </a:r>
            <a:r>
              <a:rPr lang="es-ES" dirty="0"/>
              <a:t>.</a:t>
            </a:r>
          </a:p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b="1" dirty="0"/>
              <a:t>2. Parte de Abajo</a:t>
            </a:r>
          </a:p>
          <a:p>
            <a:r>
              <a:rPr lang="es-ES" dirty="0"/>
              <a:t>El </a:t>
            </a:r>
            <a:r>
              <a:rPr lang="es-ES" dirty="0" err="1"/>
              <a:t>Pod</a:t>
            </a:r>
            <a:r>
              <a:rPr lang="es-ES" dirty="0"/>
              <a:t> necesita datos para trabajar. Aquí es donde se conecta al almacenamiento y configuración.</a:t>
            </a:r>
          </a:p>
          <a:p>
            <a:r>
              <a:rPr lang="es-ES" b="1" dirty="0" err="1"/>
              <a:t>Volume</a:t>
            </a:r>
            <a:r>
              <a:rPr lang="es-ES" b="1" dirty="0"/>
              <a:t>:</a:t>
            </a:r>
            <a:r>
              <a:rPr lang="es-ES" dirty="0"/>
              <a:t> El "disco duro" virtual.</a:t>
            </a:r>
          </a:p>
          <a:p>
            <a:r>
              <a:rPr lang="es-ES" b="1" dirty="0" err="1"/>
              <a:t>ConfigMap</a:t>
            </a:r>
            <a:r>
              <a:rPr lang="es-ES" b="1" dirty="0"/>
              <a:t>:</a:t>
            </a:r>
            <a:r>
              <a:rPr lang="es-ES" dirty="0"/>
              <a:t> Archivos de configuración (ej. </a:t>
            </a:r>
            <a:r>
              <a:rPr lang="es-ES" dirty="0" err="1"/>
              <a:t>settings.json</a:t>
            </a:r>
            <a:r>
              <a:rPr lang="es-ES" dirty="0"/>
              <a:t>) inyectados en el </a:t>
            </a:r>
            <a:r>
              <a:rPr lang="es-ES" dirty="0" err="1"/>
              <a:t>Pod</a:t>
            </a:r>
            <a:r>
              <a:rPr lang="es-ES" dirty="0"/>
              <a:t>.</a:t>
            </a:r>
          </a:p>
          <a:p>
            <a:r>
              <a:rPr lang="es-ES" b="1" dirty="0" err="1"/>
              <a:t>Secret</a:t>
            </a:r>
            <a:r>
              <a:rPr lang="es-ES" b="1" dirty="0"/>
              <a:t>:</a:t>
            </a:r>
            <a:r>
              <a:rPr lang="es-ES" dirty="0"/>
              <a:t> Contraseñas o claves API (encriptadas) inyectadas de forma segura.</a:t>
            </a:r>
          </a:p>
          <a:p>
            <a:r>
              <a:rPr lang="es-ES" b="1" dirty="0" err="1"/>
              <a:t>PersistentVolumeClaim</a:t>
            </a:r>
            <a:r>
              <a:rPr lang="es-ES" b="1" dirty="0"/>
              <a:t> (PVC):</a:t>
            </a:r>
            <a:r>
              <a:rPr lang="es-ES" dirty="0"/>
              <a:t> La solicitud formal de almacenamiento permanente ("Necesito 10GB de disco").</a:t>
            </a:r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DBABAF-E6E5-4F2C-9FAE-85A737283F23}"/>
              </a:ext>
            </a:extLst>
          </p:cNvPr>
          <p:cNvSpPr txBox="1"/>
          <p:nvPr/>
        </p:nvSpPr>
        <p:spPr>
          <a:xfrm>
            <a:off x="6848795" y="1319456"/>
            <a:ext cx="469473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1" dirty="0"/>
              <a:t>3. Las "Conexiones" (Izquierda)</a:t>
            </a:r>
          </a:p>
          <a:p>
            <a:r>
              <a:rPr lang="es-ES" sz="1400" b="1" dirty="0" err="1"/>
              <a:t>Service</a:t>
            </a:r>
            <a:r>
              <a:rPr lang="es-ES" sz="1400" b="1" dirty="0"/>
              <a:t>:</a:t>
            </a:r>
            <a:r>
              <a:rPr lang="es-ES" sz="1400" dirty="0"/>
              <a:t> Es la dirección IP fija y el balanceador de carga. Como los </a:t>
            </a:r>
            <a:r>
              <a:rPr lang="es-ES" sz="1400" dirty="0" err="1"/>
              <a:t>Pods</a:t>
            </a:r>
            <a:r>
              <a:rPr lang="es-ES" sz="1400" dirty="0"/>
              <a:t> mueren y cambian de IP, el </a:t>
            </a:r>
            <a:r>
              <a:rPr lang="es-ES" sz="1400" b="1" dirty="0" err="1"/>
              <a:t>Service</a:t>
            </a:r>
            <a:r>
              <a:rPr lang="es-ES" sz="1400" dirty="0"/>
              <a:t> es la "recepción" que siempre sabe dónde están.</a:t>
            </a:r>
          </a:p>
          <a:p>
            <a:endParaRPr lang="es-ES" sz="1400" dirty="0"/>
          </a:p>
          <a:p>
            <a:endParaRPr lang="es-ES" sz="1400" dirty="0"/>
          </a:p>
          <a:p>
            <a:endParaRPr lang="es-ES" sz="1400" dirty="0"/>
          </a:p>
          <a:p>
            <a:endParaRPr lang="es-ES" sz="1400" dirty="0"/>
          </a:p>
          <a:p>
            <a:endParaRPr lang="es-ES" sz="1400" dirty="0"/>
          </a:p>
          <a:p>
            <a:endParaRPr lang="es-ES" sz="1400" dirty="0"/>
          </a:p>
          <a:p>
            <a:r>
              <a:rPr lang="es-ES" sz="1400" b="1" dirty="0"/>
              <a:t>4. Las "Reglas" (Derecha e Izquierda)</a:t>
            </a:r>
          </a:p>
          <a:p>
            <a:r>
              <a:rPr lang="es-ES" sz="1400" b="1" dirty="0"/>
              <a:t>Horizontal </a:t>
            </a:r>
            <a:r>
              <a:rPr lang="es-ES" sz="1400" b="1" dirty="0" err="1"/>
              <a:t>Pod</a:t>
            </a:r>
            <a:r>
              <a:rPr lang="es-ES" sz="1400" b="1" dirty="0"/>
              <a:t> </a:t>
            </a:r>
            <a:r>
              <a:rPr lang="es-ES" sz="1400" b="1" dirty="0" err="1"/>
              <a:t>Autoscaler</a:t>
            </a:r>
            <a:r>
              <a:rPr lang="es-ES" sz="1400" b="1" dirty="0"/>
              <a:t>:</a:t>
            </a:r>
            <a:r>
              <a:rPr lang="es-ES" sz="1400" dirty="0"/>
              <a:t> "Si el uso de CPU sube del 80%, crea más </a:t>
            </a:r>
            <a:r>
              <a:rPr lang="es-ES" sz="1400" dirty="0" err="1"/>
              <a:t>Pods</a:t>
            </a:r>
            <a:r>
              <a:rPr lang="es-ES" sz="1400" dirty="0"/>
              <a:t>" (contrata más empleados).</a:t>
            </a:r>
          </a:p>
          <a:p>
            <a:r>
              <a:rPr lang="es-ES" sz="1400" b="1" dirty="0" err="1"/>
              <a:t>Pod</a:t>
            </a:r>
            <a:r>
              <a:rPr lang="es-ES" sz="1400" b="1" dirty="0"/>
              <a:t> </a:t>
            </a:r>
            <a:r>
              <a:rPr lang="es-ES" sz="1400" b="1" dirty="0" err="1"/>
              <a:t>Disruption</a:t>
            </a:r>
            <a:r>
              <a:rPr lang="es-ES" sz="1400" b="1" dirty="0"/>
              <a:t> Budget:</a:t>
            </a:r>
            <a:r>
              <a:rPr lang="es-ES" sz="1400" dirty="0"/>
              <a:t> "Nunca dejes que se caigan más de 2 </a:t>
            </a:r>
            <a:r>
              <a:rPr lang="es-ES" sz="1400" dirty="0" err="1"/>
              <a:t>Pods</a:t>
            </a:r>
            <a:r>
              <a:rPr lang="es-ES" sz="1400" dirty="0"/>
              <a:t> a la vez durante un mantenimiento".</a:t>
            </a:r>
          </a:p>
        </p:txBody>
      </p:sp>
    </p:spTree>
    <p:extLst>
      <p:ext uri="{BB962C8B-B14F-4D97-AF65-F5344CB8AC3E}">
        <p14:creationId xmlns:p14="http://schemas.microsoft.com/office/powerpoint/2010/main" val="3081232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76AF51-6225-6F47-86D9-CF5E4C9EA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altLang="es-CO" b="1" dirty="0" err="1">
                <a:latin typeface="Arial" panose="020B0604020202020204" pitchFamily="34" charset="0"/>
              </a:rPr>
              <a:t>Namespaces</a:t>
            </a:r>
            <a:endParaRPr lang="es-CO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2D6809-E614-19A1-4624-8E063B6CEC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16027"/>
            <a:ext cx="5330932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Edificio de Oficinas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Imagina que tu clúster de </a:t>
            </a:r>
            <a:r>
              <a:rPr kumimoji="0" lang="es-CO" altLang="es-CO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un gran </a:t>
            </a: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edificio corporativo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 </a:t>
            </a:r>
            <a:r>
              <a:rPr kumimoji="0" lang="es-CO" altLang="es-CO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Namespaces</a:t>
            </a: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Todos los empleados (</a:t>
            </a:r>
            <a:r>
              <a:rPr kumimoji="0" lang="es-CO" altLang="es-CO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Pods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de todas las empresas están en el vestíbulo principal gritando. Es un caos, nadie sabe quién trabaja para quién y es fácil tropezar con los demás.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</a:t>
            </a:r>
            <a:r>
              <a:rPr kumimoji="0" lang="es-CO" altLang="es-CO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Namespaces</a:t>
            </a: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Divides el edificio en oficinas cerradas.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Oficina A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para el equipo de "Desarrollo".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Oficina B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para el equipo de "Finanzas".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Dentro de la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Oficina A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alguien puede llamarse "Servidor-Web". En la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Oficina B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también puede haber alguien llamado "Servidor-Web", y </a:t>
            </a: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 confunden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porque están en habitaciones separadas.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¿Para qué sirven realmente?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kumimoji="0" lang="es-CO" altLang="es-CO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namespaces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resuelven principalmente tres problemas: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Aislamiento: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Puedes tener entornos de "Producción", "</a:t>
            </a:r>
            <a:r>
              <a:rPr kumimoji="0" lang="es-CO" altLang="es-CO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 y "Desarrollo" en el mismo clúster físico sin que se toquen entre sí. Si </a:t>
            </a:r>
            <a:r>
              <a:rPr kumimoji="0" lang="es-CO" altLang="es-CO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 rompe, Producción ni se entera.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 Recursos (</a:t>
            </a:r>
            <a:r>
              <a:rPr kumimoji="0" lang="es-CO" altLang="es-CO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Quotas</a:t>
            </a: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Puedes limitar cuánto CPU o memoria gasta un equipo.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 "El </a:t>
            </a:r>
            <a:r>
              <a:rPr kumimoji="0" lang="es-CO" altLang="es-CO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'Desarrollo' no puede usar más de 4GB de RAM en total"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CO" altLang="es-CO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de Acceso (RBAC):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Puedes dar permisos específicos a usuarios. 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Ejemplo: "Juan puede crear cosas en el </a:t>
            </a:r>
            <a:r>
              <a:rPr kumimoji="0" lang="es-CO" altLang="es-CO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'</a:t>
            </a:r>
            <a:r>
              <a:rPr kumimoji="0" lang="es-CO" altLang="es-CO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', pero solo puede mirar (lectura) en el </a:t>
            </a:r>
            <a:r>
              <a:rPr kumimoji="0" lang="es-CO" altLang="es-CO" sz="11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namespace</a:t>
            </a:r>
            <a:r>
              <a:rPr kumimoji="0" lang="es-CO" altLang="es-CO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'Producción'"</a:t>
            </a:r>
            <a:r>
              <a:rPr kumimoji="0" lang="es-CO" altLang="es-CO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7517AC-1F1C-3C75-AC25-F141D99F7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612" y="2150742"/>
            <a:ext cx="5330932" cy="29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3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7E5B38C0-107D-7D6F-4C35-112862B09757}"/>
              </a:ext>
            </a:extLst>
          </p:cNvPr>
          <p:cNvSpPr/>
          <p:nvPr/>
        </p:nvSpPr>
        <p:spPr>
          <a:xfrm>
            <a:off x="759954" y="221950"/>
            <a:ext cx="10672091" cy="6414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3941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FBAF1-5D38-7215-ABC8-D9622B98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Kubernetes</a:t>
            </a:r>
            <a:r>
              <a:rPr lang="es-CO" dirty="0"/>
              <a:t> vs Docker </a:t>
            </a:r>
            <a:r>
              <a:rPr lang="es-CO" dirty="0" err="1"/>
              <a:t>Compose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7F5C87B-323D-D38D-00CF-35BF1ED7E6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268844"/>
              </p:ext>
            </p:extLst>
          </p:nvPr>
        </p:nvGraphicFramePr>
        <p:xfrm>
          <a:off x="1370560" y="1632312"/>
          <a:ext cx="9180855" cy="4860563"/>
        </p:xfrm>
        <a:graphic>
          <a:graphicData uri="http://schemas.openxmlformats.org/drawingml/2006/table">
            <a:tbl>
              <a:tblPr/>
              <a:tblGrid>
                <a:gridCol w="3060285">
                  <a:extLst>
                    <a:ext uri="{9D8B030D-6E8A-4147-A177-3AD203B41FA5}">
                      <a16:colId xmlns:a16="http://schemas.microsoft.com/office/drawing/2014/main" val="2609955010"/>
                    </a:ext>
                  </a:extLst>
                </a:gridCol>
                <a:gridCol w="3060285">
                  <a:extLst>
                    <a:ext uri="{9D8B030D-6E8A-4147-A177-3AD203B41FA5}">
                      <a16:colId xmlns:a16="http://schemas.microsoft.com/office/drawing/2014/main" val="3651420255"/>
                    </a:ext>
                  </a:extLst>
                </a:gridCol>
                <a:gridCol w="3060285">
                  <a:extLst>
                    <a:ext uri="{9D8B030D-6E8A-4147-A177-3AD203B41FA5}">
                      <a16:colId xmlns:a16="http://schemas.microsoft.com/office/drawing/2014/main" val="3919615290"/>
                    </a:ext>
                  </a:extLst>
                </a:gridCol>
              </a:tblGrid>
              <a:tr h="2143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Característica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Docker Compose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Kubernetes (K8s)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301583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Objetivo Principal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Definir y ejecutar aplicaciones multi-contenedor en </a:t>
                      </a: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un solo host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Orquestar, escalar y gestionar aplicaciones en un </a:t>
                      </a: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clúster de múltiples hosts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809579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Arquitectura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Monolítica (generalmente). Todo corre en la misma máquina.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Distribuida. Usa nodos maestros (control plane) y nodos trabajadores (workers).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179566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Escalado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Manual (</a:t>
                      </a:r>
                      <a:r>
                        <a:rPr lang="es-ES" sz="12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docker-compose scale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 Limitado a los recursos de una sola máquina.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Automático (Horizontal Pod Autoscaler). Escala a través de múltiples servidores.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092572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Alta Disponibilidad</a:t>
                      </a:r>
                      <a:endParaRPr lang="es-CO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Baja.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Si la máquina host falla, la aplicación se cae.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Alta.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Si un nodo falla, K8s mueve los contenedores a otro nodo sano automáticamente.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88519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Complejidad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Baja.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Un solo archivo YAML simple. Fácil de aprender.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Alta.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Requiere conocimientos de Pods, Deployments, Services, Ingress, etc.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88892"/>
                  </a:ext>
                </a:extLst>
              </a:tr>
              <a:tr h="36282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Configuración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Imperativa (se centra en </a:t>
                      </a:r>
                      <a:r>
                        <a:rPr lang="es-ES" sz="12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cómo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levantar los servicios).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Declarativa (se centra en el </a:t>
                      </a:r>
                      <a:r>
                        <a:rPr lang="es-ES" sz="12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estado deseado</a:t>
                      </a: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del sistema).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596982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Redes (Networking)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Simple. Crea una red puente en el host local.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Complejo. Modelo de red plano (CNI), superposiciones, gestión de tráfico avanzada.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194451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Autorrecuperación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Limitada. Puede reiniciar contenedores si fallan, pero no si el nodo muere.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Avanzada. Detecta fallos y reemplaza Pods o nodos automáticamente.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492402"/>
                  </a:ext>
                </a:extLst>
              </a:tr>
              <a:tr h="5112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Uso Ideal</a:t>
                      </a:r>
                      <a:endParaRPr lang="es-CO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Desarrollo local, pruebas, entornos de staging pequeños, prototipos.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Producción, aplicaciones empresariales, microservicios masivos, alta demanda.</a:t>
                      </a:r>
                    </a:p>
                  </a:txBody>
                  <a:tcPr marL="46127" marR="46127" marT="30752" marB="30752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06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95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46070-F0B7-95B2-0A76-D7CD1BC7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Formas de ejecutar Trabajos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61A023A-0300-51A6-E821-A1226547DB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6167831"/>
              </p:ext>
            </p:extLst>
          </p:nvPr>
        </p:nvGraphicFramePr>
        <p:xfrm>
          <a:off x="789104" y="1734011"/>
          <a:ext cx="10515600" cy="4389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8378307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856065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17663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Característica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StartJobRun (API)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Spark Operator (K8s Native)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245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Estilo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Imperativo ("¡Ejecuta esto!")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Declarativo ("Quiero este estado")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35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Herramienta principal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AWS CLI, SDK (Python/Java), Airflow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kubectl</a:t>
                      </a: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ArgoCD, Flux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5748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¿Quién lo prefiere?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Ingenieros de Datos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(centrados en el pipeline y lógica de negocio).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Ingenieros de DevOps/Plataforma</a:t>
                      </a:r>
                      <a:r>
                        <a:rPr lang="es-ES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(centrados en la infraestructura y GitOps).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235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Acceso necesario</a:t>
                      </a:r>
                      <a:endParaRPr lang="es-CO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Permisos de IAM de AWS.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Acceso al clúster Kubernetes (</a:t>
                      </a:r>
                      <a:r>
                        <a:rPr lang="es-CO" sz="20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kubeconfig</a:t>
                      </a: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67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Gestión del ciclo de vida</a:t>
                      </a:r>
                      <a:endParaRPr lang="es-E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20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 orquestador (Airflow) espera a que termine.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20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El controlador de K8s gestiona el estado y reintentos.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4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560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1515</Words>
  <Application>Microsoft Office PowerPoint</Application>
  <PresentationFormat>Panorámica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Google Sans Text</vt:lpstr>
      <vt:lpstr>Tema de Office</vt:lpstr>
      <vt:lpstr>Nociones de Kubernetes</vt:lpstr>
      <vt:lpstr>¿Qué son Kubernetes?</vt:lpstr>
      <vt:lpstr>Presentación de PowerPoint</vt:lpstr>
      <vt:lpstr>Arquitectura General</vt:lpstr>
      <vt:lpstr>Presentación de PowerPoint</vt:lpstr>
      <vt:lpstr>Presentación de PowerPoint</vt:lpstr>
      <vt:lpstr>¿Que es un Pod?</vt:lpstr>
      <vt:lpstr>Presentación de PowerPoint</vt:lpstr>
      <vt:lpstr>Presentación de PowerPoint</vt:lpstr>
      <vt:lpstr>Namespaces</vt:lpstr>
      <vt:lpstr>Presentación de PowerPoint</vt:lpstr>
      <vt:lpstr>Kubernetes vs Docker Compose</vt:lpstr>
      <vt:lpstr>Formas de ejecutar Trabajos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Esteban Mejia Velasquez</dc:creator>
  <cp:lastModifiedBy>Juan Esteban Mejia Velasquez</cp:lastModifiedBy>
  <cp:revision>2</cp:revision>
  <dcterms:created xsi:type="dcterms:W3CDTF">2026-01-20T16:01:16Z</dcterms:created>
  <dcterms:modified xsi:type="dcterms:W3CDTF">2026-01-21T21:52:57Z</dcterms:modified>
</cp:coreProperties>
</file>