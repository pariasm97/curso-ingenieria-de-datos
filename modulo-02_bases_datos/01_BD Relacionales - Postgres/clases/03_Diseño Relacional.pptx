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85"/>
  </p:notesMasterIdLst>
  <p:sldIdLst>
    <p:sldId id="256" r:id="rId5"/>
    <p:sldId id="331" r:id="rId6"/>
    <p:sldId id="8497" r:id="rId7"/>
    <p:sldId id="8502" r:id="rId8"/>
    <p:sldId id="8504" r:id="rId9"/>
    <p:sldId id="8503" r:id="rId10"/>
    <p:sldId id="8550" r:id="rId11"/>
    <p:sldId id="8553" r:id="rId12"/>
    <p:sldId id="8560" r:id="rId13"/>
    <p:sldId id="8505" r:id="rId14"/>
    <p:sldId id="8506" r:id="rId15"/>
    <p:sldId id="8507" r:id="rId16"/>
    <p:sldId id="8510" r:id="rId17"/>
    <p:sldId id="8518" r:id="rId18"/>
    <p:sldId id="8519" r:id="rId19"/>
    <p:sldId id="8520" r:id="rId20"/>
    <p:sldId id="8521" r:id="rId21"/>
    <p:sldId id="8522" r:id="rId22"/>
    <p:sldId id="8523" r:id="rId23"/>
    <p:sldId id="8508" r:id="rId24"/>
    <p:sldId id="8551" r:id="rId25"/>
    <p:sldId id="8583" r:id="rId26"/>
    <p:sldId id="8559" r:id="rId27"/>
    <p:sldId id="8561" r:id="rId28"/>
    <p:sldId id="8584" r:id="rId29"/>
    <p:sldId id="333" r:id="rId30"/>
    <p:sldId id="8509" r:id="rId31"/>
    <p:sldId id="8552" r:id="rId32"/>
    <p:sldId id="8566" r:id="rId33"/>
    <p:sldId id="8513" r:id="rId34"/>
    <p:sldId id="8514" r:id="rId35"/>
    <p:sldId id="8515" r:id="rId36"/>
    <p:sldId id="8516" r:id="rId37"/>
    <p:sldId id="8568" r:id="rId38"/>
    <p:sldId id="8567" r:id="rId39"/>
    <p:sldId id="8570" r:id="rId40"/>
    <p:sldId id="8554" r:id="rId41"/>
    <p:sldId id="8569" r:id="rId42"/>
    <p:sldId id="8555" r:id="rId43"/>
    <p:sldId id="8556" r:id="rId44"/>
    <p:sldId id="8557" r:id="rId45"/>
    <p:sldId id="8512" r:id="rId46"/>
    <p:sldId id="8558" r:id="rId47"/>
    <p:sldId id="8562" r:id="rId48"/>
    <p:sldId id="8563" r:id="rId49"/>
    <p:sldId id="8564" r:id="rId50"/>
    <p:sldId id="8565" r:id="rId51"/>
    <p:sldId id="8585" r:id="rId52"/>
    <p:sldId id="8517" r:id="rId53"/>
    <p:sldId id="8571" r:id="rId54"/>
    <p:sldId id="8526" r:id="rId55"/>
    <p:sldId id="8524" r:id="rId56"/>
    <p:sldId id="8573" r:id="rId57"/>
    <p:sldId id="8574" r:id="rId58"/>
    <p:sldId id="8576" r:id="rId59"/>
    <p:sldId id="8577" r:id="rId60"/>
    <p:sldId id="8572" r:id="rId61"/>
    <p:sldId id="8525" r:id="rId62"/>
    <p:sldId id="8528" r:id="rId63"/>
    <p:sldId id="8579" r:id="rId64"/>
    <p:sldId id="8580" r:id="rId65"/>
    <p:sldId id="8581" r:id="rId66"/>
    <p:sldId id="8582" r:id="rId67"/>
    <p:sldId id="8532" r:id="rId68"/>
    <p:sldId id="8529" r:id="rId69"/>
    <p:sldId id="8530" r:id="rId70"/>
    <p:sldId id="8535" r:id="rId71"/>
    <p:sldId id="8531" r:id="rId72"/>
    <p:sldId id="8533" r:id="rId73"/>
    <p:sldId id="8547" r:id="rId74"/>
    <p:sldId id="8534" r:id="rId75"/>
    <p:sldId id="8546" r:id="rId76"/>
    <p:sldId id="8548" r:id="rId77"/>
    <p:sldId id="8536" r:id="rId78"/>
    <p:sldId id="8537" r:id="rId79"/>
    <p:sldId id="8538" r:id="rId80"/>
    <p:sldId id="8539" r:id="rId81"/>
    <p:sldId id="8527" r:id="rId82"/>
    <p:sldId id="268" r:id="rId83"/>
    <p:sldId id="8575" r:id="rId84"/>
  </p:sldIdLst>
  <p:sldSz cx="18288000" cy="10287000"/>
  <p:notesSz cx="6858000" cy="9144000"/>
  <p:embeddedFontLst>
    <p:embeddedFont>
      <p:font typeface="Poppins" panose="00000500000000000000" pitchFamily="2" charset="0"/>
      <p:regular r:id="rId86"/>
      <p:bold r:id="rId87"/>
      <p:italic r:id="rId88"/>
      <p:boldItalic r:id="rId89"/>
    </p:embeddedFont>
    <p:embeddedFont>
      <p:font typeface="Poppins 1 Bold" panose="020B0604020202020204" charset="0"/>
      <p:regular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1" roundtripDataSignature="AMtx7miCuhGeosWqeH/wf4kyj2KadRk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8" autoAdjust="0"/>
    <p:restoredTop sz="94660"/>
  </p:normalViewPr>
  <p:slideViewPr>
    <p:cSldViewPr snapToGrid="0">
      <p:cViewPr varScale="1">
        <p:scale>
          <a:sx n="102" d="100"/>
          <a:sy n="102" d="100"/>
        </p:scale>
        <p:origin x="162" y="2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font" Target="fonts/font4.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font" Target="fonts/font2.fntdata"/><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font" Target="fonts/font5.fntdata"/><Relationship Id="rId95"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notesMaster" Target="notesMasters/notesMaster1.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font" Target="fonts/font3.fntdata"/><Relationship Id="rId91"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font" Target="fonts/font1.fntdata"/><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E88520-F094-4AB5-AE39-BDACEC21F00E}"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s-CO"/>
        </a:p>
      </dgm:t>
    </dgm:pt>
    <dgm:pt modelId="{3E4A5349-783B-4174-AE46-36376482FE3A}">
      <dgm:prSet/>
      <dgm:spPr/>
      <dgm:t>
        <a:bodyPr/>
        <a:lstStyle/>
        <a:p>
          <a:r>
            <a:rPr lang="es-ES" b="1" i="0"/>
            <a:t>Abrid Datos desnortmalizados e ilustrar</a:t>
          </a:r>
          <a:endParaRPr lang="es-CO"/>
        </a:p>
      </dgm:t>
    </dgm:pt>
    <dgm:pt modelId="{76C0757D-0125-4B8A-ADF3-01E48BB7BBA6}" type="parTrans" cxnId="{D3C1446C-2615-455B-B29B-C6CFC23CCABE}">
      <dgm:prSet/>
      <dgm:spPr/>
      <dgm:t>
        <a:bodyPr/>
        <a:lstStyle/>
        <a:p>
          <a:endParaRPr lang="es-CO"/>
        </a:p>
      </dgm:t>
    </dgm:pt>
    <dgm:pt modelId="{971A4FBE-E40E-4957-9D5C-B129222077D6}" type="sibTrans" cxnId="{D3C1446C-2615-455B-B29B-C6CFC23CCABE}">
      <dgm:prSet/>
      <dgm:spPr/>
      <dgm:t>
        <a:bodyPr/>
        <a:lstStyle/>
        <a:p>
          <a:endParaRPr lang="es-CO"/>
        </a:p>
      </dgm:t>
    </dgm:pt>
    <dgm:pt modelId="{D6EF15B0-B62F-45F3-A6C2-09CF398255C4}">
      <dgm:prSet/>
      <dgm:spPr/>
      <dgm:t>
        <a:bodyPr/>
        <a:lstStyle/>
        <a:p>
          <a:r>
            <a:rPr lang="es-ES" b="1" i="0"/>
            <a:t>La maldición de la dimensionalidad</a:t>
          </a:r>
          <a:endParaRPr lang="es-CO"/>
        </a:p>
      </dgm:t>
    </dgm:pt>
    <dgm:pt modelId="{056A4B80-3E89-4295-B7E2-8E0B3838EB4F}" type="parTrans" cxnId="{94DF639C-8BE8-4D56-880A-32E0B33EA4EF}">
      <dgm:prSet/>
      <dgm:spPr/>
      <dgm:t>
        <a:bodyPr/>
        <a:lstStyle/>
        <a:p>
          <a:endParaRPr lang="es-CO"/>
        </a:p>
      </dgm:t>
    </dgm:pt>
    <dgm:pt modelId="{128F71DD-8EEE-43DC-A50B-AC9133C3E263}" type="sibTrans" cxnId="{94DF639C-8BE8-4D56-880A-32E0B33EA4EF}">
      <dgm:prSet/>
      <dgm:spPr/>
      <dgm:t>
        <a:bodyPr/>
        <a:lstStyle/>
        <a:p>
          <a:endParaRPr lang="es-CO"/>
        </a:p>
      </dgm:t>
    </dgm:pt>
    <dgm:pt modelId="{2488E620-80FE-4C9A-8539-C9EF3CBED98A}" type="pres">
      <dgm:prSet presAssocID="{95E88520-F094-4AB5-AE39-BDACEC21F00E}" presName="Name0" presStyleCnt="0">
        <dgm:presLayoutVars>
          <dgm:dir/>
          <dgm:animLvl val="lvl"/>
          <dgm:resizeHandles val="exact"/>
        </dgm:presLayoutVars>
      </dgm:prSet>
      <dgm:spPr/>
    </dgm:pt>
    <dgm:pt modelId="{CB734341-E4DC-4C56-ADC1-C901E7DF550C}" type="pres">
      <dgm:prSet presAssocID="{3E4A5349-783B-4174-AE46-36376482FE3A}" presName="linNode" presStyleCnt="0"/>
      <dgm:spPr/>
    </dgm:pt>
    <dgm:pt modelId="{55AEBD71-788D-4EE5-8622-5FFF5CF7C899}" type="pres">
      <dgm:prSet presAssocID="{3E4A5349-783B-4174-AE46-36376482FE3A}" presName="parentText" presStyleLbl="node1" presStyleIdx="0" presStyleCnt="2">
        <dgm:presLayoutVars>
          <dgm:chMax val="1"/>
          <dgm:bulletEnabled val="1"/>
        </dgm:presLayoutVars>
      </dgm:prSet>
      <dgm:spPr/>
    </dgm:pt>
    <dgm:pt modelId="{A6EAC274-C2C5-4F76-A0F4-40AFCCAED7E0}" type="pres">
      <dgm:prSet presAssocID="{971A4FBE-E40E-4957-9D5C-B129222077D6}" presName="sp" presStyleCnt="0"/>
      <dgm:spPr/>
    </dgm:pt>
    <dgm:pt modelId="{FCAC8D32-D0B0-42AF-AD3E-2767C45DB583}" type="pres">
      <dgm:prSet presAssocID="{D6EF15B0-B62F-45F3-A6C2-09CF398255C4}" presName="linNode" presStyleCnt="0"/>
      <dgm:spPr/>
    </dgm:pt>
    <dgm:pt modelId="{AC8E49C3-6986-444E-8CCF-1178E547B44E}" type="pres">
      <dgm:prSet presAssocID="{D6EF15B0-B62F-45F3-A6C2-09CF398255C4}" presName="parentText" presStyleLbl="node1" presStyleIdx="1" presStyleCnt="2">
        <dgm:presLayoutVars>
          <dgm:chMax val="1"/>
          <dgm:bulletEnabled val="1"/>
        </dgm:presLayoutVars>
      </dgm:prSet>
      <dgm:spPr/>
    </dgm:pt>
  </dgm:ptLst>
  <dgm:cxnLst>
    <dgm:cxn modelId="{CB1FA22A-8BE9-47A1-B8F5-49EBB37A50AC}" type="presOf" srcId="{95E88520-F094-4AB5-AE39-BDACEC21F00E}" destId="{2488E620-80FE-4C9A-8539-C9EF3CBED98A}" srcOrd="0" destOrd="0" presId="urn:microsoft.com/office/officeart/2005/8/layout/vList5"/>
    <dgm:cxn modelId="{3C9F483B-40EB-4DE6-8944-1DB5D1E3916E}" type="presOf" srcId="{3E4A5349-783B-4174-AE46-36376482FE3A}" destId="{55AEBD71-788D-4EE5-8622-5FFF5CF7C899}" srcOrd="0" destOrd="0" presId="urn:microsoft.com/office/officeart/2005/8/layout/vList5"/>
    <dgm:cxn modelId="{D3C1446C-2615-455B-B29B-C6CFC23CCABE}" srcId="{95E88520-F094-4AB5-AE39-BDACEC21F00E}" destId="{3E4A5349-783B-4174-AE46-36376482FE3A}" srcOrd="0" destOrd="0" parTransId="{76C0757D-0125-4B8A-ADF3-01E48BB7BBA6}" sibTransId="{971A4FBE-E40E-4957-9D5C-B129222077D6}"/>
    <dgm:cxn modelId="{94DF639C-8BE8-4D56-880A-32E0B33EA4EF}" srcId="{95E88520-F094-4AB5-AE39-BDACEC21F00E}" destId="{D6EF15B0-B62F-45F3-A6C2-09CF398255C4}" srcOrd="1" destOrd="0" parTransId="{056A4B80-3E89-4295-B7E2-8E0B3838EB4F}" sibTransId="{128F71DD-8EEE-43DC-A50B-AC9133C3E263}"/>
    <dgm:cxn modelId="{BA8C0AD0-EDC5-4350-B57D-FD6542FFF9EE}" type="presOf" srcId="{D6EF15B0-B62F-45F3-A6C2-09CF398255C4}" destId="{AC8E49C3-6986-444E-8CCF-1178E547B44E}" srcOrd="0" destOrd="0" presId="urn:microsoft.com/office/officeart/2005/8/layout/vList5"/>
    <dgm:cxn modelId="{9DBDB6DE-E478-4206-B0D9-ED7EDEE510D3}" type="presParOf" srcId="{2488E620-80FE-4C9A-8539-C9EF3CBED98A}" destId="{CB734341-E4DC-4C56-ADC1-C901E7DF550C}" srcOrd="0" destOrd="0" presId="urn:microsoft.com/office/officeart/2005/8/layout/vList5"/>
    <dgm:cxn modelId="{597B9970-CAA0-4C5B-8D4C-0536C440CB8A}" type="presParOf" srcId="{CB734341-E4DC-4C56-ADC1-C901E7DF550C}" destId="{55AEBD71-788D-4EE5-8622-5FFF5CF7C899}" srcOrd="0" destOrd="0" presId="urn:microsoft.com/office/officeart/2005/8/layout/vList5"/>
    <dgm:cxn modelId="{1CAB01D5-005E-4C06-817D-24616471B771}" type="presParOf" srcId="{2488E620-80FE-4C9A-8539-C9EF3CBED98A}" destId="{A6EAC274-C2C5-4F76-A0F4-40AFCCAED7E0}" srcOrd="1" destOrd="0" presId="urn:microsoft.com/office/officeart/2005/8/layout/vList5"/>
    <dgm:cxn modelId="{7011C9E0-A7A3-432F-9522-B68743964373}" type="presParOf" srcId="{2488E620-80FE-4C9A-8539-C9EF3CBED98A}" destId="{FCAC8D32-D0B0-42AF-AD3E-2767C45DB583}" srcOrd="2" destOrd="0" presId="urn:microsoft.com/office/officeart/2005/8/layout/vList5"/>
    <dgm:cxn modelId="{EFDD7A94-F023-4B5D-B870-012AC3E2E584}" type="presParOf" srcId="{FCAC8D32-D0B0-42AF-AD3E-2767C45DB583}" destId="{AC8E49C3-6986-444E-8CCF-1178E547B44E}" srcOrd="0"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843CEB-B895-4976-900F-7CADFF1F43E1}"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s-CO"/>
        </a:p>
      </dgm:t>
    </dgm:pt>
    <dgm:pt modelId="{66C9426E-3096-4681-93AC-C3FBC51C6144}">
      <dgm:prSet/>
      <dgm:spPr/>
      <dgm:t>
        <a:bodyPr/>
        <a:lstStyle/>
        <a:p>
          <a:r>
            <a:rPr lang="es-ES" b="0" i="0" dirty="0"/>
            <a:t>Especificación del Problema </a:t>
          </a:r>
          <a:endParaRPr lang="es-CO" dirty="0"/>
        </a:p>
      </dgm:t>
    </dgm:pt>
    <dgm:pt modelId="{DD1176D3-01C4-49DE-BF96-B6F2D9B46978}" type="parTrans" cxnId="{C4BFA4DD-D2FF-4582-BDF9-7FA40D433ED5}">
      <dgm:prSet/>
      <dgm:spPr/>
      <dgm:t>
        <a:bodyPr/>
        <a:lstStyle/>
        <a:p>
          <a:endParaRPr lang="es-CO"/>
        </a:p>
      </dgm:t>
    </dgm:pt>
    <dgm:pt modelId="{A85AD44E-089C-499C-9882-9360851DEAA9}" type="sibTrans" cxnId="{C4BFA4DD-D2FF-4582-BDF9-7FA40D433ED5}">
      <dgm:prSet/>
      <dgm:spPr/>
      <dgm:t>
        <a:bodyPr/>
        <a:lstStyle/>
        <a:p>
          <a:endParaRPr lang="es-CO"/>
        </a:p>
      </dgm:t>
    </dgm:pt>
    <dgm:pt modelId="{10A1F211-A660-4485-AB3F-E6FB8E72C7FD}">
      <dgm:prSet/>
      <dgm:spPr/>
      <dgm:t>
        <a:bodyPr/>
        <a:lstStyle/>
        <a:p>
          <a:r>
            <a:rPr lang="es-ES" b="0" i="0" dirty="0"/>
            <a:t>Modelo Conceptual</a:t>
          </a:r>
          <a:endParaRPr lang="es-CO" dirty="0"/>
        </a:p>
      </dgm:t>
    </dgm:pt>
    <dgm:pt modelId="{53367BD0-A05B-4C92-B09F-625975739E8A}" type="parTrans" cxnId="{A6BE8515-9922-4E1C-94B9-6825565DB552}">
      <dgm:prSet/>
      <dgm:spPr/>
      <dgm:t>
        <a:bodyPr/>
        <a:lstStyle/>
        <a:p>
          <a:endParaRPr lang="es-CO"/>
        </a:p>
      </dgm:t>
    </dgm:pt>
    <dgm:pt modelId="{9CF59634-4413-4A51-AD7E-890D33B19EDE}" type="sibTrans" cxnId="{A6BE8515-9922-4E1C-94B9-6825565DB552}">
      <dgm:prSet/>
      <dgm:spPr/>
      <dgm:t>
        <a:bodyPr/>
        <a:lstStyle/>
        <a:p>
          <a:endParaRPr lang="es-CO"/>
        </a:p>
      </dgm:t>
    </dgm:pt>
    <dgm:pt modelId="{F09B1710-B8A6-4E3D-843E-522F6A747629}">
      <dgm:prSet/>
      <dgm:spPr/>
      <dgm:t>
        <a:bodyPr/>
        <a:lstStyle/>
        <a:p>
          <a:r>
            <a:rPr lang="es-ES" b="0" i="0" dirty="0"/>
            <a:t>Modelo de Implementación</a:t>
          </a:r>
          <a:endParaRPr lang="es-CO" dirty="0"/>
        </a:p>
      </dgm:t>
    </dgm:pt>
    <dgm:pt modelId="{BC6867E1-5CEE-4CA2-B869-CB02D8E4C609}" type="parTrans" cxnId="{A8BBC9A5-88E4-4C53-B6EC-E9C944B75429}">
      <dgm:prSet/>
      <dgm:spPr/>
      <dgm:t>
        <a:bodyPr/>
        <a:lstStyle/>
        <a:p>
          <a:endParaRPr lang="es-CO"/>
        </a:p>
      </dgm:t>
    </dgm:pt>
    <dgm:pt modelId="{2FB19869-A487-4A00-9D74-66A2AD4F161E}" type="sibTrans" cxnId="{A8BBC9A5-88E4-4C53-B6EC-E9C944B75429}">
      <dgm:prSet/>
      <dgm:spPr/>
      <dgm:t>
        <a:bodyPr/>
        <a:lstStyle/>
        <a:p>
          <a:endParaRPr lang="es-CO"/>
        </a:p>
      </dgm:t>
    </dgm:pt>
    <dgm:pt modelId="{557053AC-18C0-4080-AC8C-3C18CF95107A}">
      <dgm:prSet/>
      <dgm:spPr/>
      <dgm:t>
        <a:bodyPr/>
        <a:lstStyle/>
        <a:p>
          <a:r>
            <a:rPr lang="es-ES" b="0" i="0"/>
            <a:t>Base de datos relacional</a:t>
          </a:r>
          <a:endParaRPr lang="es-CO"/>
        </a:p>
      </dgm:t>
    </dgm:pt>
    <dgm:pt modelId="{2B5F572E-4011-4575-AE8B-D8345BC480F4}" type="parTrans" cxnId="{82EFC206-2E7C-4175-82D2-A109A49C5520}">
      <dgm:prSet/>
      <dgm:spPr/>
      <dgm:t>
        <a:bodyPr/>
        <a:lstStyle/>
        <a:p>
          <a:endParaRPr lang="es-CO"/>
        </a:p>
      </dgm:t>
    </dgm:pt>
    <dgm:pt modelId="{07F3FEBD-3052-47C0-94B9-8BB7D05AA256}" type="sibTrans" cxnId="{82EFC206-2E7C-4175-82D2-A109A49C5520}">
      <dgm:prSet/>
      <dgm:spPr/>
      <dgm:t>
        <a:bodyPr/>
        <a:lstStyle/>
        <a:p>
          <a:endParaRPr lang="es-CO"/>
        </a:p>
      </dgm:t>
    </dgm:pt>
    <dgm:pt modelId="{600D9610-3A56-4D48-A6F3-EF4654F3EE64}" type="pres">
      <dgm:prSet presAssocID="{C9843CEB-B895-4976-900F-7CADFF1F43E1}" presName="Name0" presStyleCnt="0">
        <dgm:presLayoutVars>
          <dgm:dir/>
          <dgm:resizeHandles val="exact"/>
        </dgm:presLayoutVars>
      </dgm:prSet>
      <dgm:spPr/>
    </dgm:pt>
    <dgm:pt modelId="{2B0BCC32-784A-4D5B-8353-23C16053FD8B}" type="pres">
      <dgm:prSet presAssocID="{66C9426E-3096-4681-93AC-C3FBC51C6144}" presName="node" presStyleLbl="node1" presStyleIdx="0" presStyleCnt="4">
        <dgm:presLayoutVars>
          <dgm:bulletEnabled val="1"/>
        </dgm:presLayoutVars>
      </dgm:prSet>
      <dgm:spPr/>
    </dgm:pt>
    <dgm:pt modelId="{3D8527F4-CDD3-453C-9CB9-B2C059458FF2}" type="pres">
      <dgm:prSet presAssocID="{A85AD44E-089C-499C-9882-9360851DEAA9}" presName="sibTrans" presStyleLbl="sibTrans2D1" presStyleIdx="0" presStyleCnt="3"/>
      <dgm:spPr/>
    </dgm:pt>
    <dgm:pt modelId="{09BFBDFC-EE80-49A5-9C56-75ED768E0A4F}" type="pres">
      <dgm:prSet presAssocID="{A85AD44E-089C-499C-9882-9360851DEAA9}" presName="connectorText" presStyleLbl="sibTrans2D1" presStyleIdx="0" presStyleCnt="3"/>
      <dgm:spPr/>
    </dgm:pt>
    <dgm:pt modelId="{D0EC1CC0-3D91-4125-9B54-BEB55B8BF791}" type="pres">
      <dgm:prSet presAssocID="{10A1F211-A660-4485-AB3F-E6FB8E72C7FD}" presName="node" presStyleLbl="node1" presStyleIdx="1" presStyleCnt="4">
        <dgm:presLayoutVars>
          <dgm:bulletEnabled val="1"/>
        </dgm:presLayoutVars>
      </dgm:prSet>
      <dgm:spPr/>
    </dgm:pt>
    <dgm:pt modelId="{D7C99F55-161E-44A1-9A1A-666A3482B965}" type="pres">
      <dgm:prSet presAssocID="{9CF59634-4413-4A51-AD7E-890D33B19EDE}" presName="sibTrans" presStyleLbl="sibTrans2D1" presStyleIdx="1" presStyleCnt="3"/>
      <dgm:spPr/>
    </dgm:pt>
    <dgm:pt modelId="{E9265B79-2DFB-4E38-8DEB-89A31C9121BA}" type="pres">
      <dgm:prSet presAssocID="{9CF59634-4413-4A51-AD7E-890D33B19EDE}" presName="connectorText" presStyleLbl="sibTrans2D1" presStyleIdx="1" presStyleCnt="3"/>
      <dgm:spPr/>
    </dgm:pt>
    <dgm:pt modelId="{583BF8E3-E322-47FB-BFC1-448A7295D9D3}" type="pres">
      <dgm:prSet presAssocID="{F09B1710-B8A6-4E3D-843E-522F6A747629}" presName="node" presStyleLbl="node1" presStyleIdx="2" presStyleCnt="4">
        <dgm:presLayoutVars>
          <dgm:bulletEnabled val="1"/>
        </dgm:presLayoutVars>
      </dgm:prSet>
      <dgm:spPr/>
    </dgm:pt>
    <dgm:pt modelId="{DA5E9B4A-2F15-4500-9B01-48E6E21965F6}" type="pres">
      <dgm:prSet presAssocID="{2FB19869-A487-4A00-9D74-66A2AD4F161E}" presName="sibTrans" presStyleLbl="sibTrans2D1" presStyleIdx="2" presStyleCnt="3"/>
      <dgm:spPr/>
    </dgm:pt>
    <dgm:pt modelId="{4B9DC936-881D-4CCB-9450-BB7183F9EF8E}" type="pres">
      <dgm:prSet presAssocID="{2FB19869-A487-4A00-9D74-66A2AD4F161E}" presName="connectorText" presStyleLbl="sibTrans2D1" presStyleIdx="2" presStyleCnt="3"/>
      <dgm:spPr/>
    </dgm:pt>
    <dgm:pt modelId="{204D5A2E-A39F-48F4-974F-6AF598CFCB3F}" type="pres">
      <dgm:prSet presAssocID="{557053AC-18C0-4080-AC8C-3C18CF95107A}" presName="node" presStyleLbl="node1" presStyleIdx="3" presStyleCnt="4">
        <dgm:presLayoutVars>
          <dgm:bulletEnabled val="1"/>
        </dgm:presLayoutVars>
      </dgm:prSet>
      <dgm:spPr/>
    </dgm:pt>
  </dgm:ptLst>
  <dgm:cxnLst>
    <dgm:cxn modelId="{82EFC206-2E7C-4175-82D2-A109A49C5520}" srcId="{C9843CEB-B895-4976-900F-7CADFF1F43E1}" destId="{557053AC-18C0-4080-AC8C-3C18CF95107A}" srcOrd="3" destOrd="0" parTransId="{2B5F572E-4011-4575-AE8B-D8345BC480F4}" sibTransId="{07F3FEBD-3052-47C0-94B9-8BB7D05AA256}"/>
    <dgm:cxn modelId="{A6BE8515-9922-4E1C-94B9-6825565DB552}" srcId="{C9843CEB-B895-4976-900F-7CADFF1F43E1}" destId="{10A1F211-A660-4485-AB3F-E6FB8E72C7FD}" srcOrd="1" destOrd="0" parTransId="{53367BD0-A05B-4C92-B09F-625975739E8A}" sibTransId="{9CF59634-4413-4A51-AD7E-890D33B19EDE}"/>
    <dgm:cxn modelId="{2587852E-E956-4423-822C-8F63405801C5}" type="presOf" srcId="{9CF59634-4413-4A51-AD7E-890D33B19EDE}" destId="{E9265B79-2DFB-4E38-8DEB-89A31C9121BA}" srcOrd="1" destOrd="0" presId="urn:microsoft.com/office/officeart/2005/8/layout/process1"/>
    <dgm:cxn modelId="{8D9E6078-528B-47F3-93BA-6A29F89C195C}" type="presOf" srcId="{F09B1710-B8A6-4E3D-843E-522F6A747629}" destId="{583BF8E3-E322-47FB-BFC1-448A7295D9D3}" srcOrd="0" destOrd="0" presId="urn:microsoft.com/office/officeart/2005/8/layout/process1"/>
    <dgm:cxn modelId="{C364FF78-B312-42D9-BA8F-15C307879355}" type="presOf" srcId="{2FB19869-A487-4A00-9D74-66A2AD4F161E}" destId="{DA5E9B4A-2F15-4500-9B01-48E6E21965F6}" srcOrd="0" destOrd="0" presId="urn:microsoft.com/office/officeart/2005/8/layout/process1"/>
    <dgm:cxn modelId="{E78F228D-1CC8-48FD-B2F2-D55AC13EBE0A}" type="presOf" srcId="{557053AC-18C0-4080-AC8C-3C18CF95107A}" destId="{204D5A2E-A39F-48F4-974F-6AF598CFCB3F}" srcOrd="0" destOrd="0" presId="urn:microsoft.com/office/officeart/2005/8/layout/process1"/>
    <dgm:cxn modelId="{95A20395-1BC3-48AD-92F8-297DDA6DBD01}" type="presOf" srcId="{9CF59634-4413-4A51-AD7E-890D33B19EDE}" destId="{D7C99F55-161E-44A1-9A1A-666A3482B965}" srcOrd="0" destOrd="0" presId="urn:microsoft.com/office/officeart/2005/8/layout/process1"/>
    <dgm:cxn modelId="{D6FE2D9D-4287-43A3-B945-59A5682A1AAE}" type="presOf" srcId="{A85AD44E-089C-499C-9882-9360851DEAA9}" destId="{3D8527F4-CDD3-453C-9CB9-B2C059458FF2}" srcOrd="0" destOrd="0" presId="urn:microsoft.com/office/officeart/2005/8/layout/process1"/>
    <dgm:cxn modelId="{A8BBC9A5-88E4-4C53-B6EC-E9C944B75429}" srcId="{C9843CEB-B895-4976-900F-7CADFF1F43E1}" destId="{F09B1710-B8A6-4E3D-843E-522F6A747629}" srcOrd="2" destOrd="0" parTransId="{BC6867E1-5CEE-4CA2-B869-CB02D8E4C609}" sibTransId="{2FB19869-A487-4A00-9D74-66A2AD4F161E}"/>
    <dgm:cxn modelId="{DA238FB2-F259-45FA-86CA-2D2633F5C70C}" type="presOf" srcId="{66C9426E-3096-4681-93AC-C3FBC51C6144}" destId="{2B0BCC32-784A-4D5B-8353-23C16053FD8B}" srcOrd="0" destOrd="0" presId="urn:microsoft.com/office/officeart/2005/8/layout/process1"/>
    <dgm:cxn modelId="{10E23CBB-FF74-4229-963F-1D43FA653481}" type="presOf" srcId="{2FB19869-A487-4A00-9D74-66A2AD4F161E}" destId="{4B9DC936-881D-4CCB-9450-BB7183F9EF8E}" srcOrd="1" destOrd="0" presId="urn:microsoft.com/office/officeart/2005/8/layout/process1"/>
    <dgm:cxn modelId="{C4BFA4DD-D2FF-4582-BDF9-7FA40D433ED5}" srcId="{C9843CEB-B895-4976-900F-7CADFF1F43E1}" destId="{66C9426E-3096-4681-93AC-C3FBC51C6144}" srcOrd="0" destOrd="0" parTransId="{DD1176D3-01C4-49DE-BF96-B6F2D9B46978}" sibTransId="{A85AD44E-089C-499C-9882-9360851DEAA9}"/>
    <dgm:cxn modelId="{99734DE4-235B-42EC-8A89-DA87D2038D5C}" type="presOf" srcId="{A85AD44E-089C-499C-9882-9360851DEAA9}" destId="{09BFBDFC-EE80-49A5-9C56-75ED768E0A4F}" srcOrd="1" destOrd="0" presId="urn:microsoft.com/office/officeart/2005/8/layout/process1"/>
    <dgm:cxn modelId="{1F07A7E6-DA5D-420C-9067-5656B929745F}" type="presOf" srcId="{C9843CEB-B895-4976-900F-7CADFF1F43E1}" destId="{600D9610-3A56-4D48-A6F3-EF4654F3EE64}" srcOrd="0" destOrd="0" presId="urn:microsoft.com/office/officeart/2005/8/layout/process1"/>
    <dgm:cxn modelId="{86DA98F4-7E7E-4557-9C43-8D796CA61B29}" type="presOf" srcId="{10A1F211-A660-4485-AB3F-E6FB8E72C7FD}" destId="{D0EC1CC0-3D91-4125-9B54-BEB55B8BF791}" srcOrd="0" destOrd="0" presId="urn:microsoft.com/office/officeart/2005/8/layout/process1"/>
    <dgm:cxn modelId="{9646F59A-AD15-4FF9-BF0A-748D1138AB09}" type="presParOf" srcId="{600D9610-3A56-4D48-A6F3-EF4654F3EE64}" destId="{2B0BCC32-784A-4D5B-8353-23C16053FD8B}" srcOrd="0" destOrd="0" presId="urn:microsoft.com/office/officeart/2005/8/layout/process1"/>
    <dgm:cxn modelId="{BD47091B-57AF-4304-BBA7-C0C969B309AA}" type="presParOf" srcId="{600D9610-3A56-4D48-A6F3-EF4654F3EE64}" destId="{3D8527F4-CDD3-453C-9CB9-B2C059458FF2}" srcOrd="1" destOrd="0" presId="urn:microsoft.com/office/officeart/2005/8/layout/process1"/>
    <dgm:cxn modelId="{8693A0A6-338F-4A33-B5A3-448836F59820}" type="presParOf" srcId="{3D8527F4-CDD3-453C-9CB9-B2C059458FF2}" destId="{09BFBDFC-EE80-49A5-9C56-75ED768E0A4F}" srcOrd="0" destOrd="0" presId="urn:microsoft.com/office/officeart/2005/8/layout/process1"/>
    <dgm:cxn modelId="{F4AC96B9-6FA1-4DAD-8220-4B9824AF9F0F}" type="presParOf" srcId="{600D9610-3A56-4D48-A6F3-EF4654F3EE64}" destId="{D0EC1CC0-3D91-4125-9B54-BEB55B8BF791}" srcOrd="2" destOrd="0" presId="urn:microsoft.com/office/officeart/2005/8/layout/process1"/>
    <dgm:cxn modelId="{9973CB65-6FD8-4286-9BB9-EA068883494F}" type="presParOf" srcId="{600D9610-3A56-4D48-A6F3-EF4654F3EE64}" destId="{D7C99F55-161E-44A1-9A1A-666A3482B965}" srcOrd="3" destOrd="0" presId="urn:microsoft.com/office/officeart/2005/8/layout/process1"/>
    <dgm:cxn modelId="{360155AF-7E7E-41BB-9106-6648F9477511}" type="presParOf" srcId="{D7C99F55-161E-44A1-9A1A-666A3482B965}" destId="{E9265B79-2DFB-4E38-8DEB-89A31C9121BA}" srcOrd="0" destOrd="0" presId="urn:microsoft.com/office/officeart/2005/8/layout/process1"/>
    <dgm:cxn modelId="{11642AF7-7AC7-4DDD-9FF4-34ADAA20177B}" type="presParOf" srcId="{600D9610-3A56-4D48-A6F3-EF4654F3EE64}" destId="{583BF8E3-E322-47FB-BFC1-448A7295D9D3}" srcOrd="4" destOrd="0" presId="urn:microsoft.com/office/officeart/2005/8/layout/process1"/>
    <dgm:cxn modelId="{8222C99C-1521-4BFE-BFC3-9027FB566AD7}" type="presParOf" srcId="{600D9610-3A56-4D48-A6F3-EF4654F3EE64}" destId="{DA5E9B4A-2F15-4500-9B01-48E6E21965F6}" srcOrd="5" destOrd="0" presId="urn:microsoft.com/office/officeart/2005/8/layout/process1"/>
    <dgm:cxn modelId="{69A5CFE9-0174-4F03-B8DB-583686416721}" type="presParOf" srcId="{DA5E9B4A-2F15-4500-9B01-48E6E21965F6}" destId="{4B9DC936-881D-4CCB-9450-BB7183F9EF8E}" srcOrd="0" destOrd="0" presId="urn:microsoft.com/office/officeart/2005/8/layout/process1"/>
    <dgm:cxn modelId="{49AF9177-670C-41CB-94BD-644682B4E8AA}" type="presParOf" srcId="{600D9610-3A56-4D48-A6F3-EF4654F3EE64}" destId="{204D5A2E-A39F-48F4-974F-6AF598CFCB3F}" srcOrd="6"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709E5FF-45EB-4D78-B2F8-997699151F9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CO"/>
        </a:p>
      </dgm:t>
    </dgm:pt>
    <dgm:pt modelId="{0CA46AB9-F1E4-43AF-913F-96CE8D99635E}">
      <dgm:prSet/>
      <dgm:spPr/>
      <dgm:t>
        <a:bodyPr/>
        <a:lstStyle/>
        <a:p>
          <a:r>
            <a:rPr lang="es-ES" b="1" i="0"/>
            <a:t>Errores que cuestan caro después</a:t>
          </a:r>
          <a:endParaRPr lang="es-CO"/>
        </a:p>
      </dgm:t>
    </dgm:pt>
    <dgm:pt modelId="{181486EB-C2FD-4C4E-8484-C33D381064B1}" type="parTrans" cxnId="{EC9EC4C2-1DF3-46CC-806E-B0BEA488E671}">
      <dgm:prSet/>
      <dgm:spPr/>
      <dgm:t>
        <a:bodyPr/>
        <a:lstStyle/>
        <a:p>
          <a:endParaRPr lang="es-CO"/>
        </a:p>
      </dgm:t>
    </dgm:pt>
    <dgm:pt modelId="{E4E952B5-1646-4385-8131-83B555D4EFCC}" type="sibTrans" cxnId="{EC9EC4C2-1DF3-46CC-806E-B0BEA488E671}">
      <dgm:prSet/>
      <dgm:spPr/>
      <dgm:t>
        <a:bodyPr/>
        <a:lstStyle/>
        <a:p>
          <a:endParaRPr lang="es-CO"/>
        </a:p>
      </dgm:t>
    </dgm:pt>
    <dgm:pt modelId="{69751349-2053-4D6F-84EA-CE8F9CA22E45}">
      <dgm:prSet/>
      <dgm:spPr/>
      <dgm:t>
        <a:bodyPr/>
        <a:lstStyle/>
        <a:p>
          <a:r>
            <a:rPr lang="es-ES" b="1" i="0"/>
            <a:t>Confundir Atributos con Entidades:</a:t>
          </a:r>
          <a:endParaRPr lang="es-CO"/>
        </a:p>
      </dgm:t>
    </dgm:pt>
    <dgm:pt modelId="{8401C29E-3644-4099-9F5F-061EA2A95112}" type="parTrans" cxnId="{D91D8B69-3D15-44D8-87B0-A71DF6996BB8}">
      <dgm:prSet/>
      <dgm:spPr/>
      <dgm:t>
        <a:bodyPr/>
        <a:lstStyle/>
        <a:p>
          <a:endParaRPr lang="es-CO"/>
        </a:p>
      </dgm:t>
    </dgm:pt>
    <dgm:pt modelId="{EA50DED6-DA3D-40F7-951E-66DFDDAB3C14}" type="sibTrans" cxnId="{D91D8B69-3D15-44D8-87B0-A71DF6996BB8}">
      <dgm:prSet/>
      <dgm:spPr/>
      <dgm:t>
        <a:bodyPr/>
        <a:lstStyle/>
        <a:p>
          <a:endParaRPr lang="es-CO"/>
        </a:p>
      </dgm:t>
    </dgm:pt>
    <dgm:pt modelId="{3A953468-903B-4AA9-B5A1-9F1FEA72CF6A}">
      <dgm:prSet/>
      <dgm:spPr/>
      <dgm:t>
        <a:bodyPr/>
        <a:lstStyle/>
        <a:p>
          <a:r>
            <a:rPr lang="es-ES" b="0" i="1"/>
            <a:t>Error:</a:t>
          </a:r>
          <a:r>
            <a:rPr lang="es-ES" b="0" i="0"/>
            <a:t> Crear una tabla llamada "Precio".</a:t>
          </a:r>
          <a:endParaRPr lang="es-CO"/>
        </a:p>
      </dgm:t>
    </dgm:pt>
    <dgm:pt modelId="{B9C70C8A-CF5B-4F84-9F2F-727A1203719E}" type="parTrans" cxnId="{33B2F929-3066-4B23-B95D-B1B03CAFFFE7}">
      <dgm:prSet/>
      <dgm:spPr/>
      <dgm:t>
        <a:bodyPr/>
        <a:lstStyle/>
        <a:p>
          <a:endParaRPr lang="es-CO"/>
        </a:p>
      </dgm:t>
    </dgm:pt>
    <dgm:pt modelId="{C8F7CE05-11B4-417C-83DD-41E5DC046966}" type="sibTrans" cxnId="{33B2F929-3066-4B23-B95D-B1B03CAFFFE7}">
      <dgm:prSet/>
      <dgm:spPr/>
      <dgm:t>
        <a:bodyPr/>
        <a:lstStyle/>
        <a:p>
          <a:endParaRPr lang="es-CO"/>
        </a:p>
      </dgm:t>
    </dgm:pt>
    <dgm:pt modelId="{9F35351E-D4AD-4C1B-979C-63AF75EAF3FF}">
      <dgm:prSet/>
      <dgm:spPr/>
      <dgm:t>
        <a:bodyPr/>
        <a:lstStyle/>
        <a:p>
          <a:r>
            <a:rPr lang="es-ES" b="0" i="1"/>
            <a:t>Corrección:</a:t>
          </a:r>
          <a:r>
            <a:rPr lang="es-ES" b="0" i="0"/>
            <a:t> El precio no existe por sí solo; es una cualidad de un Producto o de una Venta pactada.</a:t>
          </a:r>
          <a:endParaRPr lang="es-CO"/>
        </a:p>
      </dgm:t>
    </dgm:pt>
    <dgm:pt modelId="{87B832EE-AC2D-460C-8D0E-65BFD5C9E32E}" type="parTrans" cxnId="{38B3B618-60A0-4E86-9B28-E65C6146E328}">
      <dgm:prSet/>
      <dgm:spPr/>
      <dgm:t>
        <a:bodyPr/>
        <a:lstStyle/>
        <a:p>
          <a:endParaRPr lang="es-CO"/>
        </a:p>
      </dgm:t>
    </dgm:pt>
    <dgm:pt modelId="{F4660CB8-67DD-4F8D-9EC6-E2F6FCA87B19}" type="sibTrans" cxnId="{38B3B618-60A0-4E86-9B28-E65C6146E328}">
      <dgm:prSet/>
      <dgm:spPr/>
      <dgm:t>
        <a:bodyPr/>
        <a:lstStyle/>
        <a:p>
          <a:endParaRPr lang="es-CO"/>
        </a:p>
      </dgm:t>
    </dgm:pt>
    <dgm:pt modelId="{6C7D2198-0CF3-4181-993A-47DBE6963749}">
      <dgm:prSet/>
      <dgm:spPr/>
      <dgm:t>
        <a:bodyPr/>
        <a:lstStyle/>
        <a:p>
          <a:r>
            <a:rPr lang="es-ES" b="1" i="0"/>
            <a:t>Ignorar el Detalle (Granularidad):</a:t>
          </a:r>
          <a:endParaRPr lang="es-CO"/>
        </a:p>
      </dgm:t>
    </dgm:pt>
    <dgm:pt modelId="{BE694135-8506-4FC0-888B-77B56B55604A}" type="parTrans" cxnId="{1A71AC26-1576-4D68-97CD-E5BF7974D15A}">
      <dgm:prSet/>
      <dgm:spPr/>
      <dgm:t>
        <a:bodyPr/>
        <a:lstStyle/>
        <a:p>
          <a:endParaRPr lang="es-CO"/>
        </a:p>
      </dgm:t>
    </dgm:pt>
    <dgm:pt modelId="{603352E7-5A5D-49A7-9E53-68375B8CEB22}" type="sibTrans" cxnId="{1A71AC26-1576-4D68-97CD-E5BF7974D15A}">
      <dgm:prSet/>
      <dgm:spPr/>
      <dgm:t>
        <a:bodyPr/>
        <a:lstStyle/>
        <a:p>
          <a:endParaRPr lang="es-CO"/>
        </a:p>
      </dgm:t>
    </dgm:pt>
    <dgm:pt modelId="{392036AB-0955-4BEA-BF08-E9F78EA916E8}">
      <dgm:prSet/>
      <dgm:spPr/>
      <dgm:t>
        <a:bodyPr/>
        <a:lstStyle/>
        <a:p>
          <a:r>
            <a:rPr lang="es-ES" b="0" i="1"/>
            <a:t>Error:</a:t>
          </a:r>
          <a:r>
            <a:rPr lang="es-ES" b="0" i="0"/>
            <a:t> Intentar guardar todos los productos comprados en una sola celda de la tabla "Pedido" (separados por comas).</a:t>
          </a:r>
          <a:endParaRPr lang="es-CO"/>
        </a:p>
      </dgm:t>
    </dgm:pt>
    <dgm:pt modelId="{4A472BAB-1E03-46D9-86DD-AD5C3D85AC75}" type="parTrans" cxnId="{BDE00F5F-AD82-410B-92C5-377354B73A4F}">
      <dgm:prSet/>
      <dgm:spPr/>
      <dgm:t>
        <a:bodyPr/>
        <a:lstStyle/>
        <a:p>
          <a:endParaRPr lang="es-CO"/>
        </a:p>
      </dgm:t>
    </dgm:pt>
    <dgm:pt modelId="{BB731EE3-84C0-479B-A526-A01B260EE632}" type="sibTrans" cxnId="{BDE00F5F-AD82-410B-92C5-377354B73A4F}">
      <dgm:prSet/>
      <dgm:spPr/>
      <dgm:t>
        <a:bodyPr/>
        <a:lstStyle/>
        <a:p>
          <a:endParaRPr lang="es-CO"/>
        </a:p>
      </dgm:t>
    </dgm:pt>
    <dgm:pt modelId="{0248C53A-2B1A-439A-A4BC-672C5C7981C4}">
      <dgm:prSet/>
      <dgm:spPr/>
      <dgm:t>
        <a:bodyPr/>
        <a:lstStyle/>
        <a:p>
          <a:r>
            <a:rPr lang="es-ES" b="0" i="1"/>
            <a:t>Corrección:</a:t>
          </a:r>
          <a:r>
            <a:rPr lang="es-ES" b="0" i="0"/>
            <a:t> Detectar la necesidad de una tabla hija (Order_Items) para normalizar la información.</a:t>
          </a:r>
          <a:endParaRPr lang="es-CO"/>
        </a:p>
      </dgm:t>
    </dgm:pt>
    <dgm:pt modelId="{9AC492E2-C368-49B1-BF80-9FE0A928762A}" type="parTrans" cxnId="{736C9122-9096-4688-909A-DD8B107D3C35}">
      <dgm:prSet/>
      <dgm:spPr/>
      <dgm:t>
        <a:bodyPr/>
        <a:lstStyle/>
        <a:p>
          <a:endParaRPr lang="es-CO"/>
        </a:p>
      </dgm:t>
    </dgm:pt>
    <dgm:pt modelId="{4FE2A2B4-22C8-4882-93E2-FE39D5F39275}" type="sibTrans" cxnId="{736C9122-9096-4688-909A-DD8B107D3C35}">
      <dgm:prSet/>
      <dgm:spPr/>
      <dgm:t>
        <a:bodyPr/>
        <a:lstStyle/>
        <a:p>
          <a:endParaRPr lang="es-CO"/>
        </a:p>
      </dgm:t>
    </dgm:pt>
    <dgm:pt modelId="{53893564-2997-427E-AB77-7ABDB870BFBB}">
      <dgm:prSet/>
      <dgm:spPr/>
      <dgm:t>
        <a:bodyPr/>
        <a:lstStyle/>
        <a:p>
          <a:r>
            <a:rPr lang="es-ES" b="1" i="0"/>
            <a:t>Sinónimos y Ambigüedad:</a:t>
          </a:r>
          <a:endParaRPr lang="es-CO"/>
        </a:p>
      </dgm:t>
    </dgm:pt>
    <dgm:pt modelId="{CA535507-8691-41EE-A607-1CA436DDB611}" type="parTrans" cxnId="{A61025BF-A7E7-4B25-952B-9C403C825B41}">
      <dgm:prSet/>
      <dgm:spPr/>
      <dgm:t>
        <a:bodyPr/>
        <a:lstStyle/>
        <a:p>
          <a:endParaRPr lang="es-CO"/>
        </a:p>
      </dgm:t>
    </dgm:pt>
    <dgm:pt modelId="{052A3B2D-89DD-4E4A-B8C5-B620451DEAF7}" type="sibTrans" cxnId="{A61025BF-A7E7-4B25-952B-9C403C825B41}">
      <dgm:prSet/>
      <dgm:spPr/>
      <dgm:t>
        <a:bodyPr/>
        <a:lstStyle/>
        <a:p>
          <a:endParaRPr lang="es-CO"/>
        </a:p>
      </dgm:t>
    </dgm:pt>
    <dgm:pt modelId="{9157BAD7-2197-43AD-B275-25FE69AADBDD}">
      <dgm:prSet/>
      <dgm:spPr/>
      <dgm:t>
        <a:bodyPr/>
        <a:lstStyle/>
        <a:p>
          <a:r>
            <a:rPr lang="es-ES" b="0" i="0"/>
            <a:t>Si un departamento dice "Comprador" y otro "Usuario", el arquitecto de datos debe estandarizar (ej: </a:t>
          </a:r>
          <a:r>
            <a:rPr lang="es-ES" b="1" i="0"/>
            <a:t>Customer</a:t>
          </a:r>
          <a:r>
            <a:rPr lang="es-ES" b="0" i="0"/>
            <a:t>).</a:t>
          </a:r>
          <a:endParaRPr lang="es-CO"/>
        </a:p>
      </dgm:t>
    </dgm:pt>
    <dgm:pt modelId="{128ACDCC-4C92-4ABC-9AAD-CF935CC528AA}" type="parTrans" cxnId="{92E07456-E914-46A4-866C-16561A6D7F27}">
      <dgm:prSet/>
      <dgm:spPr/>
      <dgm:t>
        <a:bodyPr/>
        <a:lstStyle/>
        <a:p>
          <a:endParaRPr lang="es-CO"/>
        </a:p>
      </dgm:t>
    </dgm:pt>
    <dgm:pt modelId="{7532FFAB-6910-42E6-AC2E-A744A7545BAF}" type="sibTrans" cxnId="{92E07456-E914-46A4-866C-16561A6D7F27}">
      <dgm:prSet/>
      <dgm:spPr/>
      <dgm:t>
        <a:bodyPr/>
        <a:lstStyle/>
        <a:p>
          <a:endParaRPr lang="es-CO"/>
        </a:p>
      </dgm:t>
    </dgm:pt>
    <dgm:pt modelId="{70802432-0C97-4564-9D0F-1F2DE1EA9297}">
      <dgm:prSet/>
      <dgm:spPr/>
      <dgm:t>
        <a:bodyPr/>
        <a:lstStyle/>
        <a:p>
          <a:r>
            <a:rPr lang="es-ES" b="1" i="0"/>
            <a:t>Datos Calculados:</a:t>
          </a:r>
          <a:endParaRPr lang="es-CO"/>
        </a:p>
      </dgm:t>
    </dgm:pt>
    <dgm:pt modelId="{7256C1DC-FB13-40BF-BFD4-DA99BB21336D}" type="parTrans" cxnId="{DD19CE21-AAD7-4923-83F5-ECB661F8F499}">
      <dgm:prSet/>
      <dgm:spPr/>
      <dgm:t>
        <a:bodyPr/>
        <a:lstStyle/>
        <a:p>
          <a:endParaRPr lang="es-CO"/>
        </a:p>
      </dgm:t>
    </dgm:pt>
    <dgm:pt modelId="{F122300C-E266-4E86-BF59-3FF33F1ECE21}" type="sibTrans" cxnId="{DD19CE21-AAD7-4923-83F5-ECB661F8F499}">
      <dgm:prSet/>
      <dgm:spPr/>
      <dgm:t>
        <a:bodyPr/>
        <a:lstStyle/>
        <a:p>
          <a:endParaRPr lang="es-CO"/>
        </a:p>
      </dgm:t>
    </dgm:pt>
    <dgm:pt modelId="{E16B6F0F-546A-4722-B37E-73E0B27E06E4}">
      <dgm:prSet/>
      <dgm:spPr/>
      <dgm:t>
        <a:bodyPr/>
        <a:lstStyle/>
        <a:p>
          <a:r>
            <a:rPr lang="es-ES" b="0" i="0"/>
            <a:t>No almacenamos "Días que tardó el envío". Almacenamos Fecha_Envio y Fecha_Entrega, y calculamos la diferencia cuando sea necesario.</a:t>
          </a:r>
          <a:endParaRPr lang="es-CO"/>
        </a:p>
      </dgm:t>
    </dgm:pt>
    <dgm:pt modelId="{6BD5D9C5-5BEF-4B7E-9E43-163EA11DB1A0}" type="parTrans" cxnId="{05C77614-6CD1-45AC-9716-A56D8C026DB6}">
      <dgm:prSet/>
      <dgm:spPr/>
      <dgm:t>
        <a:bodyPr/>
        <a:lstStyle/>
        <a:p>
          <a:endParaRPr lang="es-CO"/>
        </a:p>
      </dgm:t>
    </dgm:pt>
    <dgm:pt modelId="{01C2A92E-55C3-4E33-868A-AB545556A09A}" type="sibTrans" cxnId="{05C77614-6CD1-45AC-9716-A56D8C026DB6}">
      <dgm:prSet/>
      <dgm:spPr/>
      <dgm:t>
        <a:bodyPr/>
        <a:lstStyle/>
        <a:p>
          <a:endParaRPr lang="es-CO"/>
        </a:p>
      </dgm:t>
    </dgm:pt>
    <dgm:pt modelId="{7ACE998F-F509-4F03-A6CE-19FB7B197FDC}" type="pres">
      <dgm:prSet presAssocID="{C709E5FF-45EB-4D78-B2F8-997699151F92}" presName="linear" presStyleCnt="0">
        <dgm:presLayoutVars>
          <dgm:animLvl val="lvl"/>
          <dgm:resizeHandles val="exact"/>
        </dgm:presLayoutVars>
      </dgm:prSet>
      <dgm:spPr/>
    </dgm:pt>
    <dgm:pt modelId="{352BC13A-90F2-4464-A92F-25D90C8822EA}" type="pres">
      <dgm:prSet presAssocID="{0CA46AB9-F1E4-43AF-913F-96CE8D99635E}" presName="parentText" presStyleLbl="node1" presStyleIdx="0" presStyleCnt="5">
        <dgm:presLayoutVars>
          <dgm:chMax val="0"/>
          <dgm:bulletEnabled val="1"/>
        </dgm:presLayoutVars>
      </dgm:prSet>
      <dgm:spPr/>
    </dgm:pt>
    <dgm:pt modelId="{E87B3BFF-E123-4308-9547-4D00C6EC9800}" type="pres">
      <dgm:prSet presAssocID="{E4E952B5-1646-4385-8131-83B555D4EFCC}" presName="spacer" presStyleCnt="0"/>
      <dgm:spPr/>
    </dgm:pt>
    <dgm:pt modelId="{133ED0BF-8AA8-4DEE-B2E9-41B5A0B2CD90}" type="pres">
      <dgm:prSet presAssocID="{69751349-2053-4D6F-84EA-CE8F9CA22E45}" presName="parentText" presStyleLbl="node1" presStyleIdx="1" presStyleCnt="5">
        <dgm:presLayoutVars>
          <dgm:chMax val="0"/>
          <dgm:bulletEnabled val="1"/>
        </dgm:presLayoutVars>
      </dgm:prSet>
      <dgm:spPr/>
    </dgm:pt>
    <dgm:pt modelId="{994D4E88-E28D-4841-BF4E-C8E89D0BF8C3}" type="pres">
      <dgm:prSet presAssocID="{69751349-2053-4D6F-84EA-CE8F9CA22E45}" presName="childText" presStyleLbl="revTx" presStyleIdx="0" presStyleCnt="4">
        <dgm:presLayoutVars>
          <dgm:bulletEnabled val="1"/>
        </dgm:presLayoutVars>
      </dgm:prSet>
      <dgm:spPr/>
    </dgm:pt>
    <dgm:pt modelId="{987078A6-04D9-4E63-9C58-26119E1AE2A1}" type="pres">
      <dgm:prSet presAssocID="{6C7D2198-0CF3-4181-993A-47DBE6963749}" presName="parentText" presStyleLbl="node1" presStyleIdx="2" presStyleCnt="5">
        <dgm:presLayoutVars>
          <dgm:chMax val="0"/>
          <dgm:bulletEnabled val="1"/>
        </dgm:presLayoutVars>
      </dgm:prSet>
      <dgm:spPr/>
    </dgm:pt>
    <dgm:pt modelId="{E0845346-9DF2-4D44-853E-E804040BB75D}" type="pres">
      <dgm:prSet presAssocID="{6C7D2198-0CF3-4181-993A-47DBE6963749}" presName="childText" presStyleLbl="revTx" presStyleIdx="1" presStyleCnt="4">
        <dgm:presLayoutVars>
          <dgm:bulletEnabled val="1"/>
        </dgm:presLayoutVars>
      </dgm:prSet>
      <dgm:spPr/>
    </dgm:pt>
    <dgm:pt modelId="{954FAAB9-0006-4D66-8F27-6285613969E2}" type="pres">
      <dgm:prSet presAssocID="{53893564-2997-427E-AB77-7ABDB870BFBB}" presName="parentText" presStyleLbl="node1" presStyleIdx="3" presStyleCnt="5">
        <dgm:presLayoutVars>
          <dgm:chMax val="0"/>
          <dgm:bulletEnabled val="1"/>
        </dgm:presLayoutVars>
      </dgm:prSet>
      <dgm:spPr/>
    </dgm:pt>
    <dgm:pt modelId="{CCC39003-3CCF-4718-BF9E-CD64B04CABA3}" type="pres">
      <dgm:prSet presAssocID="{53893564-2997-427E-AB77-7ABDB870BFBB}" presName="childText" presStyleLbl="revTx" presStyleIdx="2" presStyleCnt="4">
        <dgm:presLayoutVars>
          <dgm:bulletEnabled val="1"/>
        </dgm:presLayoutVars>
      </dgm:prSet>
      <dgm:spPr/>
    </dgm:pt>
    <dgm:pt modelId="{CE31755D-7B0A-4218-9D72-FB92E59C7650}" type="pres">
      <dgm:prSet presAssocID="{70802432-0C97-4564-9D0F-1F2DE1EA9297}" presName="parentText" presStyleLbl="node1" presStyleIdx="4" presStyleCnt="5">
        <dgm:presLayoutVars>
          <dgm:chMax val="0"/>
          <dgm:bulletEnabled val="1"/>
        </dgm:presLayoutVars>
      </dgm:prSet>
      <dgm:spPr/>
    </dgm:pt>
    <dgm:pt modelId="{DD20DFEF-15CC-4B2F-878F-C06F42210F77}" type="pres">
      <dgm:prSet presAssocID="{70802432-0C97-4564-9D0F-1F2DE1EA9297}" presName="childText" presStyleLbl="revTx" presStyleIdx="3" presStyleCnt="4">
        <dgm:presLayoutVars>
          <dgm:bulletEnabled val="1"/>
        </dgm:presLayoutVars>
      </dgm:prSet>
      <dgm:spPr/>
    </dgm:pt>
  </dgm:ptLst>
  <dgm:cxnLst>
    <dgm:cxn modelId="{05C77614-6CD1-45AC-9716-A56D8C026DB6}" srcId="{70802432-0C97-4564-9D0F-1F2DE1EA9297}" destId="{E16B6F0F-546A-4722-B37E-73E0B27E06E4}" srcOrd="0" destOrd="0" parTransId="{6BD5D9C5-5BEF-4B7E-9E43-163EA11DB1A0}" sibTransId="{01C2A92E-55C3-4E33-868A-AB545556A09A}"/>
    <dgm:cxn modelId="{38B3B618-60A0-4E86-9B28-E65C6146E328}" srcId="{69751349-2053-4D6F-84EA-CE8F9CA22E45}" destId="{9F35351E-D4AD-4C1B-979C-63AF75EAF3FF}" srcOrd="1" destOrd="0" parTransId="{87B832EE-AC2D-460C-8D0E-65BFD5C9E32E}" sibTransId="{F4660CB8-67DD-4F8D-9EC6-E2F6FCA87B19}"/>
    <dgm:cxn modelId="{DD19CE21-AAD7-4923-83F5-ECB661F8F499}" srcId="{C709E5FF-45EB-4D78-B2F8-997699151F92}" destId="{70802432-0C97-4564-9D0F-1F2DE1EA9297}" srcOrd="4" destOrd="0" parTransId="{7256C1DC-FB13-40BF-BFD4-DA99BB21336D}" sibTransId="{F122300C-E266-4E86-BF59-3FF33F1ECE21}"/>
    <dgm:cxn modelId="{736C9122-9096-4688-909A-DD8B107D3C35}" srcId="{6C7D2198-0CF3-4181-993A-47DBE6963749}" destId="{0248C53A-2B1A-439A-A4BC-672C5C7981C4}" srcOrd="1" destOrd="0" parTransId="{9AC492E2-C368-49B1-BF80-9FE0A928762A}" sibTransId="{4FE2A2B4-22C8-4882-93E2-FE39D5F39275}"/>
    <dgm:cxn modelId="{1A71AC26-1576-4D68-97CD-E5BF7974D15A}" srcId="{C709E5FF-45EB-4D78-B2F8-997699151F92}" destId="{6C7D2198-0CF3-4181-993A-47DBE6963749}" srcOrd="2" destOrd="0" parTransId="{BE694135-8506-4FC0-888B-77B56B55604A}" sibTransId="{603352E7-5A5D-49A7-9E53-68375B8CEB22}"/>
    <dgm:cxn modelId="{BAE43B29-0B54-4D30-BC02-AD8AE020A9ED}" type="presOf" srcId="{9157BAD7-2197-43AD-B275-25FE69AADBDD}" destId="{CCC39003-3CCF-4718-BF9E-CD64B04CABA3}" srcOrd="0" destOrd="0" presId="urn:microsoft.com/office/officeart/2005/8/layout/vList2"/>
    <dgm:cxn modelId="{33B2F929-3066-4B23-B95D-B1B03CAFFFE7}" srcId="{69751349-2053-4D6F-84EA-CE8F9CA22E45}" destId="{3A953468-903B-4AA9-B5A1-9F1FEA72CF6A}" srcOrd="0" destOrd="0" parTransId="{B9C70C8A-CF5B-4F84-9F2F-727A1203719E}" sibTransId="{C8F7CE05-11B4-417C-83DD-41E5DC046966}"/>
    <dgm:cxn modelId="{BDE00F5F-AD82-410B-92C5-377354B73A4F}" srcId="{6C7D2198-0CF3-4181-993A-47DBE6963749}" destId="{392036AB-0955-4BEA-BF08-E9F78EA916E8}" srcOrd="0" destOrd="0" parTransId="{4A472BAB-1E03-46D9-86DD-AD5C3D85AC75}" sibTransId="{BB731EE3-84C0-479B-A526-A01B260EE632}"/>
    <dgm:cxn modelId="{D91D8B69-3D15-44D8-87B0-A71DF6996BB8}" srcId="{C709E5FF-45EB-4D78-B2F8-997699151F92}" destId="{69751349-2053-4D6F-84EA-CE8F9CA22E45}" srcOrd="1" destOrd="0" parTransId="{8401C29E-3644-4099-9F5F-061EA2A95112}" sibTransId="{EA50DED6-DA3D-40F7-951E-66DFDDAB3C14}"/>
    <dgm:cxn modelId="{FB218350-7BD7-4CE1-B84A-B7E128506778}" type="presOf" srcId="{53893564-2997-427E-AB77-7ABDB870BFBB}" destId="{954FAAB9-0006-4D66-8F27-6285613969E2}" srcOrd="0" destOrd="0" presId="urn:microsoft.com/office/officeart/2005/8/layout/vList2"/>
    <dgm:cxn modelId="{92E07456-E914-46A4-866C-16561A6D7F27}" srcId="{53893564-2997-427E-AB77-7ABDB870BFBB}" destId="{9157BAD7-2197-43AD-B275-25FE69AADBDD}" srcOrd="0" destOrd="0" parTransId="{128ACDCC-4C92-4ABC-9AAD-CF935CC528AA}" sibTransId="{7532FFAB-6910-42E6-AC2E-A744A7545BAF}"/>
    <dgm:cxn modelId="{1926C883-C0E4-43B9-9089-5E196AFC38EC}" type="presOf" srcId="{3A953468-903B-4AA9-B5A1-9F1FEA72CF6A}" destId="{994D4E88-E28D-4841-BF4E-C8E89D0BF8C3}" srcOrd="0" destOrd="0" presId="urn:microsoft.com/office/officeart/2005/8/layout/vList2"/>
    <dgm:cxn modelId="{D8B17584-1AAB-47E2-8934-BFF273F930BF}" type="presOf" srcId="{C709E5FF-45EB-4D78-B2F8-997699151F92}" destId="{7ACE998F-F509-4F03-A6CE-19FB7B197FDC}" srcOrd="0" destOrd="0" presId="urn:microsoft.com/office/officeart/2005/8/layout/vList2"/>
    <dgm:cxn modelId="{B239C78F-A9CA-4968-ABE9-B6B4151596C7}" type="presOf" srcId="{6C7D2198-0CF3-4181-993A-47DBE6963749}" destId="{987078A6-04D9-4E63-9C58-26119E1AE2A1}" srcOrd="0" destOrd="0" presId="urn:microsoft.com/office/officeart/2005/8/layout/vList2"/>
    <dgm:cxn modelId="{2946F597-7D97-46B0-966D-325D2B3ACCDB}" type="presOf" srcId="{0248C53A-2B1A-439A-A4BC-672C5C7981C4}" destId="{E0845346-9DF2-4D44-853E-E804040BB75D}" srcOrd="0" destOrd="1" presId="urn:microsoft.com/office/officeart/2005/8/layout/vList2"/>
    <dgm:cxn modelId="{33171AA6-1E25-4428-8EB1-44AD5839FE02}" type="presOf" srcId="{0CA46AB9-F1E4-43AF-913F-96CE8D99635E}" destId="{352BC13A-90F2-4464-A92F-25D90C8822EA}" srcOrd="0" destOrd="0" presId="urn:microsoft.com/office/officeart/2005/8/layout/vList2"/>
    <dgm:cxn modelId="{A61025BF-A7E7-4B25-952B-9C403C825B41}" srcId="{C709E5FF-45EB-4D78-B2F8-997699151F92}" destId="{53893564-2997-427E-AB77-7ABDB870BFBB}" srcOrd="3" destOrd="0" parTransId="{CA535507-8691-41EE-A607-1CA436DDB611}" sibTransId="{052A3B2D-89DD-4E4A-B8C5-B620451DEAF7}"/>
    <dgm:cxn modelId="{EC9EC4C2-1DF3-46CC-806E-B0BEA488E671}" srcId="{C709E5FF-45EB-4D78-B2F8-997699151F92}" destId="{0CA46AB9-F1E4-43AF-913F-96CE8D99635E}" srcOrd="0" destOrd="0" parTransId="{181486EB-C2FD-4C4E-8484-C33D381064B1}" sibTransId="{E4E952B5-1646-4385-8131-83B555D4EFCC}"/>
    <dgm:cxn modelId="{8054F1C8-D5DD-4355-B836-AD2E008A7773}" type="presOf" srcId="{E16B6F0F-546A-4722-B37E-73E0B27E06E4}" destId="{DD20DFEF-15CC-4B2F-878F-C06F42210F77}" srcOrd="0" destOrd="0" presId="urn:microsoft.com/office/officeart/2005/8/layout/vList2"/>
    <dgm:cxn modelId="{2064C4D0-2635-4B6B-A20C-A5890C221B4D}" type="presOf" srcId="{69751349-2053-4D6F-84EA-CE8F9CA22E45}" destId="{133ED0BF-8AA8-4DEE-B2E9-41B5A0B2CD90}" srcOrd="0" destOrd="0" presId="urn:microsoft.com/office/officeart/2005/8/layout/vList2"/>
    <dgm:cxn modelId="{2CCA9DD3-7331-4B96-BF49-E8DAD67EA735}" type="presOf" srcId="{70802432-0C97-4564-9D0F-1F2DE1EA9297}" destId="{CE31755D-7B0A-4218-9D72-FB92E59C7650}" srcOrd="0" destOrd="0" presId="urn:microsoft.com/office/officeart/2005/8/layout/vList2"/>
    <dgm:cxn modelId="{6268EFE5-37C0-4F4F-9CA2-89188EE74665}" type="presOf" srcId="{392036AB-0955-4BEA-BF08-E9F78EA916E8}" destId="{E0845346-9DF2-4D44-853E-E804040BB75D}" srcOrd="0" destOrd="0" presId="urn:microsoft.com/office/officeart/2005/8/layout/vList2"/>
    <dgm:cxn modelId="{1C33D5F5-2F16-479A-9688-EDE3194FCCE9}" type="presOf" srcId="{9F35351E-D4AD-4C1B-979C-63AF75EAF3FF}" destId="{994D4E88-E28D-4841-BF4E-C8E89D0BF8C3}" srcOrd="0" destOrd="1" presId="urn:microsoft.com/office/officeart/2005/8/layout/vList2"/>
    <dgm:cxn modelId="{16E39A17-BADA-4202-B32C-9B16440AD10B}" type="presParOf" srcId="{7ACE998F-F509-4F03-A6CE-19FB7B197FDC}" destId="{352BC13A-90F2-4464-A92F-25D90C8822EA}" srcOrd="0" destOrd="0" presId="urn:microsoft.com/office/officeart/2005/8/layout/vList2"/>
    <dgm:cxn modelId="{0AE6F070-1161-405B-9BEC-8237D5B56AAE}" type="presParOf" srcId="{7ACE998F-F509-4F03-A6CE-19FB7B197FDC}" destId="{E87B3BFF-E123-4308-9547-4D00C6EC9800}" srcOrd="1" destOrd="0" presId="urn:microsoft.com/office/officeart/2005/8/layout/vList2"/>
    <dgm:cxn modelId="{5BA9F10B-C6C1-4475-87B1-1970817FAC23}" type="presParOf" srcId="{7ACE998F-F509-4F03-A6CE-19FB7B197FDC}" destId="{133ED0BF-8AA8-4DEE-B2E9-41B5A0B2CD90}" srcOrd="2" destOrd="0" presId="urn:microsoft.com/office/officeart/2005/8/layout/vList2"/>
    <dgm:cxn modelId="{F3670B53-3C12-4882-B13F-2595746BA877}" type="presParOf" srcId="{7ACE998F-F509-4F03-A6CE-19FB7B197FDC}" destId="{994D4E88-E28D-4841-BF4E-C8E89D0BF8C3}" srcOrd="3" destOrd="0" presId="urn:microsoft.com/office/officeart/2005/8/layout/vList2"/>
    <dgm:cxn modelId="{36453F54-A9E3-4EF0-91D1-9FD22CD2950D}" type="presParOf" srcId="{7ACE998F-F509-4F03-A6CE-19FB7B197FDC}" destId="{987078A6-04D9-4E63-9C58-26119E1AE2A1}" srcOrd="4" destOrd="0" presId="urn:microsoft.com/office/officeart/2005/8/layout/vList2"/>
    <dgm:cxn modelId="{762A4F0D-AE0F-4B43-9D1D-7717E2ED40BE}" type="presParOf" srcId="{7ACE998F-F509-4F03-A6CE-19FB7B197FDC}" destId="{E0845346-9DF2-4D44-853E-E804040BB75D}" srcOrd="5" destOrd="0" presId="urn:microsoft.com/office/officeart/2005/8/layout/vList2"/>
    <dgm:cxn modelId="{DAB643DF-88DA-4B36-8967-2A627A70A28E}" type="presParOf" srcId="{7ACE998F-F509-4F03-A6CE-19FB7B197FDC}" destId="{954FAAB9-0006-4D66-8F27-6285613969E2}" srcOrd="6" destOrd="0" presId="urn:microsoft.com/office/officeart/2005/8/layout/vList2"/>
    <dgm:cxn modelId="{45264F3F-6DF7-4123-81D0-F593E3C41947}" type="presParOf" srcId="{7ACE998F-F509-4F03-A6CE-19FB7B197FDC}" destId="{CCC39003-3CCF-4718-BF9E-CD64B04CABA3}" srcOrd="7" destOrd="0" presId="urn:microsoft.com/office/officeart/2005/8/layout/vList2"/>
    <dgm:cxn modelId="{B44A4BE1-56D8-4A7B-96B1-6C647A1D89C3}" type="presParOf" srcId="{7ACE998F-F509-4F03-A6CE-19FB7B197FDC}" destId="{CE31755D-7B0A-4218-9D72-FB92E59C7650}" srcOrd="8" destOrd="0" presId="urn:microsoft.com/office/officeart/2005/8/layout/vList2"/>
    <dgm:cxn modelId="{BD854F71-AA76-467B-BB30-F87D32DA4347}" type="presParOf" srcId="{7ACE998F-F509-4F03-A6CE-19FB7B197FDC}" destId="{DD20DFEF-15CC-4B2F-878F-C06F42210F77}" srcOrd="9"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AEBD71-788D-4EE5-8622-5FFF5CF7C899}">
      <dsp:nvSpPr>
        <dsp:cNvPr id="0" name=""/>
        <dsp:cNvSpPr/>
      </dsp:nvSpPr>
      <dsp:spPr>
        <a:xfrm>
          <a:off x="3571627" y="59"/>
          <a:ext cx="4018080" cy="23679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 sz="3100" b="1" i="0" kern="1200"/>
            <a:t>Abrid Datos desnortmalizados e ilustrar</a:t>
          </a:r>
          <a:endParaRPr lang="es-CO" sz="3100" kern="1200"/>
        </a:p>
      </dsp:txBody>
      <dsp:txXfrm>
        <a:off x="3687223" y="115655"/>
        <a:ext cx="3786888" cy="2136804"/>
      </dsp:txXfrm>
    </dsp:sp>
    <dsp:sp modelId="{AC8E49C3-6986-444E-8CCF-1178E547B44E}">
      <dsp:nvSpPr>
        <dsp:cNvPr id="0" name=""/>
        <dsp:cNvSpPr/>
      </dsp:nvSpPr>
      <dsp:spPr>
        <a:xfrm>
          <a:off x="3571627" y="2486455"/>
          <a:ext cx="4018080" cy="23679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 sz="3100" b="1" i="0" kern="1200"/>
            <a:t>La maldición de la dimensionalidad</a:t>
          </a:r>
          <a:endParaRPr lang="es-CO" sz="3100" kern="1200"/>
        </a:p>
      </dsp:txBody>
      <dsp:txXfrm>
        <a:off x="3687223" y="2602051"/>
        <a:ext cx="3786888" cy="21368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0BCC32-784A-4D5B-8353-23C16053FD8B}">
      <dsp:nvSpPr>
        <dsp:cNvPr id="0" name=""/>
        <dsp:cNvSpPr/>
      </dsp:nvSpPr>
      <dsp:spPr>
        <a:xfrm>
          <a:off x="6230" y="0"/>
          <a:ext cx="2724125" cy="1586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b="0" i="0" kern="1200" dirty="0"/>
            <a:t>Especificación del Problema </a:t>
          </a:r>
          <a:endParaRPr lang="es-CO" sz="2700" kern="1200" dirty="0"/>
        </a:p>
      </dsp:txBody>
      <dsp:txXfrm>
        <a:off x="52705" y="46475"/>
        <a:ext cx="2631175" cy="1493812"/>
      </dsp:txXfrm>
    </dsp:sp>
    <dsp:sp modelId="{3D8527F4-CDD3-453C-9CB9-B2C059458FF2}">
      <dsp:nvSpPr>
        <dsp:cNvPr id="0" name=""/>
        <dsp:cNvSpPr/>
      </dsp:nvSpPr>
      <dsp:spPr>
        <a:xfrm>
          <a:off x="3002768" y="455589"/>
          <a:ext cx="577514" cy="6755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s-CO" sz="2200" kern="1200"/>
        </a:p>
      </dsp:txBody>
      <dsp:txXfrm>
        <a:off x="3002768" y="590706"/>
        <a:ext cx="404260" cy="405349"/>
      </dsp:txXfrm>
    </dsp:sp>
    <dsp:sp modelId="{D0EC1CC0-3D91-4125-9B54-BEB55B8BF791}">
      <dsp:nvSpPr>
        <dsp:cNvPr id="0" name=""/>
        <dsp:cNvSpPr/>
      </dsp:nvSpPr>
      <dsp:spPr>
        <a:xfrm>
          <a:off x="3820006" y="0"/>
          <a:ext cx="2724125" cy="1586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b="0" i="0" kern="1200" dirty="0"/>
            <a:t>Modelo Conceptual</a:t>
          </a:r>
          <a:endParaRPr lang="es-CO" sz="2700" kern="1200" dirty="0"/>
        </a:p>
      </dsp:txBody>
      <dsp:txXfrm>
        <a:off x="3866481" y="46475"/>
        <a:ext cx="2631175" cy="1493812"/>
      </dsp:txXfrm>
    </dsp:sp>
    <dsp:sp modelId="{D7C99F55-161E-44A1-9A1A-666A3482B965}">
      <dsp:nvSpPr>
        <dsp:cNvPr id="0" name=""/>
        <dsp:cNvSpPr/>
      </dsp:nvSpPr>
      <dsp:spPr>
        <a:xfrm>
          <a:off x="6816544" y="455589"/>
          <a:ext cx="577514" cy="6755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s-CO" sz="2200" kern="1200"/>
        </a:p>
      </dsp:txBody>
      <dsp:txXfrm>
        <a:off x="6816544" y="590706"/>
        <a:ext cx="404260" cy="405349"/>
      </dsp:txXfrm>
    </dsp:sp>
    <dsp:sp modelId="{583BF8E3-E322-47FB-BFC1-448A7295D9D3}">
      <dsp:nvSpPr>
        <dsp:cNvPr id="0" name=""/>
        <dsp:cNvSpPr/>
      </dsp:nvSpPr>
      <dsp:spPr>
        <a:xfrm>
          <a:off x="7633782" y="0"/>
          <a:ext cx="2724125" cy="1586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b="0" i="0" kern="1200" dirty="0"/>
            <a:t>Modelo de Implementación</a:t>
          </a:r>
          <a:endParaRPr lang="es-CO" sz="2700" kern="1200" dirty="0"/>
        </a:p>
      </dsp:txBody>
      <dsp:txXfrm>
        <a:off x="7680257" y="46475"/>
        <a:ext cx="2631175" cy="1493812"/>
      </dsp:txXfrm>
    </dsp:sp>
    <dsp:sp modelId="{DA5E9B4A-2F15-4500-9B01-48E6E21965F6}">
      <dsp:nvSpPr>
        <dsp:cNvPr id="0" name=""/>
        <dsp:cNvSpPr/>
      </dsp:nvSpPr>
      <dsp:spPr>
        <a:xfrm>
          <a:off x="10630320" y="455589"/>
          <a:ext cx="577514" cy="6755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s-CO" sz="2200" kern="1200"/>
        </a:p>
      </dsp:txBody>
      <dsp:txXfrm>
        <a:off x="10630320" y="590706"/>
        <a:ext cx="404260" cy="405349"/>
      </dsp:txXfrm>
    </dsp:sp>
    <dsp:sp modelId="{204D5A2E-A39F-48F4-974F-6AF598CFCB3F}">
      <dsp:nvSpPr>
        <dsp:cNvPr id="0" name=""/>
        <dsp:cNvSpPr/>
      </dsp:nvSpPr>
      <dsp:spPr>
        <a:xfrm>
          <a:off x="11447557" y="0"/>
          <a:ext cx="2724125" cy="1586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b="0" i="0" kern="1200"/>
            <a:t>Base de datos relacional</a:t>
          </a:r>
          <a:endParaRPr lang="es-CO" sz="2700" kern="1200"/>
        </a:p>
      </dsp:txBody>
      <dsp:txXfrm>
        <a:off x="11494032" y="46475"/>
        <a:ext cx="2631175" cy="14938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2BC13A-90F2-4464-A92F-25D90C8822EA}">
      <dsp:nvSpPr>
        <dsp:cNvPr id="0" name=""/>
        <dsp:cNvSpPr/>
      </dsp:nvSpPr>
      <dsp:spPr>
        <a:xfrm>
          <a:off x="0" y="131399"/>
          <a:ext cx="14375877" cy="702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b="1" i="0" kern="1200"/>
            <a:t>Errores que cuestan caro después</a:t>
          </a:r>
          <a:endParaRPr lang="es-CO" sz="3000" kern="1200"/>
        </a:p>
      </dsp:txBody>
      <dsp:txXfrm>
        <a:off x="34269" y="165668"/>
        <a:ext cx="14307339" cy="633462"/>
      </dsp:txXfrm>
    </dsp:sp>
    <dsp:sp modelId="{133ED0BF-8AA8-4DEE-B2E9-41B5A0B2CD90}">
      <dsp:nvSpPr>
        <dsp:cNvPr id="0" name=""/>
        <dsp:cNvSpPr/>
      </dsp:nvSpPr>
      <dsp:spPr>
        <a:xfrm>
          <a:off x="0" y="919799"/>
          <a:ext cx="14375877" cy="702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b="1" i="0" kern="1200"/>
            <a:t>Confundir Atributos con Entidades:</a:t>
          </a:r>
          <a:endParaRPr lang="es-CO" sz="3000" kern="1200"/>
        </a:p>
      </dsp:txBody>
      <dsp:txXfrm>
        <a:off x="34269" y="954068"/>
        <a:ext cx="14307339" cy="633462"/>
      </dsp:txXfrm>
    </dsp:sp>
    <dsp:sp modelId="{994D4E88-E28D-4841-BF4E-C8E89D0BF8C3}">
      <dsp:nvSpPr>
        <dsp:cNvPr id="0" name=""/>
        <dsp:cNvSpPr/>
      </dsp:nvSpPr>
      <dsp:spPr>
        <a:xfrm>
          <a:off x="0" y="1621799"/>
          <a:ext cx="14375877" cy="760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643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s-ES" sz="2300" b="0" i="1" kern="1200"/>
            <a:t>Error:</a:t>
          </a:r>
          <a:r>
            <a:rPr lang="es-ES" sz="2300" b="0" i="0" kern="1200"/>
            <a:t> Crear una tabla llamada "Precio".</a:t>
          </a:r>
          <a:endParaRPr lang="es-CO" sz="2300" kern="1200"/>
        </a:p>
        <a:p>
          <a:pPr marL="228600" lvl="1" indent="-228600" algn="l" defTabSz="1022350">
            <a:lnSpc>
              <a:spcPct val="90000"/>
            </a:lnSpc>
            <a:spcBef>
              <a:spcPct val="0"/>
            </a:spcBef>
            <a:spcAft>
              <a:spcPct val="20000"/>
            </a:spcAft>
            <a:buChar char="•"/>
          </a:pPr>
          <a:r>
            <a:rPr lang="es-ES" sz="2300" b="0" i="1" kern="1200"/>
            <a:t>Corrección:</a:t>
          </a:r>
          <a:r>
            <a:rPr lang="es-ES" sz="2300" b="0" i="0" kern="1200"/>
            <a:t> El precio no existe por sí solo; es una cualidad de un Producto o de una Venta pactada.</a:t>
          </a:r>
          <a:endParaRPr lang="es-CO" sz="2300" kern="1200"/>
        </a:p>
      </dsp:txBody>
      <dsp:txXfrm>
        <a:off x="0" y="1621799"/>
        <a:ext cx="14375877" cy="760725"/>
      </dsp:txXfrm>
    </dsp:sp>
    <dsp:sp modelId="{987078A6-04D9-4E63-9C58-26119E1AE2A1}">
      <dsp:nvSpPr>
        <dsp:cNvPr id="0" name=""/>
        <dsp:cNvSpPr/>
      </dsp:nvSpPr>
      <dsp:spPr>
        <a:xfrm>
          <a:off x="0" y="2382524"/>
          <a:ext cx="14375877" cy="702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b="1" i="0" kern="1200"/>
            <a:t>Ignorar el Detalle (Granularidad):</a:t>
          </a:r>
          <a:endParaRPr lang="es-CO" sz="3000" kern="1200"/>
        </a:p>
      </dsp:txBody>
      <dsp:txXfrm>
        <a:off x="34269" y="2416793"/>
        <a:ext cx="14307339" cy="633462"/>
      </dsp:txXfrm>
    </dsp:sp>
    <dsp:sp modelId="{E0845346-9DF2-4D44-853E-E804040BB75D}">
      <dsp:nvSpPr>
        <dsp:cNvPr id="0" name=""/>
        <dsp:cNvSpPr/>
      </dsp:nvSpPr>
      <dsp:spPr>
        <a:xfrm>
          <a:off x="0" y="3084524"/>
          <a:ext cx="14375877" cy="1055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643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s-ES" sz="2300" b="0" i="1" kern="1200"/>
            <a:t>Error:</a:t>
          </a:r>
          <a:r>
            <a:rPr lang="es-ES" sz="2300" b="0" i="0" kern="1200"/>
            <a:t> Intentar guardar todos los productos comprados en una sola celda de la tabla "Pedido" (separados por comas).</a:t>
          </a:r>
          <a:endParaRPr lang="es-CO" sz="2300" kern="1200"/>
        </a:p>
        <a:p>
          <a:pPr marL="228600" lvl="1" indent="-228600" algn="l" defTabSz="1022350">
            <a:lnSpc>
              <a:spcPct val="90000"/>
            </a:lnSpc>
            <a:spcBef>
              <a:spcPct val="0"/>
            </a:spcBef>
            <a:spcAft>
              <a:spcPct val="20000"/>
            </a:spcAft>
            <a:buChar char="•"/>
          </a:pPr>
          <a:r>
            <a:rPr lang="es-ES" sz="2300" b="0" i="1" kern="1200"/>
            <a:t>Corrección:</a:t>
          </a:r>
          <a:r>
            <a:rPr lang="es-ES" sz="2300" b="0" i="0" kern="1200"/>
            <a:t> Detectar la necesidad de una tabla hija (Order_Items) para normalizar la información.</a:t>
          </a:r>
          <a:endParaRPr lang="es-CO" sz="2300" kern="1200"/>
        </a:p>
      </dsp:txBody>
      <dsp:txXfrm>
        <a:off x="0" y="3084524"/>
        <a:ext cx="14375877" cy="1055700"/>
      </dsp:txXfrm>
    </dsp:sp>
    <dsp:sp modelId="{954FAAB9-0006-4D66-8F27-6285613969E2}">
      <dsp:nvSpPr>
        <dsp:cNvPr id="0" name=""/>
        <dsp:cNvSpPr/>
      </dsp:nvSpPr>
      <dsp:spPr>
        <a:xfrm>
          <a:off x="0" y="4140224"/>
          <a:ext cx="14375877" cy="702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b="1" i="0" kern="1200"/>
            <a:t>Sinónimos y Ambigüedad:</a:t>
          </a:r>
          <a:endParaRPr lang="es-CO" sz="3000" kern="1200"/>
        </a:p>
      </dsp:txBody>
      <dsp:txXfrm>
        <a:off x="34269" y="4174493"/>
        <a:ext cx="14307339" cy="633462"/>
      </dsp:txXfrm>
    </dsp:sp>
    <dsp:sp modelId="{CCC39003-3CCF-4718-BF9E-CD64B04CABA3}">
      <dsp:nvSpPr>
        <dsp:cNvPr id="0" name=""/>
        <dsp:cNvSpPr/>
      </dsp:nvSpPr>
      <dsp:spPr>
        <a:xfrm>
          <a:off x="0" y="4842224"/>
          <a:ext cx="14375877"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643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s-ES" sz="2300" b="0" i="0" kern="1200"/>
            <a:t>Si un departamento dice "Comprador" y otro "Usuario", el arquitecto de datos debe estandarizar (ej: </a:t>
          </a:r>
          <a:r>
            <a:rPr lang="es-ES" sz="2300" b="1" i="0" kern="1200"/>
            <a:t>Customer</a:t>
          </a:r>
          <a:r>
            <a:rPr lang="es-ES" sz="2300" b="0" i="0" kern="1200"/>
            <a:t>).</a:t>
          </a:r>
          <a:endParaRPr lang="es-CO" sz="2300" kern="1200"/>
        </a:p>
      </dsp:txBody>
      <dsp:txXfrm>
        <a:off x="0" y="4842224"/>
        <a:ext cx="14375877" cy="683100"/>
      </dsp:txXfrm>
    </dsp:sp>
    <dsp:sp modelId="{CE31755D-7B0A-4218-9D72-FB92E59C7650}">
      <dsp:nvSpPr>
        <dsp:cNvPr id="0" name=""/>
        <dsp:cNvSpPr/>
      </dsp:nvSpPr>
      <dsp:spPr>
        <a:xfrm>
          <a:off x="0" y="5525324"/>
          <a:ext cx="14375877" cy="702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b="1" i="0" kern="1200"/>
            <a:t>Datos Calculados:</a:t>
          </a:r>
          <a:endParaRPr lang="es-CO" sz="3000" kern="1200"/>
        </a:p>
      </dsp:txBody>
      <dsp:txXfrm>
        <a:off x="34269" y="5559593"/>
        <a:ext cx="14307339" cy="633462"/>
      </dsp:txXfrm>
    </dsp:sp>
    <dsp:sp modelId="{DD20DFEF-15CC-4B2F-878F-C06F42210F77}">
      <dsp:nvSpPr>
        <dsp:cNvPr id="0" name=""/>
        <dsp:cNvSpPr/>
      </dsp:nvSpPr>
      <dsp:spPr>
        <a:xfrm>
          <a:off x="0" y="6227324"/>
          <a:ext cx="14375877"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643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s-ES" sz="2300" b="0" i="0" kern="1200"/>
            <a:t>No almacenamos "Días que tardó el envío". Almacenamos Fecha_Envio y Fecha_Entrega, y calculamos la diferencia cuando sea necesario.</a:t>
          </a:r>
          <a:endParaRPr lang="es-CO" sz="2300" kern="1200"/>
        </a:p>
      </dsp:txBody>
      <dsp:txXfrm>
        <a:off x="0" y="6227324"/>
        <a:ext cx="14375877" cy="68310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8: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8: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
          <p:cNvSpPr>
            <a:spLocks noGrp="1"/>
          </p:cNvSpPr>
          <p:nvPr>
            <p:ph type="pic" idx="2"/>
          </p:nvPr>
        </p:nvSpPr>
        <p:spPr>
          <a:xfrm>
            <a:off x="1792288" y="612775"/>
            <a:ext cx="5486400" cy="4114800"/>
          </a:xfrm>
          <a:prstGeom prst="rect">
            <a:avLst/>
          </a:prstGeom>
          <a:noFill/>
          <a:ln>
            <a:noFill/>
          </a:ln>
        </p:spPr>
      </p:sp>
      <p:sp>
        <p:nvSpPr>
          <p:cNvPr id="68" name="Google Shape;68;p1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7.png"/><Relationship Id="rId7" Type="http://schemas.openxmlformats.org/officeDocument/2006/relationships/diagramQuickStyle" Target="../diagrams/quickStyle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8.svg"/><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7.png"/><Relationship Id="rId7" Type="http://schemas.openxmlformats.org/officeDocument/2006/relationships/diagramQuickStyle" Target="../diagrams/quickStyle2.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8.svg"/><Relationship Id="rId9" Type="http://schemas.microsoft.com/office/2007/relationships/diagramDrawing" Target="../diagrams/drawing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7.png"/><Relationship Id="rId7" Type="http://schemas.openxmlformats.org/officeDocument/2006/relationships/diagramQuickStyle" Target="../diagrams/quickStyle3.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8.svg"/><Relationship Id="rId9" Type="http://schemas.microsoft.com/office/2007/relationships/diagramDrawing" Target="../diagrams/drawing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hyperlink" Target="https://drive.google.com/file/d/1HIq7TgyTC39MFYDWEfhXrwqwkl-YwvKt/view?usp=sharing" TargetMode="External"/><Relationship Id="rId4" Type="http://schemas.openxmlformats.org/officeDocument/2006/relationships/image" Target="../media/image8.sv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8.sv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8.sv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8.sv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8.svg"/></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8.svg"/></Relationships>
</file>

<file path=ppt/slides/_rels/slide5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8.sv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8.sv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8.sv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8.sv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8.svg"/></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8.svg"/></Relationships>
</file>

<file path=ppt/slides/_rels/slide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8.svg"/></Relationships>
</file>

<file path=ppt/slides/_rels/slide6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8.svg"/></Relationships>
</file>

<file path=ppt/slides/_rels/slide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8.svg"/></Relationships>
</file>

<file path=ppt/slides/_rels/slide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8.svg"/></Relationships>
</file>

<file path=ppt/slides/_rels/slide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8.svg"/></Relationships>
</file>

<file path=ppt/slides/_rels/slide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8.svg"/></Relationships>
</file>

<file path=ppt/slides/_rels/slide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8.svg"/></Relationships>
</file>

<file path=ppt/slides/_rels/slide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8.svg"/></Relationships>
</file>

<file path=ppt/slides/_rels/slide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79.xml.rels><?xml version="1.0" encoding="UTF-8" standalone="yes"?>
<Relationships xmlns="http://schemas.openxmlformats.org/package/2006/relationships"><Relationship Id="rId8" Type="http://schemas.openxmlformats.org/officeDocument/2006/relationships/hyperlink" Target="http://www.enyoi.co" TargetMode="External"/><Relationship Id="rId13"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34.png"/><Relationship Id="rId12"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instagram.com/enyoi.co/" TargetMode="External"/><Relationship Id="rId11" Type="http://schemas.openxmlformats.org/officeDocument/2006/relationships/hyperlink" Target="https://www.tiktok.com/@enyoi.co" TargetMode="External"/><Relationship Id="rId5" Type="http://schemas.openxmlformats.org/officeDocument/2006/relationships/image" Target="../media/image33.png"/><Relationship Id="rId10" Type="http://schemas.openxmlformats.org/officeDocument/2006/relationships/image" Target="../media/image36.png"/><Relationship Id="rId4" Type="http://schemas.openxmlformats.org/officeDocument/2006/relationships/hyperlink" Target="https://wa.me/573206649412" TargetMode="External"/><Relationship Id="rId9" Type="http://schemas.openxmlformats.org/officeDocument/2006/relationships/image" Target="../media/image35.png"/></Relationships>
</file>

<file path=ppt/slides/_rels/slide8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358764" y="455568"/>
            <a:ext cx="3004519" cy="1201808"/>
          </a:xfrm>
          <a:custGeom>
            <a:avLst/>
            <a:gdLst/>
            <a:ahLst/>
            <a:cxnLst/>
            <a:rect l="l" t="t" r="r" b="b"/>
            <a:pathLst>
              <a:path w="3457174" h="1382870" extrusionOk="0">
                <a:moveTo>
                  <a:pt x="0" y="0"/>
                </a:moveTo>
                <a:lnTo>
                  <a:pt x="3457174" y="0"/>
                </a:lnTo>
                <a:lnTo>
                  <a:pt x="3457174" y="1382870"/>
                </a:lnTo>
                <a:lnTo>
                  <a:pt x="0" y="138287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9" name="Google Shape;89;p1"/>
          <p:cNvGrpSpPr/>
          <p:nvPr/>
        </p:nvGrpSpPr>
        <p:grpSpPr>
          <a:xfrm rot="10800000">
            <a:off x="10392303" y="15240"/>
            <a:ext cx="7895697" cy="10431661"/>
            <a:chOff x="0" y="-38100"/>
            <a:chExt cx="2079525" cy="2747433"/>
          </a:xfrm>
        </p:grpSpPr>
        <p:sp>
          <p:nvSpPr>
            <p:cNvPr id="90" name="Google Shape;90;p1"/>
            <p:cNvSpPr/>
            <p:nvPr/>
          </p:nvSpPr>
          <p:spPr>
            <a:xfrm>
              <a:off x="0" y="0"/>
              <a:ext cx="2079525" cy="2709333"/>
            </a:xfrm>
            <a:custGeom>
              <a:avLst/>
              <a:gdLst/>
              <a:ahLst/>
              <a:cxnLst/>
              <a:rect l="l" t="t" r="r" b="b"/>
              <a:pathLst>
                <a:path w="2079525" h="2709333" extrusionOk="0">
                  <a:moveTo>
                    <a:pt x="0" y="0"/>
                  </a:moveTo>
                  <a:lnTo>
                    <a:pt x="2079525" y="0"/>
                  </a:lnTo>
                  <a:lnTo>
                    <a:pt x="2079525" y="2709333"/>
                  </a:lnTo>
                  <a:lnTo>
                    <a:pt x="0" y="2709333"/>
                  </a:lnTo>
                  <a:close/>
                </a:path>
              </a:pathLst>
            </a:custGeom>
            <a:gradFill>
              <a:gsLst>
                <a:gs pos="0">
                  <a:srgbClr val="6B1374"/>
                </a:gs>
                <a:gs pos="33333">
                  <a:srgbClr val="700A89"/>
                </a:gs>
                <a:gs pos="66667">
                  <a:srgbClr val="C20052"/>
                </a:gs>
                <a:gs pos="100000">
                  <a:srgbClr val="FF0055"/>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91;p1"/>
            <p:cNvSpPr txBox="1"/>
            <p:nvPr/>
          </p:nvSpPr>
          <p:spPr>
            <a:xfrm>
              <a:off x="0" y="-38100"/>
              <a:ext cx="2079525"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92" name="Google Shape;92;p1"/>
          <p:cNvSpPr/>
          <p:nvPr/>
        </p:nvSpPr>
        <p:spPr>
          <a:xfrm>
            <a:off x="9562641" y="4953536"/>
            <a:ext cx="4777510" cy="4687932"/>
          </a:xfrm>
          <a:custGeom>
            <a:avLst/>
            <a:gdLst/>
            <a:ahLst/>
            <a:cxnLst/>
            <a:rect l="l" t="t" r="r" b="b"/>
            <a:pathLst>
              <a:path w="4777510" h="4687932" extrusionOk="0">
                <a:moveTo>
                  <a:pt x="0" y="0"/>
                </a:moveTo>
                <a:lnTo>
                  <a:pt x="4777511" y="0"/>
                </a:lnTo>
                <a:lnTo>
                  <a:pt x="4777511" y="4687932"/>
                </a:lnTo>
                <a:lnTo>
                  <a:pt x="0" y="468793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1"/>
          <p:cNvSpPr/>
          <p:nvPr/>
        </p:nvSpPr>
        <p:spPr>
          <a:xfrm rot="10800000">
            <a:off x="14340152" y="455568"/>
            <a:ext cx="4777510" cy="4687932"/>
          </a:xfrm>
          <a:custGeom>
            <a:avLst/>
            <a:gdLst/>
            <a:ahLst/>
            <a:cxnLst/>
            <a:rect l="l" t="t" r="r" b="b"/>
            <a:pathLst>
              <a:path w="4777510" h="4687932" extrusionOk="0">
                <a:moveTo>
                  <a:pt x="0" y="0"/>
                </a:moveTo>
                <a:lnTo>
                  <a:pt x="4777510" y="0"/>
                </a:lnTo>
                <a:lnTo>
                  <a:pt x="4777510" y="4687932"/>
                </a:lnTo>
                <a:lnTo>
                  <a:pt x="0" y="468793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94" name="Google Shape;94;p1"/>
          <p:cNvGrpSpPr/>
          <p:nvPr/>
        </p:nvGrpSpPr>
        <p:grpSpPr>
          <a:xfrm rot="1460314">
            <a:off x="10691684" y="4380706"/>
            <a:ext cx="7356554" cy="1393786"/>
            <a:chOff x="0" y="-38100"/>
            <a:chExt cx="1937529" cy="367088"/>
          </a:xfrm>
        </p:grpSpPr>
        <p:sp>
          <p:nvSpPr>
            <p:cNvPr id="95" name="Google Shape;95;p1"/>
            <p:cNvSpPr/>
            <p:nvPr/>
          </p:nvSpPr>
          <p:spPr>
            <a:xfrm>
              <a:off x="0" y="0"/>
              <a:ext cx="1937528" cy="328988"/>
            </a:xfrm>
            <a:custGeom>
              <a:avLst/>
              <a:gdLst/>
              <a:ahLst/>
              <a:cxnLst/>
              <a:rect l="l" t="t" r="r" b="b"/>
              <a:pathLst>
                <a:path w="1937528" h="328988" extrusionOk="0">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1"/>
            <p:cNvSpPr txBox="1"/>
            <p:nvPr/>
          </p:nvSpPr>
          <p:spPr>
            <a:xfrm>
              <a:off x="0" y="-38100"/>
              <a:ext cx="1937529" cy="367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97" name="Google Shape;97;p1"/>
          <p:cNvGrpSpPr/>
          <p:nvPr/>
        </p:nvGrpSpPr>
        <p:grpSpPr>
          <a:xfrm rot="10800000">
            <a:off x="-536261" y="9574006"/>
            <a:ext cx="8704395" cy="279585"/>
            <a:chOff x="0" y="-38100"/>
            <a:chExt cx="2292515" cy="73635"/>
          </a:xfrm>
        </p:grpSpPr>
        <p:sp>
          <p:nvSpPr>
            <p:cNvPr id="98" name="Google Shape;98;p1"/>
            <p:cNvSpPr/>
            <p:nvPr/>
          </p:nvSpPr>
          <p:spPr>
            <a:xfrm>
              <a:off x="0" y="0"/>
              <a:ext cx="2292515" cy="35535"/>
            </a:xfrm>
            <a:custGeom>
              <a:avLst/>
              <a:gdLst/>
              <a:ahLst/>
              <a:cxnLst/>
              <a:rect l="l" t="t" r="r" b="b"/>
              <a:pathLst>
                <a:path w="2292515" h="35535" extrusionOk="0">
                  <a:moveTo>
                    <a:pt x="17768" y="0"/>
                  </a:moveTo>
                  <a:lnTo>
                    <a:pt x="2274747" y="0"/>
                  </a:lnTo>
                  <a:cubicBezTo>
                    <a:pt x="2284560" y="0"/>
                    <a:pt x="2292515" y="7955"/>
                    <a:pt x="2292515" y="17768"/>
                  </a:cubicBezTo>
                  <a:lnTo>
                    <a:pt x="2292515" y="17768"/>
                  </a:lnTo>
                  <a:cubicBezTo>
                    <a:pt x="2292515" y="22480"/>
                    <a:pt x="2290643" y="26999"/>
                    <a:pt x="2287311" y="30331"/>
                  </a:cubicBezTo>
                  <a:cubicBezTo>
                    <a:pt x="2283978" y="33663"/>
                    <a:pt x="2279459" y="35535"/>
                    <a:pt x="2274747" y="35535"/>
                  </a:cubicBezTo>
                  <a:lnTo>
                    <a:pt x="17768" y="35535"/>
                  </a:lnTo>
                  <a:cubicBezTo>
                    <a:pt x="13055" y="35535"/>
                    <a:pt x="8536" y="33663"/>
                    <a:pt x="5204" y="30331"/>
                  </a:cubicBezTo>
                  <a:cubicBezTo>
                    <a:pt x="1872" y="26999"/>
                    <a:pt x="0" y="22480"/>
                    <a:pt x="0" y="17768"/>
                  </a:cubicBezTo>
                  <a:lnTo>
                    <a:pt x="0" y="17768"/>
                  </a:lnTo>
                  <a:cubicBezTo>
                    <a:pt x="0" y="13055"/>
                    <a:pt x="1872" y="8536"/>
                    <a:pt x="5204" y="5204"/>
                  </a:cubicBezTo>
                  <a:cubicBezTo>
                    <a:pt x="8536" y="1872"/>
                    <a:pt x="13055" y="0"/>
                    <a:pt x="17768"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1"/>
            <p:cNvSpPr txBox="1"/>
            <p:nvPr/>
          </p:nvSpPr>
          <p:spPr>
            <a:xfrm>
              <a:off x="0" y="-38100"/>
              <a:ext cx="2292514" cy="7363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100" name="Google Shape;100;p1"/>
          <p:cNvSpPr txBox="1"/>
          <p:nvPr/>
        </p:nvSpPr>
        <p:spPr>
          <a:xfrm>
            <a:off x="907966" y="4667931"/>
            <a:ext cx="8115300" cy="94776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None/>
            </a:pPr>
            <a:r>
              <a:rPr lang="es-CO" sz="4399" b="1" dirty="0">
                <a:solidFill>
                  <a:srgbClr val="700A89"/>
                </a:solidFill>
                <a:latin typeface="Poppins"/>
                <a:ea typeface="Poppins"/>
                <a:cs typeface="Poppins"/>
                <a:sym typeface="Poppins"/>
              </a:rPr>
              <a:t>Diseño Relacional</a:t>
            </a:r>
            <a:endParaRPr dirty="0"/>
          </a:p>
        </p:txBody>
      </p:sp>
      <p:pic>
        <p:nvPicPr>
          <p:cNvPr id="101" name="Google Shape;101;p1"/>
          <p:cNvPicPr preferRelativeResize="0"/>
          <p:nvPr/>
        </p:nvPicPr>
        <p:blipFill rotWithShape="1">
          <a:blip r:embed="rId5">
            <a:alphaModFix/>
          </a:blip>
          <a:srcRect l="53990" t="15859" r="8554" b="69322"/>
          <a:stretch/>
        </p:blipFill>
        <p:spPr>
          <a:xfrm>
            <a:off x="5181600" y="609324"/>
            <a:ext cx="4721448" cy="104805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629EE-1985-2225-31E2-050DC896E63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E846FC-1099-F5A4-7D4D-94754DDF4519}"/>
              </a:ext>
            </a:extLst>
          </p:cNvPr>
          <p:cNvSpPr/>
          <p:nvPr/>
        </p:nvSpPr>
        <p:spPr>
          <a:xfrm>
            <a:off x="-437361" y="8801100"/>
            <a:ext cx="1656562" cy="1607056"/>
          </a:xfrm>
          <a:custGeom>
            <a:avLst/>
            <a:gdLst/>
            <a:ahLst/>
            <a:cxnLst/>
            <a:rect l="l" t="t" r="r" b="b"/>
            <a:pathLst>
              <a:path w="2052835" h="2064911">
                <a:moveTo>
                  <a:pt x="0" y="0"/>
                </a:moveTo>
                <a:lnTo>
                  <a:pt x="2052835" y="0"/>
                </a:lnTo>
                <a:lnTo>
                  <a:pt x="2052835" y="2064910"/>
                </a:lnTo>
                <a:lnTo>
                  <a:pt x="0" y="2064910"/>
                </a:lnTo>
                <a:lnTo>
                  <a:pt x="0" y="0"/>
                </a:lnTo>
                <a:close/>
              </a:path>
            </a:pathLst>
          </a:custGeom>
          <a:blipFill>
            <a:blip r:embed="rId2"/>
            <a:stretch>
              <a:fillRect l="-34848" t="-49459" r="-26429" b="-59444"/>
            </a:stretch>
          </a:blipFill>
        </p:spPr>
        <p:txBody>
          <a:bodyPr/>
          <a:lstStyle/>
          <a:p>
            <a:endParaRPr lang="es-CO"/>
          </a:p>
        </p:txBody>
      </p:sp>
      <p:sp>
        <p:nvSpPr>
          <p:cNvPr id="3" name="Freeform 3">
            <a:extLst>
              <a:ext uri="{FF2B5EF4-FFF2-40B4-BE49-F238E27FC236}">
                <a16:creationId xmlns:a16="http://schemas.microsoft.com/office/drawing/2014/main" id="{B433B88B-431D-F520-8A64-604BAC5A4F71}"/>
              </a:ext>
            </a:extLst>
          </p:cNvPr>
          <p:cNvSpPr/>
          <p:nvPr/>
        </p:nvSpPr>
        <p:spPr>
          <a:xfrm rot="-10800000">
            <a:off x="16136495" y="-695866"/>
            <a:ext cx="1607799" cy="1648365"/>
          </a:xfrm>
          <a:custGeom>
            <a:avLst/>
            <a:gdLst/>
            <a:ahLst/>
            <a:cxnLst/>
            <a:rect l="l" t="t" r="r" b="b"/>
            <a:pathLst>
              <a:path w="1607799" h="1648365">
                <a:moveTo>
                  <a:pt x="0" y="0"/>
                </a:moveTo>
                <a:lnTo>
                  <a:pt x="1607799" y="0"/>
                </a:lnTo>
                <a:lnTo>
                  <a:pt x="1607799" y="1648364"/>
                </a:lnTo>
                <a:lnTo>
                  <a:pt x="0" y="1648364"/>
                </a:lnTo>
                <a:lnTo>
                  <a:pt x="0" y="0"/>
                </a:lnTo>
                <a:close/>
              </a:path>
            </a:pathLst>
          </a:custGeom>
          <a:blipFill>
            <a:blip r:embed="rId3"/>
            <a:stretch>
              <a:fillRect l="-36892" t="-49695" r="-28270" b="-60205"/>
            </a:stretch>
          </a:blipFill>
        </p:spPr>
        <p:txBody>
          <a:bodyPr/>
          <a:lstStyle/>
          <a:p>
            <a:endParaRPr lang="es-CO"/>
          </a:p>
        </p:txBody>
      </p:sp>
      <p:sp>
        <p:nvSpPr>
          <p:cNvPr id="9" name="Freeform 21">
            <a:extLst>
              <a:ext uri="{FF2B5EF4-FFF2-40B4-BE49-F238E27FC236}">
                <a16:creationId xmlns:a16="http://schemas.microsoft.com/office/drawing/2014/main" id="{1D05F255-F2E3-68A0-D911-D29FFBA02339}"/>
              </a:ext>
            </a:extLst>
          </p:cNvPr>
          <p:cNvSpPr/>
          <p:nvPr/>
        </p:nvSpPr>
        <p:spPr>
          <a:xfrm>
            <a:off x="14954160" y="7813562"/>
            <a:ext cx="2743200" cy="2438400"/>
          </a:xfrm>
          <a:custGeom>
            <a:avLst/>
            <a:gdLst/>
            <a:ahLst/>
            <a:cxnLst/>
            <a:rect l="l" t="t" r="r" b="b"/>
            <a:pathLst>
              <a:path w="5397947" h="4972858">
                <a:moveTo>
                  <a:pt x="0" y="0"/>
                </a:moveTo>
                <a:lnTo>
                  <a:pt x="5397947" y="0"/>
                </a:lnTo>
                <a:lnTo>
                  <a:pt x="5397947" y="4972859"/>
                </a:lnTo>
                <a:lnTo>
                  <a:pt x="0" y="4972859"/>
                </a:lnTo>
                <a:lnTo>
                  <a:pt x="0" y="0"/>
                </a:lnTo>
                <a:close/>
              </a:path>
            </a:pathLst>
          </a:custGeom>
          <a:blipFill>
            <a:blip r:embed="rId4"/>
            <a:stretch>
              <a:fillRect/>
            </a:stretch>
          </a:blipFill>
        </p:spPr>
        <p:txBody>
          <a:bodyPr/>
          <a:lstStyle/>
          <a:p>
            <a:endParaRPr lang="es-CO"/>
          </a:p>
        </p:txBody>
      </p:sp>
      <p:sp>
        <p:nvSpPr>
          <p:cNvPr id="8" name="CuadroTexto 7">
            <a:extLst>
              <a:ext uri="{FF2B5EF4-FFF2-40B4-BE49-F238E27FC236}">
                <a16:creationId xmlns:a16="http://schemas.microsoft.com/office/drawing/2014/main" id="{096DCFA7-361F-02A9-70F0-6BC7CADA3C28}"/>
              </a:ext>
            </a:extLst>
          </p:cNvPr>
          <p:cNvSpPr txBox="1"/>
          <p:nvPr/>
        </p:nvSpPr>
        <p:spPr>
          <a:xfrm>
            <a:off x="2000250" y="1952625"/>
            <a:ext cx="14668500" cy="1754326"/>
          </a:xfrm>
          <a:prstGeom prst="rect">
            <a:avLst/>
          </a:prstGeom>
          <a:noFill/>
        </p:spPr>
        <p:txBody>
          <a:bodyPr wrap="square">
            <a:spAutoFit/>
          </a:bodyPr>
          <a:lstStyle/>
          <a:p>
            <a:r>
              <a:rPr lang="es-MX" sz="2800" b="1" dirty="0">
                <a:latin typeface="Poppins" panose="00000500000000000000" pitchFamily="2" charset="0"/>
                <a:cs typeface="Poppins" panose="00000500000000000000" pitchFamily="2" charset="0"/>
              </a:rPr>
              <a:t>Objetivo</a:t>
            </a:r>
          </a:p>
          <a:p>
            <a:endParaRPr lang="es-MX" sz="2800" b="1" dirty="0">
              <a:latin typeface="Poppins" panose="00000500000000000000" pitchFamily="2" charset="0"/>
              <a:cs typeface="Poppins" panose="00000500000000000000" pitchFamily="2" charset="0"/>
            </a:endParaRPr>
          </a:p>
          <a:p>
            <a:endParaRPr lang="es-MX" sz="2800" b="1" dirty="0">
              <a:latin typeface="Poppins" panose="00000500000000000000" pitchFamily="2" charset="0"/>
              <a:cs typeface="Poppins" panose="00000500000000000000" pitchFamily="2" charset="0"/>
            </a:endParaRPr>
          </a:p>
          <a:p>
            <a:endParaRPr lang="es-MX" sz="2400" b="1"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004461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BE647-2F94-13D5-27DE-4A5DB74E1A0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3863DAD-F684-284C-2ED7-62294E5E5950}"/>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B898E5CA-37A9-0597-9D10-9A6A87597AAC}"/>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C395F84-2666-E01F-7240-1F6F93BDA7B3}"/>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6FA7629-9511-F4A4-7613-1B201C33252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446395D-E9BA-9E85-56A5-2F6A6409A8F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9A0ECEB-C6B6-16E0-C6D1-98D056177F2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513AD4A-301F-94CD-5896-56702A74C75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FBD03C7-19EF-C8F7-680E-2A1D5D5406DD}"/>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8FEA821-FD08-DD49-404E-B2A3BAB88CF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11FD1F1-29DA-B476-936B-2C9DEF53253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4" name="CuadroTexto 13">
            <a:extLst>
              <a:ext uri="{FF2B5EF4-FFF2-40B4-BE49-F238E27FC236}">
                <a16:creationId xmlns:a16="http://schemas.microsoft.com/office/drawing/2014/main" id="{57BA99F3-AD4F-5DD2-1C4B-646F8957AD1B}"/>
              </a:ext>
            </a:extLst>
          </p:cNvPr>
          <p:cNvSpPr txBox="1"/>
          <p:nvPr/>
        </p:nvSpPr>
        <p:spPr>
          <a:xfrm>
            <a:off x="1950461" y="509599"/>
            <a:ext cx="14554200" cy="3600986"/>
          </a:xfrm>
          <a:prstGeom prst="rect">
            <a:avLst/>
          </a:prstGeom>
          <a:noFill/>
        </p:spPr>
        <p:txBody>
          <a:bodyPr wrap="square">
            <a:spAutoFit/>
          </a:bodyPr>
          <a:lstStyle/>
          <a:p>
            <a:r>
              <a:rPr lang="es-ES" sz="3600" b="1" dirty="0">
                <a:latin typeface="Poppins 1 Bold" panose="020B0604020202020204" charset="0"/>
                <a:cs typeface="Poppins 1 Bold" panose="020B0604020202020204" charset="0"/>
              </a:rPr>
              <a:t>Agenda</a:t>
            </a:r>
          </a:p>
          <a:p>
            <a:endParaRPr lang="es-ES" sz="3600" b="1" dirty="0">
              <a:latin typeface="Poppins 1 Bold" panose="020B0604020202020204" charset="0"/>
              <a:cs typeface="Poppins 1 Bold" panose="020B0604020202020204" charset="0"/>
            </a:endParaRPr>
          </a:p>
          <a:p>
            <a:endParaRPr lang="es-ES" sz="3600" b="1" dirty="0">
              <a:latin typeface="Poppins 1 Bold" panose="020B0604020202020204" charset="0"/>
              <a:cs typeface="Poppins 1 Bold" panose="020B0604020202020204" charset="0"/>
            </a:endParaRPr>
          </a:p>
          <a:p>
            <a:pPr marL="742950" indent="-742950">
              <a:buFont typeface="+mj-lt"/>
              <a:buAutoNum type="arabicPeriod"/>
            </a:pPr>
            <a:endParaRPr lang="es-CO" sz="3600" dirty="0"/>
          </a:p>
          <a:p>
            <a:pPr lvl="0"/>
            <a:endParaRPr lang="es-CO" sz="3600" dirty="0"/>
          </a:p>
          <a:p>
            <a:endParaRPr lang="es-ES" sz="2400" dirty="0"/>
          </a:p>
          <a:p>
            <a:endParaRPr lang="es-ES" sz="2400" dirty="0"/>
          </a:p>
        </p:txBody>
      </p:sp>
    </p:spTree>
    <p:extLst>
      <p:ext uri="{BB962C8B-B14F-4D97-AF65-F5344CB8AC3E}">
        <p14:creationId xmlns:p14="http://schemas.microsoft.com/office/powerpoint/2010/main" val="3263708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C4226-BBB1-6642-7911-7297143A860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B60FF4C-FF87-D353-AFE0-71BE03429A3A}"/>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2AA98C1-EAED-B60E-B81B-AB86FB64550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7B1D0DB6-D090-DFDF-0241-FFA609884136}"/>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35E6491-FD97-9A1F-BC8E-662CF639047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BC613C70-2465-A8BB-131F-005D8F185AE6}"/>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AF2B1638-D7B1-7E0B-A4C3-DA55F09E0056}"/>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8DD7AC1-63D7-F518-130F-C85ACD8DE3C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0538ED31-8B20-7FDB-ACC5-5A1FC351211B}"/>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838245AA-8E1E-F9F6-B0EF-CE296347D8E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93CD9DE-5B2E-AC36-54E2-1F8BC6F4E7D0}"/>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8" name="CuadroTexto 17">
            <a:extLst>
              <a:ext uri="{FF2B5EF4-FFF2-40B4-BE49-F238E27FC236}">
                <a16:creationId xmlns:a16="http://schemas.microsoft.com/office/drawing/2014/main" id="{B131834C-6AC9-32BD-59B4-A3A7CC8CF198}"/>
              </a:ext>
            </a:extLst>
          </p:cNvPr>
          <p:cNvSpPr txBox="1"/>
          <p:nvPr/>
        </p:nvSpPr>
        <p:spPr>
          <a:xfrm>
            <a:off x="1237268" y="619028"/>
            <a:ext cx="15627284" cy="8586966"/>
          </a:xfrm>
          <a:prstGeom prst="rect">
            <a:avLst/>
          </a:prstGeom>
          <a:noFill/>
        </p:spPr>
        <p:txBody>
          <a:bodyPr wrap="square">
            <a:spAutoFit/>
          </a:bodyPr>
          <a:lstStyle/>
          <a:p>
            <a:pPr>
              <a:buNone/>
            </a:pPr>
            <a:r>
              <a:rPr lang="es-ES" sz="2400" b="1" dirty="0"/>
              <a:t>El Modelo Relacional (SQL)</a:t>
            </a:r>
          </a:p>
          <a:p>
            <a:pPr>
              <a:buNone/>
            </a:pPr>
            <a:endParaRPr lang="es-ES" sz="2400" b="1" dirty="0"/>
          </a:p>
          <a:p>
            <a:pPr>
              <a:buNone/>
            </a:pPr>
            <a:r>
              <a:rPr lang="es-ES" sz="2400" b="1" dirty="0"/>
              <a:t>¿Por qué organizar los datos así?</a:t>
            </a:r>
          </a:p>
          <a:p>
            <a:pPr>
              <a:buNone/>
            </a:pPr>
            <a:endParaRPr lang="es-ES" sz="2400" b="1" dirty="0"/>
          </a:p>
          <a:p>
            <a:pPr>
              <a:buNone/>
            </a:pPr>
            <a:endParaRPr lang="es-ES" sz="2400" b="1" dirty="0"/>
          </a:p>
          <a:p>
            <a:pPr>
              <a:buNone/>
            </a:pPr>
            <a:r>
              <a:rPr lang="es-ES" sz="2400" b="1" dirty="0"/>
              <a:t>VENTAJAS (El "Orden")</a:t>
            </a:r>
          </a:p>
          <a:p>
            <a:pPr>
              <a:buNone/>
            </a:pPr>
            <a:r>
              <a:rPr lang="es-ES" sz="2400" i="1" dirty="0"/>
              <a:t>Ideal para sistemas transaccionales (OLTP) como la App de Venta</a:t>
            </a:r>
          </a:p>
          <a:p>
            <a:pPr>
              <a:buNone/>
            </a:pPr>
            <a:endParaRPr lang="es-ES" sz="2400" dirty="0"/>
          </a:p>
          <a:p>
            <a:pPr>
              <a:buFont typeface="+mj-lt"/>
              <a:buAutoNum type="arabicPeriod"/>
            </a:pPr>
            <a:r>
              <a:rPr lang="es-ES" sz="2400" b="1" dirty="0"/>
              <a:t>Integridad de Datos (La "Verdad Única")</a:t>
            </a:r>
            <a:endParaRPr lang="es-ES" sz="2400" dirty="0"/>
          </a:p>
          <a:p>
            <a:pPr marL="742950" lvl="1" indent="-285750">
              <a:buFont typeface="+mj-lt"/>
              <a:buAutoNum type="arabicPeriod"/>
            </a:pPr>
            <a:r>
              <a:rPr lang="es-ES" sz="2400" b="1" dirty="0"/>
              <a:t>Concepto:</a:t>
            </a:r>
            <a:r>
              <a:rPr lang="es-ES" sz="2400" dirty="0"/>
              <a:t> Las reglas aseguran que no existan "pedidos huérfanos" sin cliente, o ventas de productos que no existen.</a:t>
            </a:r>
          </a:p>
          <a:p>
            <a:pPr marL="742950" lvl="1" indent="-285750">
              <a:buFont typeface="+mj-lt"/>
              <a:buAutoNum type="arabicPeriod"/>
            </a:pPr>
            <a:r>
              <a:rPr lang="es-ES" sz="2400" b="1" dirty="0"/>
              <a:t>Ejemplo </a:t>
            </a:r>
            <a:r>
              <a:rPr lang="es-ES" sz="2400" b="1" dirty="0" err="1"/>
              <a:t>Olist</a:t>
            </a:r>
            <a:r>
              <a:rPr lang="es-ES" sz="2400" b="1" dirty="0"/>
              <a:t>:</a:t>
            </a:r>
            <a:r>
              <a:rPr lang="es-ES" sz="2400" dirty="0"/>
              <a:t> Gracias a las </a:t>
            </a:r>
            <a:r>
              <a:rPr lang="es-ES" sz="2400" i="1" dirty="0" err="1"/>
              <a:t>Foreign</a:t>
            </a:r>
            <a:r>
              <a:rPr lang="es-ES" sz="2400" i="1" dirty="0"/>
              <a:t> </a:t>
            </a:r>
            <a:r>
              <a:rPr lang="es-ES" sz="2400" i="1" dirty="0" err="1"/>
              <a:t>Keys</a:t>
            </a:r>
            <a:r>
              <a:rPr lang="es-ES" sz="2400" dirty="0"/>
              <a:t>, es imposible crear una fila en </a:t>
            </a:r>
            <a:r>
              <a:rPr lang="es-ES" sz="2400" dirty="0" err="1">
                <a:latin typeface="Courier New" panose="02070309020205020404" pitchFamily="49" charset="0"/>
              </a:rPr>
              <a:t>order_items</a:t>
            </a:r>
            <a:r>
              <a:rPr lang="es-ES" sz="2400" dirty="0"/>
              <a:t> con un </a:t>
            </a:r>
            <a:r>
              <a:rPr lang="es-ES" sz="2400" dirty="0" err="1">
                <a:latin typeface="Courier New" panose="02070309020205020404" pitchFamily="49" charset="0"/>
              </a:rPr>
              <a:t>product_id</a:t>
            </a:r>
            <a:r>
              <a:rPr lang="es-ES" sz="2400" dirty="0"/>
              <a:t> que no esté registrado en la tabla </a:t>
            </a:r>
            <a:r>
              <a:rPr lang="es-ES" sz="2400" dirty="0" err="1">
                <a:latin typeface="Courier New" panose="02070309020205020404" pitchFamily="49" charset="0"/>
              </a:rPr>
              <a:t>products</a:t>
            </a:r>
            <a:r>
              <a:rPr lang="es-ES" sz="2400" dirty="0"/>
              <a:t>.</a:t>
            </a:r>
          </a:p>
          <a:p>
            <a:pPr marL="742950" lvl="1" indent="-285750">
              <a:buFont typeface="+mj-lt"/>
              <a:buAutoNum type="arabicPeriod"/>
            </a:pPr>
            <a:endParaRPr lang="es-ES" sz="2400" dirty="0"/>
          </a:p>
          <a:p>
            <a:pPr>
              <a:buFont typeface="+mj-lt"/>
              <a:buAutoNum type="arabicPeriod"/>
            </a:pPr>
            <a:r>
              <a:rPr lang="es-ES" sz="2400" b="1" dirty="0"/>
              <a:t>Eficiencia de Almacenamiento (Normalización)</a:t>
            </a:r>
            <a:endParaRPr lang="es-ES" sz="2400" dirty="0"/>
          </a:p>
          <a:p>
            <a:pPr marL="742950" lvl="1" indent="-285750">
              <a:buFont typeface="+mj-lt"/>
              <a:buAutoNum type="arabicPeriod"/>
            </a:pPr>
            <a:r>
              <a:rPr lang="es-ES" sz="2400" b="1" dirty="0"/>
              <a:t>Concepto:</a:t>
            </a:r>
            <a:r>
              <a:rPr lang="es-ES" sz="2400" dirty="0"/>
              <a:t> Evita la duplicidad. Si un dato se repite, se mueve a una tabla separada.</a:t>
            </a:r>
          </a:p>
          <a:p>
            <a:pPr marL="742950" lvl="1" indent="-285750">
              <a:buFont typeface="+mj-lt"/>
              <a:buAutoNum type="arabicPeriod"/>
            </a:pPr>
            <a:r>
              <a:rPr lang="es-ES" sz="2400" b="1" dirty="0"/>
              <a:t>Ejemplo </a:t>
            </a:r>
            <a:r>
              <a:rPr lang="es-ES" sz="2400" b="1" dirty="0" err="1"/>
              <a:t>Olist</a:t>
            </a:r>
            <a:r>
              <a:rPr lang="es-ES" sz="2400" b="1" dirty="0"/>
              <a:t>:</a:t>
            </a:r>
            <a:r>
              <a:rPr lang="es-ES" sz="2400" dirty="0"/>
              <a:t> La categoría "</a:t>
            </a:r>
            <a:r>
              <a:rPr lang="es-ES" sz="2400" dirty="0" err="1"/>
              <a:t>cool_stuff</a:t>
            </a:r>
            <a:r>
              <a:rPr lang="es-ES" sz="2400" dirty="0"/>
              <a:t>" se guarda una sola vez en la tabla </a:t>
            </a:r>
            <a:r>
              <a:rPr lang="es-ES" sz="2400" dirty="0" err="1">
                <a:latin typeface="Courier New" panose="02070309020205020404" pitchFamily="49" charset="0"/>
              </a:rPr>
              <a:t>products</a:t>
            </a:r>
            <a:r>
              <a:rPr lang="es-ES" sz="2400" dirty="0"/>
              <a:t>. No se repite en texto las 112,000 veces que se vendió algo de esa categoría.</a:t>
            </a:r>
          </a:p>
          <a:p>
            <a:pPr marL="742950" lvl="1" indent="-285750">
              <a:buFont typeface="+mj-lt"/>
              <a:buAutoNum type="arabicPeriod"/>
            </a:pPr>
            <a:endParaRPr lang="es-ES" sz="2400" dirty="0"/>
          </a:p>
          <a:p>
            <a:pPr>
              <a:buFont typeface="+mj-lt"/>
              <a:buAutoNum type="arabicPeriod"/>
            </a:pPr>
            <a:r>
              <a:rPr lang="es-ES" sz="2400" b="1" dirty="0"/>
              <a:t>Mantenibilidad y Actualización</a:t>
            </a:r>
            <a:endParaRPr lang="es-ES" sz="2400" dirty="0"/>
          </a:p>
          <a:p>
            <a:pPr marL="742950" lvl="1" indent="-285750">
              <a:buFont typeface="+mj-lt"/>
              <a:buAutoNum type="arabicPeriod"/>
            </a:pPr>
            <a:r>
              <a:rPr lang="es-ES" sz="2400" b="1" dirty="0"/>
              <a:t>Concepto:</a:t>
            </a:r>
            <a:r>
              <a:rPr lang="es-ES" sz="2400" dirty="0"/>
              <a:t> Cambias el dato en un lugar, y se refleja en todo el sistema.</a:t>
            </a:r>
          </a:p>
          <a:p>
            <a:pPr marL="742950" lvl="1" indent="-285750">
              <a:buFont typeface="+mj-lt"/>
              <a:buAutoNum type="arabicPeriod"/>
            </a:pPr>
            <a:r>
              <a:rPr lang="es-ES" sz="2400" b="1" dirty="0"/>
              <a:t>Ejemplo </a:t>
            </a:r>
            <a:r>
              <a:rPr lang="es-ES" sz="2400" b="1" dirty="0" err="1"/>
              <a:t>Olist</a:t>
            </a:r>
            <a:r>
              <a:rPr lang="es-ES" sz="2400" b="1" dirty="0"/>
              <a:t>:</a:t>
            </a:r>
            <a:r>
              <a:rPr lang="es-ES" sz="2400" dirty="0"/>
              <a:t> Si la ciudad "sao paulo" cambia de nombre, solo haces </a:t>
            </a:r>
            <a:r>
              <a:rPr lang="es-ES" sz="2400" dirty="0">
                <a:latin typeface="Courier New" panose="02070309020205020404" pitchFamily="49" charset="0"/>
              </a:rPr>
              <a:t>UPDATE</a:t>
            </a:r>
            <a:r>
              <a:rPr lang="es-ES" sz="2400" dirty="0"/>
              <a:t> en una fila (o en la tabla de Geo), no en millones de órdenes históricas.</a:t>
            </a:r>
          </a:p>
        </p:txBody>
      </p:sp>
    </p:spTree>
    <p:extLst>
      <p:ext uri="{BB962C8B-B14F-4D97-AF65-F5344CB8AC3E}">
        <p14:creationId xmlns:p14="http://schemas.microsoft.com/office/powerpoint/2010/main" val="2378932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92828-1556-0618-F727-174C54B3EF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A2A98E-16D2-BEC6-280C-34CE999CD89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C1B8AA29-F2BB-F7C9-D717-F8849DB8BC73}"/>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AC1127A9-D747-D544-6EBF-E5694C1F4FA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3A365942-A523-4FA5-FC69-97A62978E10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53C4E51-4971-5952-5C36-230B14DFA84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A47702A-9E15-0E67-8E38-68C19DF11DCF}"/>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FEBBCD5-E9E9-F902-1ABE-5DF3ACD954E1}"/>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48950FDE-A6BE-24EA-12F8-A0D67C9A2CEC}"/>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6EF016B0-AD68-CE71-0ED5-370A00085A5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D254D337-C658-D018-EF97-692A7BC064A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8" name="CuadroTexto 17">
            <a:extLst>
              <a:ext uri="{FF2B5EF4-FFF2-40B4-BE49-F238E27FC236}">
                <a16:creationId xmlns:a16="http://schemas.microsoft.com/office/drawing/2014/main" id="{A593FF89-7B01-9CD8-D6CA-8B7445164CA7}"/>
              </a:ext>
            </a:extLst>
          </p:cNvPr>
          <p:cNvSpPr txBox="1"/>
          <p:nvPr/>
        </p:nvSpPr>
        <p:spPr>
          <a:xfrm>
            <a:off x="1237268" y="619028"/>
            <a:ext cx="15627284" cy="3416320"/>
          </a:xfrm>
          <a:prstGeom prst="rect">
            <a:avLst/>
          </a:prstGeom>
          <a:noFill/>
        </p:spPr>
        <p:txBody>
          <a:bodyPr wrap="square">
            <a:spAutoFit/>
          </a:bodyPr>
          <a:lstStyle/>
          <a:p>
            <a:pPr>
              <a:buNone/>
            </a:pPr>
            <a:r>
              <a:rPr lang="es-ES" sz="2400" b="1" dirty="0"/>
              <a:t>El Modelo Relacional (SQL)</a:t>
            </a:r>
          </a:p>
          <a:p>
            <a:pPr>
              <a:buNone/>
            </a:pPr>
            <a:endParaRPr lang="es-ES" sz="2400" b="1" dirty="0"/>
          </a:p>
          <a:p>
            <a:pPr>
              <a:buNone/>
            </a:pPr>
            <a:r>
              <a:rPr lang="es-ES" sz="2400" b="1" dirty="0"/>
              <a:t>¿Por qué organizar los datos así?</a:t>
            </a:r>
          </a:p>
          <a:p>
            <a:pPr>
              <a:buNone/>
            </a:pPr>
            <a:endParaRPr lang="es-ES" sz="2400" b="1" dirty="0"/>
          </a:p>
          <a:p>
            <a:pPr>
              <a:buNone/>
            </a:pPr>
            <a:endParaRPr lang="es-ES" sz="2400" b="1" dirty="0"/>
          </a:p>
          <a:p>
            <a:pPr>
              <a:buNone/>
            </a:pPr>
            <a:endParaRPr lang="es-ES" sz="2400" b="1" dirty="0"/>
          </a:p>
          <a:p>
            <a:pPr>
              <a:buNone/>
            </a:pPr>
            <a:endParaRPr lang="es-ES" sz="2400" b="1" dirty="0"/>
          </a:p>
          <a:p>
            <a:pPr>
              <a:buNone/>
            </a:pPr>
            <a:endParaRPr lang="es-ES" sz="2400" b="1" dirty="0"/>
          </a:p>
          <a:p>
            <a:pPr>
              <a:buNone/>
            </a:pPr>
            <a:endParaRPr lang="es-ES" sz="2400" b="1" dirty="0"/>
          </a:p>
        </p:txBody>
      </p:sp>
      <p:graphicFrame>
        <p:nvGraphicFramePr>
          <p:cNvPr id="14" name="Diagrama 13">
            <a:extLst>
              <a:ext uri="{FF2B5EF4-FFF2-40B4-BE49-F238E27FC236}">
                <a16:creationId xmlns:a16="http://schemas.microsoft.com/office/drawing/2014/main" id="{C98A5D66-C2FD-5831-D243-7EF74CAF9C6F}"/>
              </a:ext>
            </a:extLst>
          </p:cNvPr>
          <p:cNvGraphicFramePr/>
          <p:nvPr>
            <p:extLst>
              <p:ext uri="{D42A27DB-BD31-4B8C-83A1-F6EECF244321}">
                <p14:modId xmlns:p14="http://schemas.microsoft.com/office/powerpoint/2010/main" val="1667519062"/>
              </p:ext>
            </p:extLst>
          </p:nvPr>
        </p:nvGraphicFramePr>
        <p:xfrm>
          <a:off x="3261674" y="3346809"/>
          <a:ext cx="11161335" cy="485451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890891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557C7-E425-B761-E509-E6CBD5EFF42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6C825EE-8EF7-CC42-50A3-853004AC6A5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90519E9-3721-093D-8ED2-F98D6FB808B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6FA3CD85-757E-CBFE-3FE3-CA800CA9E9F7}"/>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68A0629-65E7-74E3-3F2A-8E4FE4841D4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345EC27-0A08-022F-C342-0649AFE6F55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1885D834-48C9-4942-F3DA-85B6B97570AC}"/>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E48CFD11-5261-A131-E9EF-1DA465C2ABD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58F8C85-FE89-CE37-8E35-6F9564417C89}"/>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DC67731-1ABE-C3E2-E927-57EC4A04C3D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1334130-9A6D-9E96-F5B3-5144D09FBBC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8" name="CuadroTexto 17">
            <a:extLst>
              <a:ext uri="{FF2B5EF4-FFF2-40B4-BE49-F238E27FC236}">
                <a16:creationId xmlns:a16="http://schemas.microsoft.com/office/drawing/2014/main" id="{43C93A9F-30CB-5604-762F-D4B593840A6E}"/>
              </a:ext>
            </a:extLst>
          </p:cNvPr>
          <p:cNvSpPr txBox="1"/>
          <p:nvPr/>
        </p:nvSpPr>
        <p:spPr>
          <a:xfrm>
            <a:off x="1227841" y="484045"/>
            <a:ext cx="16060918" cy="8586966"/>
          </a:xfrm>
          <a:prstGeom prst="rect">
            <a:avLst/>
          </a:prstGeom>
          <a:noFill/>
        </p:spPr>
        <p:txBody>
          <a:bodyPr wrap="square">
            <a:spAutoFit/>
          </a:bodyPr>
          <a:lstStyle/>
          <a:p>
            <a:pPr>
              <a:buNone/>
            </a:pPr>
            <a:r>
              <a:rPr lang="es-ES" sz="2400" b="1" dirty="0"/>
              <a:t>El Modelo Relacional (SQL)</a:t>
            </a:r>
          </a:p>
          <a:p>
            <a:pPr>
              <a:buNone/>
            </a:pPr>
            <a:endParaRPr lang="es-ES" sz="2400" b="1" dirty="0"/>
          </a:p>
          <a:p>
            <a:pPr>
              <a:buNone/>
            </a:pPr>
            <a:endParaRPr lang="es-ES" sz="2400" b="1" dirty="0"/>
          </a:p>
          <a:p>
            <a:pPr>
              <a:buNone/>
            </a:pPr>
            <a:endParaRPr lang="es-ES" sz="2400" b="1" dirty="0"/>
          </a:p>
          <a:p>
            <a:r>
              <a:rPr lang="es-ES" sz="2400" b="1" dirty="0"/>
              <a:t>DESVENTAJAS (La "Burocracia")</a:t>
            </a:r>
          </a:p>
          <a:p>
            <a:endParaRPr lang="es-ES" sz="2400" b="1" dirty="0"/>
          </a:p>
          <a:p>
            <a:r>
              <a:rPr lang="es-ES" sz="2400" i="1" dirty="0"/>
              <a:t>Costoso para análisis masivo (OLAP) o Ciencia de Datos</a:t>
            </a:r>
          </a:p>
          <a:p>
            <a:endParaRPr lang="es-ES" sz="2400" dirty="0"/>
          </a:p>
          <a:p>
            <a:r>
              <a:rPr lang="es-ES" sz="2400" b="1" dirty="0"/>
              <a:t>Complejidad en Consultas (El infierno de los </a:t>
            </a:r>
            <a:r>
              <a:rPr lang="es-ES" sz="2400" b="1" dirty="0" err="1"/>
              <a:t>JOINs</a:t>
            </a:r>
            <a:r>
              <a:rPr lang="es-ES" sz="2400" b="1" dirty="0"/>
              <a:t>)</a:t>
            </a:r>
            <a:endParaRPr lang="es-ES" sz="2400" dirty="0"/>
          </a:p>
          <a:p>
            <a:pPr lvl="1"/>
            <a:r>
              <a:rPr lang="es-ES" sz="2400" b="1" dirty="0"/>
              <a:t>Concepto:</a:t>
            </a:r>
            <a:r>
              <a:rPr lang="es-ES" sz="2400" dirty="0"/>
              <a:t> Para reconstruir la información completa de un evento, necesitas unir muchas tablas, lo que consume mucha CPU y memoria.</a:t>
            </a:r>
          </a:p>
          <a:p>
            <a:pPr lvl="1"/>
            <a:r>
              <a:rPr lang="es-ES" sz="2400" b="1" dirty="0"/>
              <a:t>Ejemplo </a:t>
            </a:r>
            <a:r>
              <a:rPr lang="es-ES" sz="2400" b="1" dirty="0" err="1"/>
              <a:t>Olist</a:t>
            </a:r>
            <a:r>
              <a:rPr lang="es-ES" sz="2400" b="1" dirty="0"/>
              <a:t>:</a:t>
            </a:r>
            <a:r>
              <a:rPr lang="es-ES" sz="2400" dirty="0"/>
              <a:t> Para saber </a:t>
            </a:r>
            <a:r>
              <a:rPr lang="es-ES" sz="2400" i="1" dirty="0"/>
              <a:t>"¿Quién compró qué y dónde vive?"</a:t>
            </a:r>
            <a:r>
              <a:rPr lang="es-ES" sz="2400" dirty="0"/>
              <a:t>, el motor de base de datos tuvo que coser 5 tablas (</a:t>
            </a:r>
            <a:r>
              <a:rPr lang="es-ES" sz="2400" dirty="0" err="1"/>
              <a:t>orders</a:t>
            </a:r>
            <a:r>
              <a:rPr lang="es-ES" sz="2400" dirty="0"/>
              <a:t> + </a:t>
            </a:r>
            <a:r>
              <a:rPr lang="es-ES" sz="2400" dirty="0" err="1"/>
              <a:t>items</a:t>
            </a:r>
            <a:r>
              <a:rPr lang="es-ES" sz="2400" dirty="0"/>
              <a:t> + </a:t>
            </a:r>
            <a:r>
              <a:rPr lang="es-ES" sz="2400" dirty="0" err="1"/>
              <a:t>products</a:t>
            </a:r>
            <a:r>
              <a:rPr lang="es-ES" sz="2400" dirty="0"/>
              <a:t> + </a:t>
            </a:r>
            <a:r>
              <a:rPr lang="es-ES" sz="2400" dirty="0" err="1"/>
              <a:t>customers</a:t>
            </a:r>
            <a:r>
              <a:rPr lang="es-ES" sz="2400" dirty="0"/>
              <a:t> + </a:t>
            </a:r>
            <a:r>
              <a:rPr lang="es-ES" sz="2400" dirty="0" err="1"/>
              <a:t>sellers</a:t>
            </a:r>
            <a:r>
              <a:rPr lang="es-ES" sz="2400" dirty="0"/>
              <a:t>) al mismo tiempo.</a:t>
            </a:r>
          </a:p>
          <a:p>
            <a:pPr lvl="1"/>
            <a:endParaRPr lang="es-ES" sz="2400" dirty="0"/>
          </a:p>
          <a:p>
            <a:r>
              <a:rPr lang="es-ES" sz="2400" b="1" dirty="0"/>
              <a:t>Rigidez del Esquema (</a:t>
            </a:r>
            <a:r>
              <a:rPr lang="es-ES" sz="2400" b="1" dirty="0" err="1"/>
              <a:t>Schema</a:t>
            </a:r>
            <a:r>
              <a:rPr lang="es-ES" sz="2400" b="1" dirty="0"/>
              <a:t> </a:t>
            </a:r>
            <a:r>
              <a:rPr lang="es-ES" sz="2400" b="1" dirty="0" err="1"/>
              <a:t>rigidity</a:t>
            </a:r>
            <a:r>
              <a:rPr lang="es-ES" sz="2400" b="1" dirty="0"/>
              <a:t>)</a:t>
            </a:r>
            <a:endParaRPr lang="es-ES" sz="2400" dirty="0"/>
          </a:p>
          <a:p>
            <a:pPr lvl="1"/>
            <a:r>
              <a:rPr lang="es-ES" sz="2400" b="1" dirty="0"/>
              <a:t>Concepto:</a:t>
            </a:r>
            <a:r>
              <a:rPr lang="es-ES" sz="2400" dirty="0"/>
              <a:t> Debes definir la estructura </a:t>
            </a:r>
            <a:r>
              <a:rPr lang="es-ES" sz="2400" i="1" dirty="0"/>
              <a:t>antes</a:t>
            </a:r>
            <a:r>
              <a:rPr lang="es-ES" sz="2400" dirty="0"/>
              <a:t> de guardar los datos. Cambiarla después es doloroso.</a:t>
            </a:r>
          </a:p>
          <a:p>
            <a:pPr lvl="1"/>
            <a:r>
              <a:rPr lang="es-ES" sz="2400" b="1" dirty="0"/>
              <a:t>Ejemplo </a:t>
            </a:r>
            <a:r>
              <a:rPr lang="es-ES" sz="2400" b="1" dirty="0" err="1"/>
              <a:t>Olist</a:t>
            </a:r>
            <a:r>
              <a:rPr lang="es-ES" sz="2400" b="1" dirty="0"/>
              <a:t>:</a:t>
            </a:r>
            <a:r>
              <a:rPr lang="es-ES" sz="2400" dirty="0"/>
              <a:t> Si mañana </a:t>
            </a:r>
            <a:r>
              <a:rPr lang="es-ES" sz="2400" dirty="0" err="1"/>
              <a:t>Olist</a:t>
            </a:r>
            <a:r>
              <a:rPr lang="es-ES" sz="2400" dirty="0"/>
              <a:t> quiere empezar a vender seguros de vida con atributos totalmente diferentes a los productos físicos, tendrías que alterar las tablas existentes (ALTER TABLE) o crear estructuras complejas, arriesgando romper la aplicación.</a:t>
            </a:r>
          </a:p>
          <a:p>
            <a:pPr lvl="1"/>
            <a:endParaRPr lang="es-ES" sz="2400" dirty="0"/>
          </a:p>
          <a:p>
            <a:r>
              <a:rPr lang="es-ES" sz="2400" b="1" dirty="0"/>
              <a:t>Rendimiento en Lectura Masiva</a:t>
            </a:r>
            <a:endParaRPr lang="es-ES" sz="2400" dirty="0"/>
          </a:p>
          <a:p>
            <a:pPr lvl="1"/>
            <a:r>
              <a:rPr lang="es-ES" sz="2400" b="1" dirty="0"/>
              <a:t>Concepto:</a:t>
            </a:r>
            <a:r>
              <a:rPr lang="es-ES" sz="2400" dirty="0"/>
              <a:t> Al estar los datos fragmentados, leer todo el historial para reportes es lento comparado con una tabla plana o bases NoSQL.</a:t>
            </a:r>
          </a:p>
        </p:txBody>
      </p:sp>
    </p:spTree>
    <p:extLst>
      <p:ext uri="{BB962C8B-B14F-4D97-AF65-F5344CB8AC3E}">
        <p14:creationId xmlns:p14="http://schemas.microsoft.com/office/powerpoint/2010/main" val="2365868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BBFF-F08F-C57E-5655-C946037DE7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14FA464-757A-8D39-85C6-896227FEC6A0}"/>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E1CDEC9D-23E2-B360-2CF4-5B66E1D4C630}"/>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47B80911-7F45-5292-A3C8-FABD1D0708F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1FDF73C-5A08-29DA-A519-CFD2DF2B832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23B95B14-704E-652C-EF9B-B04958112B9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6FC3294-755A-3FE3-D79F-3390F58CB3D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04341B29-3806-F1B2-C780-78A806ECCAA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A9F7A921-C45D-28E0-144F-4251F70D41C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5D5C4BE-8188-29EF-B8DB-56F299D4758A}"/>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2B9B5EEE-9ABA-4699-C8DC-9B03F741DC7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5" name="Diagrama 14">
            <a:extLst>
              <a:ext uri="{FF2B5EF4-FFF2-40B4-BE49-F238E27FC236}">
                <a16:creationId xmlns:a16="http://schemas.microsoft.com/office/drawing/2014/main" id="{16F77BA2-D8D9-B578-17B9-59FCBB6266A5}"/>
              </a:ext>
            </a:extLst>
          </p:cNvPr>
          <p:cNvGraphicFramePr/>
          <p:nvPr>
            <p:extLst>
              <p:ext uri="{D42A27DB-BD31-4B8C-83A1-F6EECF244321}">
                <p14:modId xmlns:p14="http://schemas.microsoft.com/office/powerpoint/2010/main" val="2300535084"/>
              </p:ext>
            </p:extLst>
          </p:nvPr>
        </p:nvGraphicFramePr>
        <p:xfrm>
          <a:off x="1725105" y="2070839"/>
          <a:ext cx="14177914" cy="158676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6" name="CuadroTexto 15">
            <a:extLst>
              <a:ext uri="{FF2B5EF4-FFF2-40B4-BE49-F238E27FC236}">
                <a16:creationId xmlns:a16="http://schemas.microsoft.com/office/drawing/2014/main" id="{877194B9-EA71-E970-0848-E2105BF0A047}"/>
              </a:ext>
            </a:extLst>
          </p:cNvPr>
          <p:cNvSpPr txBox="1"/>
          <p:nvPr/>
        </p:nvSpPr>
        <p:spPr>
          <a:xfrm>
            <a:off x="5976595" y="4758779"/>
            <a:ext cx="1911101" cy="769441"/>
          </a:xfrm>
          <a:prstGeom prst="rect">
            <a:avLst/>
          </a:prstGeom>
          <a:noFill/>
        </p:spPr>
        <p:txBody>
          <a:bodyPr wrap="none" rtlCol="0">
            <a:spAutoFit/>
          </a:bodyPr>
          <a:lstStyle/>
          <a:p>
            <a:r>
              <a:rPr lang="es-CO" sz="4400" i="1" dirty="0"/>
              <a:t>¿Qué?</a:t>
            </a:r>
          </a:p>
        </p:txBody>
      </p:sp>
      <p:sp>
        <p:nvSpPr>
          <p:cNvPr id="17" name="CuadroTexto 16">
            <a:extLst>
              <a:ext uri="{FF2B5EF4-FFF2-40B4-BE49-F238E27FC236}">
                <a16:creationId xmlns:a16="http://schemas.microsoft.com/office/drawing/2014/main" id="{1C93CB8E-9D66-1138-22C7-EA28B75E9D45}"/>
              </a:ext>
            </a:extLst>
          </p:cNvPr>
          <p:cNvSpPr txBox="1"/>
          <p:nvPr/>
        </p:nvSpPr>
        <p:spPr>
          <a:xfrm>
            <a:off x="9565743" y="4758779"/>
            <a:ext cx="2348720" cy="769441"/>
          </a:xfrm>
          <a:prstGeom prst="rect">
            <a:avLst/>
          </a:prstGeom>
          <a:noFill/>
        </p:spPr>
        <p:txBody>
          <a:bodyPr wrap="none" rtlCol="0">
            <a:spAutoFit/>
          </a:bodyPr>
          <a:lstStyle/>
          <a:p>
            <a:r>
              <a:rPr lang="es-CO" sz="4400" i="1" dirty="0"/>
              <a:t>¿Cómo?</a:t>
            </a:r>
          </a:p>
        </p:txBody>
      </p:sp>
      <p:sp>
        <p:nvSpPr>
          <p:cNvPr id="19" name="CuadroTexto 18">
            <a:extLst>
              <a:ext uri="{FF2B5EF4-FFF2-40B4-BE49-F238E27FC236}">
                <a16:creationId xmlns:a16="http://schemas.microsoft.com/office/drawing/2014/main" id="{0ADC0557-F6C5-E556-428B-DA04C53346F5}"/>
              </a:ext>
            </a:extLst>
          </p:cNvPr>
          <p:cNvSpPr txBox="1"/>
          <p:nvPr/>
        </p:nvSpPr>
        <p:spPr>
          <a:xfrm>
            <a:off x="5019802" y="6408469"/>
            <a:ext cx="3824685" cy="1446550"/>
          </a:xfrm>
          <a:prstGeom prst="rect">
            <a:avLst/>
          </a:prstGeom>
          <a:noFill/>
        </p:spPr>
        <p:txBody>
          <a:bodyPr wrap="square" rtlCol="0">
            <a:spAutoFit/>
          </a:bodyPr>
          <a:lstStyle/>
          <a:p>
            <a:pPr algn="ctr"/>
            <a:r>
              <a:rPr lang="es-CO" sz="4400" i="1" dirty="0"/>
              <a:t>Vista de </a:t>
            </a:r>
          </a:p>
          <a:p>
            <a:pPr algn="ctr"/>
            <a:r>
              <a:rPr lang="es-CO" sz="4400" i="1" dirty="0"/>
              <a:t>Usuario</a:t>
            </a:r>
          </a:p>
        </p:txBody>
      </p:sp>
      <p:sp>
        <p:nvSpPr>
          <p:cNvPr id="20" name="CuadroTexto 19">
            <a:extLst>
              <a:ext uri="{FF2B5EF4-FFF2-40B4-BE49-F238E27FC236}">
                <a16:creationId xmlns:a16="http://schemas.microsoft.com/office/drawing/2014/main" id="{E908728F-66F2-C675-B830-B166CD07CC0B}"/>
              </a:ext>
            </a:extLst>
          </p:cNvPr>
          <p:cNvSpPr txBox="1"/>
          <p:nvPr/>
        </p:nvSpPr>
        <p:spPr>
          <a:xfrm>
            <a:off x="9296401" y="6408469"/>
            <a:ext cx="3571812" cy="1446550"/>
          </a:xfrm>
          <a:prstGeom prst="rect">
            <a:avLst/>
          </a:prstGeom>
          <a:noFill/>
        </p:spPr>
        <p:txBody>
          <a:bodyPr wrap="none" rtlCol="0">
            <a:spAutoFit/>
          </a:bodyPr>
          <a:lstStyle/>
          <a:p>
            <a:pPr algn="ctr"/>
            <a:r>
              <a:rPr lang="es-CO" sz="4400" i="1" dirty="0"/>
              <a:t>Vista de </a:t>
            </a:r>
          </a:p>
          <a:p>
            <a:pPr algn="ctr"/>
            <a:r>
              <a:rPr lang="es-CO" sz="4400" i="1" dirty="0"/>
              <a:t>Desarrollador</a:t>
            </a:r>
          </a:p>
        </p:txBody>
      </p:sp>
    </p:spTree>
    <p:extLst>
      <p:ext uri="{BB962C8B-B14F-4D97-AF65-F5344CB8AC3E}">
        <p14:creationId xmlns:p14="http://schemas.microsoft.com/office/powerpoint/2010/main" val="3156830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D73A9-F78F-0A68-9E38-658F45383F1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1B7A10-2F4C-AC05-754D-BAE536CAB05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B2C63BA0-FF0A-B866-9131-9332AE0FCCBC}"/>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2852C93-3988-44EC-7F7B-16C23EFD057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EBD8865-8CCE-E964-3B49-8DD4D9E587B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09A026B5-020F-9793-D098-B5B079095C1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DD0C9E31-135F-E199-8316-29FA9D657D3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907915BF-5BAB-B555-C7C6-873D5CD17EB6}"/>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56717F3-FE32-6982-DEC8-CE37F1A9DF97}"/>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5E41464-8F5D-3C09-2639-19AA342E330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D9882098-048F-2923-DE80-9F7BD66CD05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E6AE9D14-5600-D8EC-A64E-59674CF7DE65}"/>
              </a:ext>
            </a:extLst>
          </p:cNvPr>
          <p:cNvSpPr txBox="1"/>
          <p:nvPr/>
        </p:nvSpPr>
        <p:spPr>
          <a:xfrm>
            <a:off x="1614340" y="968983"/>
            <a:ext cx="14844861" cy="8648521"/>
          </a:xfrm>
          <a:prstGeom prst="rect">
            <a:avLst/>
          </a:prstGeom>
          <a:noFill/>
        </p:spPr>
        <p:txBody>
          <a:bodyPr wrap="square">
            <a:spAutoFit/>
          </a:bodyPr>
          <a:lstStyle/>
          <a:p>
            <a:r>
              <a:rPr lang="es-CO" sz="2400" dirty="0"/>
              <a:t>Paso 1: Descubrir entidades y asignar atributos</a:t>
            </a:r>
          </a:p>
          <a:p>
            <a:pPr marL="285750" indent="-285750">
              <a:buFont typeface="Arial" panose="020B0604020202020204" pitchFamily="34" charset="0"/>
              <a:buChar char="•"/>
            </a:pPr>
            <a:r>
              <a:rPr lang="es-CO" sz="2400" dirty="0"/>
              <a:t>Paso 1-1: Descubrir las entidades</a:t>
            </a:r>
          </a:p>
          <a:p>
            <a:pPr marL="285750" indent="-285750">
              <a:buFont typeface="Arial" panose="020B0604020202020204" pitchFamily="34" charset="0"/>
              <a:buChar char="•"/>
            </a:pPr>
            <a:r>
              <a:rPr lang="es-CO" sz="2400" dirty="0"/>
              <a:t>Paso 1-2: Asignar atributos a cada entidad descubierta</a:t>
            </a:r>
          </a:p>
          <a:p>
            <a:pPr marL="285750" indent="-285750">
              <a:buFont typeface="Arial" panose="020B0604020202020204" pitchFamily="34" charset="0"/>
              <a:buChar char="•"/>
            </a:pPr>
            <a:r>
              <a:rPr lang="es-CO" sz="2400" dirty="0"/>
              <a:t>Paso 1-3: Seleccionar identificadores, claves y claves primarias de los atributos de cada entidad</a:t>
            </a:r>
          </a:p>
          <a:p>
            <a:pPr marL="285750" indent="-285750">
              <a:buFont typeface="Arial" panose="020B0604020202020204" pitchFamily="34" charset="0"/>
              <a:buChar char="•"/>
            </a:pPr>
            <a:endParaRPr lang="es-CO" sz="2400" dirty="0"/>
          </a:p>
          <a:p>
            <a:r>
              <a:rPr lang="es-CO" sz="2400" dirty="0"/>
              <a:t>Paso 2: Derivar relaciones unarias y binarias</a:t>
            </a:r>
          </a:p>
          <a:p>
            <a:pPr marL="285750" indent="-285750">
              <a:buFont typeface="Arial" panose="020B0604020202020204" pitchFamily="34" charset="0"/>
              <a:buChar char="•"/>
            </a:pPr>
            <a:r>
              <a:rPr lang="es-CO" sz="2400" dirty="0"/>
              <a:t>Paso 2-1: Construir la matriz</a:t>
            </a:r>
          </a:p>
          <a:p>
            <a:pPr marL="285750" indent="-285750">
              <a:buFont typeface="Arial" panose="020B0604020202020204" pitchFamily="34" charset="0"/>
              <a:buChar char="•"/>
            </a:pPr>
            <a:r>
              <a:rPr lang="es-CO" sz="2400" dirty="0"/>
              <a:t>Paso 2-2: Completar la matriz</a:t>
            </a:r>
          </a:p>
          <a:p>
            <a:pPr marL="285750" indent="-285750">
              <a:buFont typeface="Arial" panose="020B0604020202020204" pitchFamily="34" charset="0"/>
              <a:buChar char="•"/>
            </a:pPr>
            <a:endParaRPr lang="es-CO" sz="2400" dirty="0"/>
          </a:p>
          <a:p>
            <a:r>
              <a:rPr lang="es-CO" sz="2400" dirty="0"/>
              <a:t>Paso 3: Crear un diagrama de entidad-relación simplificado</a:t>
            </a:r>
          </a:p>
          <a:p>
            <a:endParaRPr lang="es-CO" sz="2400" dirty="0"/>
          </a:p>
          <a:p>
            <a:r>
              <a:rPr lang="es-CO" sz="2400" dirty="0"/>
              <a:t>Paso 4: Enumerar las aserciones para todas las relaciones</a:t>
            </a:r>
          </a:p>
          <a:p>
            <a:endParaRPr lang="es-CO" sz="2400" dirty="0"/>
          </a:p>
          <a:p>
            <a:r>
              <a:rPr lang="es-CO" sz="2400" dirty="0"/>
              <a:t>Paso 5: Crear un diagrama E-R detallado utilizando aserciones</a:t>
            </a:r>
          </a:p>
          <a:p>
            <a:endParaRPr lang="es-CO" sz="2400" dirty="0"/>
          </a:p>
          <a:p>
            <a:r>
              <a:rPr lang="es-CO" sz="2400" dirty="0"/>
              <a:t>Paso 6: Transformar el diagrama E-R detallado en un diagrama R-M implementable</a:t>
            </a:r>
          </a:p>
          <a:p>
            <a:pPr marL="285750" indent="-285750">
              <a:buFont typeface="Arial" panose="020B0604020202020204" pitchFamily="34" charset="0"/>
              <a:buChar char="•"/>
            </a:pPr>
            <a:r>
              <a:rPr lang="es-CO" sz="2400" dirty="0"/>
              <a:t>Paso 6-1: Relaciones de muchos a muchos</a:t>
            </a:r>
          </a:p>
          <a:p>
            <a:pPr marL="285750" indent="-285750">
              <a:buFont typeface="Arial" panose="020B0604020202020204" pitchFamily="34" charset="0"/>
              <a:buChar char="•"/>
            </a:pPr>
            <a:r>
              <a:rPr lang="es-CO" sz="2400" dirty="0"/>
              <a:t>Paso 6-2: Relaciones de uno a muchos</a:t>
            </a:r>
          </a:p>
          <a:p>
            <a:pPr marL="285750" indent="-285750">
              <a:buFont typeface="Arial" panose="020B0604020202020204" pitchFamily="34" charset="0"/>
              <a:buChar char="•"/>
            </a:pPr>
            <a:r>
              <a:rPr lang="es-CO" sz="2400" dirty="0"/>
              <a:t>Paso 6-3: Relaciones uno a uno</a:t>
            </a:r>
          </a:p>
          <a:p>
            <a:pPr marL="285750" indent="-285750">
              <a:buFont typeface="Arial" panose="020B0604020202020204" pitchFamily="34" charset="0"/>
              <a:buChar char="•"/>
            </a:pPr>
            <a:r>
              <a:rPr lang="es-CO" sz="2400" dirty="0"/>
              <a:t>Paso 6-4: Combinar los resultados para crear un diagrama R-M</a:t>
            </a:r>
          </a:p>
          <a:p>
            <a:pPr marL="285750" indent="-285750">
              <a:buFont typeface="Arial" panose="020B0604020202020204" pitchFamily="34" charset="0"/>
              <a:buChar char="•"/>
            </a:pPr>
            <a:endParaRPr lang="es-CO" sz="2400" dirty="0"/>
          </a:p>
          <a:p>
            <a:r>
              <a:rPr lang="es-ES" sz="2400" dirty="0"/>
              <a:t>Paso 7: Diseño para la implementación del Modelo Físico </a:t>
            </a:r>
          </a:p>
          <a:p>
            <a:pPr marL="285750" indent="-285750">
              <a:buFont typeface="Arial" panose="020B0604020202020204" pitchFamily="34" charset="0"/>
              <a:buChar char="•"/>
            </a:pPr>
            <a:endParaRPr lang="es-CO" sz="2800" dirty="0"/>
          </a:p>
        </p:txBody>
      </p:sp>
    </p:spTree>
    <p:extLst>
      <p:ext uri="{BB962C8B-B14F-4D97-AF65-F5344CB8AC3E}">
        <p14:creationId xmlns:p14="http://schemas.microsoft.com/office/powerpoint/2010/main" val="1159471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462FB-AC9D-33E3-DA71-21E3405172B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73663E3-97E5-44FE-B079-7F51B8784E7B}"/>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78CC28BA-6A78-495C-F816-51EB6165026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034BC567-97DC-1970-4A96-C1EC35B429F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2E747018-0BE0-9F3A-1A53-DF7CF6EB7C3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A0D62A40-3B65-1564-5AEB-BE090C5E10A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A1877A8A-FDE0-A802-5022-B79D2C2DEA1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A0B8679-33B0-1D36-CA5F-0504BDCF078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69617F3F-FDC9-634A-6963-928B894D75D2}"/>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253D92FB-D999-FCC8-7AB7-AD591A74ECE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C1DF7DD2-1C33-F16F-501A-FE32BDF7C83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0B6E92A1-AFDC-4730-3838-2DE7F4E194B1}"/>
              </a:ext>
            </a:extLst>
          </p:cNvPr>
          <p:cNvSpPr txBox="1"/>
          <p:nvPr/>
        </p:nvSpPr>
        <p:spPr>
          <a:xfrm>
            <a:off x="4800600" y="3833649"/>
            <a:ext cx="9186420" cy="2123658"/>
          </a:xfrm>
          <a:prstGeom prst="rect">
            <a:avLst/>
          </a:prstGeom>
          <a:noFill/>
        </p:spPr>
        <p:txBody>
          <a:bodyPr wrap="square">
            <a:spAutoFit/>
          </a:bodyPr>
          <a:lstStyle/>
          <a:p>
            <a:pPr algn="ctr"/>
            <a:r>
              <a:rPr lang="es-CO" sz="4400" b="1" dirty="0"/>
              <a:t>Paso 1: </a:t>
            </a:r>
          </a:p>
          <a:p>
            <a:pPr algn="ctr"/>
            <a:r>
              <a:rPr lang="es-CO" sz="4400" b="1" dirty="0"/>
              <a:t>Descubrir entidades y asignar atributos</a:t>
            </a:r>
          </a:p>
        </p:txBody>
      </p:sp>
    </p:spTree>
    <p:extLst>
      <p:ext uri="{BB962C8B-B14F-4D97-AF65-F5344CB8AC3E}">
        <p14:creationId xmlns:p14="http://schemas.microsoft.com/office/powerpoint/2010/main" val="325405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1FA83-B9F8-0E16-A193-67BE5061C75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323CE4-25E3-35CD-2E39-A04BF7674858}"/>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5811F45B-0A32-D0F2-6BC4-12655E5EF12A}"/>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682A44E-B3B6-440F-DAF2-C70C9D55DAC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1D2A5317-190D-86AE-E465-BED55282927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D0D05DE-99E6-D949-1669-83CF110C0DF3}"/>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ABF3848-5CB0-EB25-FA59-A92518166D9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A01693BC-35AD-23CD-38A1-F7E03F7826C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C9F7918C-67E3-1C0B-52D5-11E9BB520FB6}"/>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5F81C645-DFDB-15AB-D879-64464A15D40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999EEDE-02CB-00A2-FEA7-288CF5E32F1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7AA83893-4EEC-A58F-B17F-59228A6E880A}"/>
              </a:ext>
            </a:extLst>
          </p:cNvPr>
          <p:cNvSpPr txBox="1"/>
          <p:nvPr/>
        </p:nvSpPr>
        <p:spPr>
          <a:xfrm>
            <a:off x="1064834" y="607315"/>
            <a:ext cx="15911268" cy="8817799"/>
          </a:xfrm>
          <a:prstGeom prst="rect">
            <a:avLst/>
          </a:prstGeom>
          <a:noFill/>
        </p:spPr>
        <p:txBody>
          <a:bodyPr wrap="square">
            <a:spAutoFit/>
          </a:bodyPr>
          <a:lstStyle/>
          <a:p>
            <a:pPr>
              <a:buNone/>
            </a:pPr>
            <a:r>
              <a:rPr lang="es-ES" sz="2700" b="1" dirty="0"/>
              <a:t>Paso 0: Análisis de Requerimientos</a:t>
            </a:r>
          </a:p>
          <a:p>
            <a:pPr>
              <a:buNone/>
            </a:pPr>
            <a:endParaRPr lang="es-ES" sz="2700" b="1" dirty="0"/>
          </a:p>
          <a:p>
            <a:pPr>
              <a:buNone/>
            </a:pPr>
            <a:r>
              <a:rPr lang="es-ES" sz="2700" b="1" dirty="0"/>
              <a:t>"La Fase de Descubrimiento“</a:t>
            </a:r>
          </a:p>
          <a:p>
            <a:pPr>
              <a:buNone/>
            </a:pPr>
            <a:endParaRPr lang="es-ES" sz="2700" b="1" dirty="0"/>
          </a:p>
          <a:p>
            <a:pPr>
              <a:buNone/>
            </a:pPr>
            <a:r>
              <a:rPr lang="es-ES" sz="2700" dirty="0"/>
              <a:t>Antes de abrir cualquier herramienta de diagramado, debemos actuar como analistas. </a:t>
            </a:r>
          </a:p>
          <a:p>
            <a:pPr>
              <a:buNone/>
            </a:pPr>
            <a:endParaRPr lang="es-ES" sz="2700" dirty="0"/>
          </a:p>
          <a:p>
            <a:pPr>
              <a:buNone/>
            </a:pPr>
            <a:r>
              <a:rPr lang="es-ES" sz="2700" dirty="0">
                <a:highlight>
                  <a:srgbClr val="FFFF00"/>
                </a:highlight>
              </a:rPr>
              <a:t>El error #1 es empezar a crear tablas sin entender el flujo completo de la información.</a:t>
            </a:r>
          </a:p>
          <a:p>
            <a:pPr>
              <a:buNone/>
            </a:pPr>
            <a:endParaRPr lang="es-ES" sz="2700" dirty="0"/>
          </a:p>
          <a:p>
            <a:pPr>
              <a:buNone/>
            </a:pPr>
            <a:r>
              <a:rPr lang="es-ES" sz="2700" b="1" dirty="0"/>
              <a:t>Técnicas de Recolección de Datos:</a:t>
            </a:r>
          </a:p>
          <a:p>
            <a:pPr>
              <a:buNone/>
            </a:pPr>
            <a:endParaRPr lang="es-ES" sz="2700" b="1" dirty="0"/>
          </a:p>
          <a:p>
            <a:pPr marL="457200" indent="-457200">
              <a:buFont typeface="+mj-lt"/>
              <a:buAutoNum type="arabicPeriod"/>
            </a:pPr>
            <a:r>
              <a:rPr lang="es-ES" sz="2700" b="1" dirty="0"/>
              <a:t>Entrevistas con </a:t>
            </a:r>
            <a:r>
              <a:rPr lang="es-ES" sz="2700" b="1" dirty="0" err="1"/>
              <a:t>Stakeholders</a:t>
            </a:r>
            <a:r>
              <a:rPr lang="es-ES" sz="2700" b="1" dirty="0"/>
              <a:t>:</a:t>
            </a:r>
            <a:r>
              <a:rPr lang="es-ES" sz="2700" dirty="0"/>
              <a:t> Preguntar "¿Qué pasa después?" hasta llegar al final del proceso.</a:t>
            </a:r>
          </a:p>
          <a:p>
            <a:pPr marL="457200" indent="-457200">
              <a:buFont typeface="+mj-lt"/>
              <a:buAutoNum type="arabicPeriod"/>
            </a:pPr>
            <a:r>
              <a:rPr lang="es-ES" sz="2700" b="1" dirty="0"/>
              <a:t>Análisis de Documentos Existentes:</a:t>
            </a:r>
            <a:r>
              <a:rPr lang="es-ES" sz="2700" dirty="0"/>
              <a:t> Revisar facturas, reportes en Excel o formularios actuales.</a:t>
            </a:r>
          </a:p>
          <a:p>
            <a:pPr marL="457200" indent="-457200">
              <a:buFont typeface="+mj-lt"/>
              <a:buAutoNum type="arabicPeriod"/>
            </a:pPr>
            <a:r>
              <a:rPr lang="es-ES" sz="2700" b="1" dirty="0"/>
              <a:t>Observación del Proceso:</a:t>
            </a:r>
            <a:r>
              <a:rPr lang="es-ES" sz="2700" dirty="0"/>
              <a:t> Ver cómo operan los usuarios reales.</a:t>
            </a:r>
          </a:p>
          <a:p>
            <a:pPr>
              <a:buFont typeface="+mj-lt"/>
              <a:buAutoNum type="arabicPeriod"/>
            </a:pPr>
            <a:endParaRPr lang="es-ES" sz="2700" dirty="0"/>
          </a:p>
          <a:p>
            <a:pPr>
              <a:buNone/>
            </a:pPr>
            <a:r>
              <a:rPr lang="es-ES" sz="2700" b="1" dirty="0"/>
              <a:t>El Método Lingüístico (Sustantivos y Verbos)</a:t>
            </a:r>
          </a:p>
          <a:p>
            <a:pPr>
              <a:buNone/>
            </a:pPr>
            <a:endParaRPr lang="es-ES" sz="2700" b="1" dirty="0"/>
          </a:p>
          <a:p>
            <a:pPr>
              <a:buNone/>
            </a:pPr>
            <a:r>
              <a:rPr lang="es-ES" sz="2700" dirty="0"/>
              <a:t>Para estructurar el caos, usamos el lenguaje:</a:t>
            </a:r>
          </a:p>
          <a:p>
            <a:pPr>
              <a:buNone/>
            </a:pPr>
            <a:endParaRPr lang="es-ES" sz="2700" dirty="0"/>
          </a:p>
          <a:p>
            <a:pPr marL="457200" lvl="5" indent="-457200">
              <a:buFont typeface="+mj-lt"/>
              <a:buAutoNum type="arabicPeriod"/>
            </a:pPr>
            <a:r>
              <a:rPr lang="es-ES" sz="2700" b="1" dirty="0"/>
              <a:t>Sustantivos (</a:t>
            </a:r>
            <a:r>
              <a:rPr lang="es-ES" sz="2700" b="1" dirty="0" err="1"/>
              <a:t>Nouns</a:t>
            </a:r>
            <a:r>
              <a:rPr lang="es-ES" sz="2700" b="1" dirty="0"/>
              <a:t>):</a:t>
            </a:r>
            <a:r>
              <a:rPr lang="es-ES" sz="2700" dirty="0"/>
              <a:t> Candidatos fuertes a ser </a:t>
            </a:r>
            <a:r>
              <a:rPr lang="es-ES" sz="2700" b="1" dirty="0"/>
              <a:t>Entidades</a:t>
            </a:r>
            <a:r>
              <a:rPr lang="es-ES" sz="2700" dirty="0"/>
              <a:t> (Tablas). </a:t>
            </a:r>
            <a:r>
              <a:rPr lang="es-ES" sz="2700" dirty="0" err="1"/>
              <a:t>Ej</a:t>
            </a:r>
            <a:r>
              <a:rPr lang="es-ES" sz="2700" dirty="0"/>
              <a:t>: "Cliente", "Producto".</a:t>
            </a:r>
          </a:p>
          <a:p>
            <a:pPr marL="457200" lvl="5" indent="-457200">
              <a:buFont typeface="+mj-lt"/>
              <a:buAutoNum type="arabicPeriod"/>
            </a:pPr>
            <a:r>
              <a:rPr lang="es-ES" sz="2700" b="1" dirty="0"/>
              <a:t>Verbos:</a:t>
            </a:r>
            <a:r>
              <a:rPr lang="es-ES" sz="2700" dirty="0"/>
              <a:t> Candidatos a ser </a:t>
            </a:r>
            <a:r>
              <a:rPr lang="es-ES" sz="2700" b="1" dirty="0"/>
              <a:t>Relaciones</a:t>
            </a:r>
            <a:r>
              <a:rPr lang="es-ES" sz="2700" dirty="0"/>
              <a:t>. </a:t>
            </a:r>
            <a:r>
              <a:rPr lang="es-ES" sz="2700" dirty="0" err="1"/>
              <a:t>Ej</a:t>
            </a:r>
            <a:r>
              <a:rPr lang="es-ES" sz="2700" dirty="0"/>
              <a:t>: "Compra", "Envía", "Califica".</a:t>
            </a:r>
          </a:p>
          <a:p>
            <a:pPr marL="457200" lvl="5" indent="-457200">
              <a:buFont typeface="+mj-lt"/>
              <a:buAutoNum type="arabicPeriod"/>
            </a:pPr>
            <a:r>
              <a:rPr lang="es-ES" sz="2700" b="1" dirty="0"/>
              <a:t>Adjetivos/Detalles:</a:t>
            </a:r>
            <a:r>
              <a:rPr lang="es-ES" sz="2700" dirty="0"/>
              <a:t> Candidatos a ser </a:t>
            </a:r>
            <a:r>
              <a:rPr lang="es-ES" sz="2700" b="1" dirty="0"/>
              <a:t>Atributos</a:t>
            </a:r>
            <a:r>
              <a:rPr lang="es-ES" sz="2700" dirty="0"/>
              <a:t> (Columnas). </a:t>
            </a:r>
            <a:r>
              <a:rPr lang="es-ES" sz="2700" dirty="0" err="1"/>
              <a:t>Ej</a:t>
            </a:r>
            <a:r>
              <a:rPr lang="es-ES" sz="2700" dirty="0"/>
              <a:t>: "Rojo", "Urgente", "Pagado".</a:t>
            </a:r>
          </a:p>
        </p:txBody>
      </p:sp>
    </p:spTree>
    <p:extLst>
      <p:ext uri="{BB962C8B-B14F-4D97-AF65-F5344CB8AC3E}">
        <p14:creationId xmlns:p14="http://schemas.microsoft.com/office/powerpoint/2010/main" val="384747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3717F-3767-D837-B8C4-5A7E2A02215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7D8242C-4BD0-FACD-4BD7-71C91E8B3DA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12AD4E1-E025-3270-ACDF-E7AB3983ACE0}"/>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BF02F91-7BAB-584D-A313-0A197909C89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40A58F5-F62C-6688-740E-C28B0143858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FCDBD8A7-39D4-CE0E-F05D-883DE744705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D142D538-21D4-4BAB-53AF-D6572EEF0C3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AD795987-5329-320C-8C6B-7AEA8FA5CCC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A98ED445-976E-843F-21B0-7896A352FBF8}"/>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76DEC4BA-67EA-41DA-5F65-4D9126B165BD}"/>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0717E262-02E8-025B-98CE-32BE2194394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EDCD1B3-D0EC-A18C-8C27-0142D427FCF8}"/>
              </a:ext>
            </a:extLst>
          </p:cNvPr>
          <p:cNvSpPr txBox="1"/>
          <p:nvPr/>
        </p:nvSpPr>
        <p:spPr>
          <a:xfrm>
            <a:off x="1613162" y="839241"/>
            <a:ext cx="15061676" cy="8463855"/>
          </a:xfrm>
          <a:prstGeom prst="rect">
            <a:avLst/>
          </a:prstGeom>
          <a:noFill/>
        </p:spPr>
        <p:txBody>
          <a:bodyPr wrap="square">
            <a:spAutoFit/>
          </a:bodyPr>
          <a:lstStyle/>
          <a:p>
            <a:pPr>
              <a:buNone/>
            </a:pPr>
            <a:r>
              <a:rPr lang="es-ES" sz="3200" b="1" dirty="0"/>
              <a:t>Aplicación: Caso </a:t>
            </a:r>
            <a:r>
              <a:rPr lang="es-ES" sz="3200" b="1" dirty="0" err="1"/>
              <a:t>Olist</a:t>
            </a:r>
            <a:r>
              <a:rPr lang="es-ES" sz="3200" b="1" dirty="0"/>
              <a:t> (Extendido)</a:t>
            </a:r>
          </a:p>
          <a:p>
            <a:pPr>
              <a:buNone/>
            </a:pPr>
            <a:endParaRPr lang="es-ES" sz="3200" b="1" dirty="0"/>
          </a:p>
          <a:p>
            <a:pPr>
              <a:buNone/>
            </a:pPr>
            <a:r>
              <a:rPr lang="es-ES" sz="3200" b="1" dirty="0"/>
              <a:t>"La Narrativa Completa“</a:t>
            </a:r>
          </a:p>
          <a:p>
            <a:pPr>
              <a:buNone/>
            </a:pPr>
            <a:endParaRPr lang="es-ES" sz="3200" b="1" dirty="0"/>
          </a:p>
          <a:p>
            <a:pPr>
              <a:buNone/>
            </a:pPr>
            <a:r>
              <a:rPr lang="es-ES" sz="3200" i="1" dirty="0"/>
              <a:t>Imagina una entrevista profunda con el CTO de </a:t>
            </a:r>
            <a:r>
              <a:rPr lang="es-ES" sz="3200" i="1" dirty="0" err="1"/>
              <a:t>Olist</a:t>
            </a:r>
            <a:r>
              <a:rPr lang="es-ES" sz="3200" i="1" dirty="0"/>
              <a:t>. No solo venden productos, el sistema es más complejo:</a:t>
            </a:r>
          </a:p>
          <a:p>
            <a:pPr>
              <a:buNone/>
            </a:pPr>
            <a:endParaRPr lang="es-ES" sz="3200" dirty="0"/>
          </a:p>
          <a:p>
            <a:pPr>
              <a:buNone/>
            </a:pPr>
            <a:r>
              <a:rPr lang="es-ES" sz="3200" dirty="0"/>
              <a:t>"Somos un mercado (Marketplace) que conecta </a:t>
            </a:r>
            <a:r>
              <a:rPr lang="es-ES" sz="3200" b="1" dirty="0"/>
              <a:t>Vendedores</a:t>
            </a:r>
            <a:r>
              <a:rPr lang="es-ES" sz="3200" dirty="0"/>
              <a:t> y </a:t>
            </a:r>
            <a:r>
              <a:rPr lang="es-ES" sz="3200" b="1" dirty="0"/>
              <a:t>Clientes</a:t>
            </a:r>
            <a:r>
              <a:rPr lang="es-ES" sz="3200" dirty="0"/>
              <a:t>.</a:t>
            </a:r>
          </a:p>
          <a:p>
            <a:pPr marL="514350" indent="-514350">
              <a:buFont typeface="+mj-lt"/>
              <a:buAutoNum type="arabicPeriod"/>
            </a:pPr>
            <a:r>
              <a:rPr lang="es-ES" sz="3200" dirty="0"/>
              <a:t>El </a:t>
            </a:r>
            <a:r>
              <a:rPr lang="es-ES" sz="3200" b="1" dirty="0"/>
              <a:t>Cliente</a:t>
            </a:r>
            <a:r>
              <a:rPr lang="es-ES" sz="3200" dirty="0"/>
              <a:t> navega y crea un </a:t>
            </a:r>
            <a:r>
              <a:rPr lang="es-ES" sz="3200" b="1" dirty="0"/>
              <a:t>Pedido</a:t>
            </a:r>
            <a:r>
              <a:rPr lang="es-ES" sz="3200" dirty="0"/>
              <a:t>.</a:t>
            </a:r>
          </a:p>
          <a:p>
            <a:pPr marL="514350" indent="-514350">
              <a:buFont typeface="+mj-lt"/>
              <a:buAutoNum type="arabicPeriod"/>
            </a:pPr>
            <a:r>
              <a:rPr lang="es-ES" sz="3200" dirty="0"/>
              <a:t>Un mismo pedido puede contener múltiples </a:t>
            </a:r>
            <a:r>
              <a:rPr lang="es-ES" sz="3200" b="1" dirty="0" err="1"/>
              <a:t>Items</a:t>
            </a:r>
            <a:r>
              <a:rPr lang="es-ES" sz="3200" dirty="0"/>
              <a:t> (productos), y curiosamente, cada </a:t>
            </a:r>
            <a:r>
              <a:rPr lang="es-ES" sz="3200" dirty="0" err="1"/>
              <a:t>item</a:t>
            </a:r>
            <a:r>
              <a:rPr lang="es-ES" sz="3200" dirty="0"/>
              <a:t> puede venir de un </a:t>
            </a:r>
            <a:r>
              <a:rPr lang="es-ES" sz="3200" b="1" dirty="0"/>
              <a:t>Vendedor</a:t>
            </a:r>
            <a:r>
              <a:rPr lang="es-ES" sz="3200" dirty="0"/>
              <a:t> diferente.</a:t>
            </a:r>
          </a:p>
          <a:p>
            <a:pPr marL="514350" indent="-514350">
              <a:buFont typeface="+mj-lt"/>
              <a:buAutoNum type="arabicPeriod"/>
            </a:pPr>
            <a:r>
              <a:rPr lang="es-ES" sz="3200" dirty="0"/>
              <a:t>El cliente paga el total, a veces usando múltiples métodos en un registro de </a:t>
            </a:r>
            <a:r>
              <a:rPr lang="es-ES" sz="3200" b="1" dirty="0"/>
              <a:t>Pagos</a:t>
            </a:r>
            <a:r>
              <a:rPr lang="es-ES" sz="3200" dirty="0"/>
              <a:t> (tarjeta y cupón).</a:t>
            </a:r>
          </a:p>
          <a:p>
            <a:pPr marL="514350" indent="-514350">
              <a:buFont typeface="+mj-lt"/>
              <a:buAutoNum type="arabicPeriod"/>
            </a:pPr>
            <a:r>
              <a:rPr lang="es-ES" sz="3200" dirty="0"/>
              <a:t>Tras la entrega, el cliente deja una </a:t>
            </a:r>
            <a:r>
              <a:rPr lang="es-ES" sz="3200" b="1" dirty="0"/>
              <a:t>Reseña</a:t>
            </a:r>
            <a:r>
              <a:rPr lang="es-ES" sz="3200" dirty="0"/>
              <a:t> (</a:t>
            </a:r>
            <a:r>
              <a:rPr lang="es-ES" sz="3200" dirty="0" err="1"/>
              <a:t>Review</a:t>
            </a:r>
            <a:r>
              <a:rPr lang="es-ES" sz="3200" dirty="0"/>
              <a:t>) calificando su experiencia.</a:t>
            </a:r>
          </a:p>
          <a:p>
            <a:pPr marL="514350" indent="-514350">
              <a:buFont typeface="+mj-lt"/>
              <a:buAutoNum type="arabicPeriod"/>
            </a:pPr>
            <a:r>
              <a:rPr lang="es-ES" sz="3200" dirty="0"/>
              <a:t>Para la logística, necesitamos saber la </a:t>
            </a:r>
            <a:r>
              <a:rPr lang="es-ES" sz="3200" b="1" dirty="0"/>
              <a:t>Geolocalización</a:t>
            </a:r>
            <a:r>
              <a:rPr lang="es-ES" sz="3200" dirty="0"/>
              <a:t> exacta (</a:t>
            </a:r>
            <a:r>
              <a:rPr lang="es-ES" sz="3200" dirty="0" err="1"/>
              <a:t>Lat</a:t>
            </a:r>
            <a:r>
              <a:rPr lang="es-ES" sz="3200" dirty="0"/>
              <a:t>/Long) basada en el código postal."</a:t>
            </a:r>
          </a:p>
        </p:txBody>
      </p:sp>
    </p:spTree>
    <p:extLst>
      <p:ext uri="{BB962C8B-B14F-4D97-AF65-F5344CB8AC3E}">
        <p14:creationId xmlns:p14="http://schemas.microsoft.com/office/powerpoint/2010/main" val="3750917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2F9F6-E0D4-572D-D687-8DFBDC18E3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8F97273-F48A-D6EB-B204-327E0636F61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C2D14560-B5AA-9599-3C37-70861DD198E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D89C65A-F2D6-CA8C-B7ED-DA93CE5CB6AD}"/>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A6616679-2BAB-83F1-8D52-5AAC5C2AC0E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79BDA7EC-77C1-31FE-9471-C9BC0F059A9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93EF4286-2865-9384-6416-3F08051AF07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9F6BD6B0-E3C3-F85F-015A-9D3F44DF057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5561CB06-61EA-D5AD-B9BE-8F833772B42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380E7F10-B72E-2DCC-4DD1-7E59A40BEDA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E201FB05-E25F-79ED-6A93-071B346EB17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AD736F33-12C8-9903-6EE8-C8E35263A40A}"/>
              </a:ext>
            </a:extLst>
          </p:cNvPr>
          <p:cNvSpPr txBox="1"/>
          <p:nvPr/>
        </p:nvSpPr>
        <p:spPr>
          <a:xfrm>
            <a:off x="1285674" y="763222"/>
            <a:ext cx="15716652" cy="8279190"/>
          </a:xfrm>
          <a:prstGeom prst="rect">
            <a:avLst/>
          </a:prstGeom>
          <a:noFill/>
        </p:spPr>
        <p:txBody>
          <a:bodyPr wrap="square">
            <a:spAutoFit/>
          </a:bodyPr>
          <a:lstStyle/>
          <a:p>
            <a:pPr>
              <a:buNone/>
            </a:pPr>
            <a:r>
              <a:rPr lang="es-ES" sz="2800" b="1" dirty="0"/>
              <a:t>Ejecutando el Análisis (Extracción)</a:t>
            </a:r>
          </a:p>
          <a:p>
            <a:pPr>
              <a:buNone/>
            </a:pPr>
            <a:endParaRPr lang="es-ES" sz="2800" b="1" dirty="0"/>
          </a:p>
          <a:p>
            <a:pPr>
              <a:buNone/>
            </a:pPr>
            <a:r>
              <a:rPr lang="es-ES" sz="2800" dirty="0"/>
              <a:t>Subrayamos los conceptos clave en la narrativa ampliada para descubrir las estructuras:</a:t>
            </a:r>
          </a:p>
          <a:p>
            <a:pPr>
              <a:buNone/>
            </a:pPr>
            <a:endParaRPr lang="es-ES" sz="2800" dirty="0"/>
          </a:p>
          <a:p>
            <a:pPr>
              <a:buNone/>
            </a:pPr>
            <a:endParaRPr lang="es-ES" sz="2800" dirty="0"/>
          </a:p>
          <a:p>
            <a:pPr marL="514350" indent="-514350">
              <a:buAutoNum type="arabicPeriod"/>
            </a:pPr>
            <a:r>
              <a:rPr lang="es-ES" sz="2800" b="1" dirty="0"/>
              <a:t>Entidades Tangibles (Objetos Reales)</a:t>
            </a:r>
          </a:p>
          <a:p>
            <a:pPr marL="514350" indent="-514350">
              <a:buAutoNum type="arabicPeriod"/>
            </a:pPr>
            <a:endParaRPr lang="es-ES" sz="2800" b="1" dirty="0"/>
          </a:p>
          <a:p>
            <a:pPr marL="457200" indent="-457200">
              <a:buFont typeface="Arial" panose="020B0604020202020204" pitchFamily="34" charset="0"/>
              <a:buChar char="•"/>
            </a:pPr>
            <a:r>
              <a:rPr lang="es-ES" sz="2800" b="1" dirty="0" err="1"/>
              <a:t>Customer</a:t>
            </a:r>
            <a:r>
              <a:rPr lang="es-ES" sz="2800" b="1" dirty="0"/>
              <a:t>:</a:t>
            </a:r>
            <a:r>
              <a:rPr lang="es-ES" sz="2800" dirty="0"/>
              <a:t> La persona física.</a:t>
            </a:r>
          </a:p>
          <a:p>
            <a:pPr marL="457200" indent="-457200">
              <a:buFont typeface="Arial" panose="020B0604020202020204" pitchFamily="34" charset="0"/>
              <a:buChar char="•"/>
            </a:pPr>
            <a:r>
              <a:rPr lang="es-ES" sz="2800" b="1" dirty="0" err="1"/>
              <a:t>Seller</a:t>
            </a:r>
            <a:r>
              <a:rPr lang="es-ES" sz="2800" b="1" dirty="0"/>
              <a:t>:</a:t>
            </a:r>
            <a:r>
              <a:rPr lang="es-ES" sz="2800" dirty="0"/>
              <a:t> La empresa o persona que vende.</a:t>
            </a:r>
          </a:p>
          <a:p>
            <a:pPr marL="457200" indent="-457200">
              <a:buFont typeface="Arial" panose="020B0604020202020204" pitchFamily="34" charset="0"/>
              <a:buChar char="•"/>
            </a:pPr>
            <a:r>
              <a:rPr lang="es-ES" sz="2800" b="1" dirty="0" err="1"/>
              <a:t>Product</a:t>
            </a:r>
            <a:r>
              <a:rPr lang="es-ES" sz="2800" b="1" dirty="0"/>
              <a:t>:</a:t>
            </a:r>
            <a:r>
              <a:rPr lang="es-ES" sz="2800" dirty="0"/>
              <a:t> El objeto físico inventariado.</a:t>
            </a:r>
          </a:p>
          <a:p>
            <a:pPr marL="457200" indent="-457200">
              <a:buFont typeface="Arial" panose="020B0604020202020204" pitchFamily="34" charset="0"/>
              <a:buChar char="•"/>
            </a:pPr>
            <a:endParaRPr lang="es-ES" sz="2800" dirty="0"/>
          </a:p>
          <a:p>
            <a:pPr>
              <a:buNone/>
            </a:pPr>
            <a:r>
              <a:rPr lang="es-ES" sz="2800" b="1" dirty="0"/>
              <a:t>2. Entidades Transaccionales (Eventos)</a:t>
            </a:r>
          </a:p>
          <a:p>
            <a:pPr>
              <a:buNone/>
            </a:pPr>
            <a:endParaRPr lang="es-ES" sz="2800" b="1" dirty="0"/>
          </a:p>
          <a:p>
            <a:pPr>
              <a:buNone/>
            </a:pPr>
            <a:r>
              <a:rPr lang="es-ES" sz="2800" i="1" dirty="0"/>
              <a:t>Son "invisibles" pero críticas. Registran acciones en el tiempo.</a:t>
            </a:r>
            <a:endParaRPr lang="es-ES" sz="2800" dirty="0"/>
          </a:p>
          <a:p>
            <a:pPr marL="457200" indent="-457200">
              <a:buFont typeface="Arial" panose="020B0604020202020204" pitchFamily="34" charset="0"/>
              <a:buChar char="•"/>
            </a:pPr>
            <a:r>
              <a:rPr lang="es-ES" sz="2800" b="1" dirty="0" err="1"/>
              <a:t>Order</a:t>
            </a:r>
            <a:r>
              <a:rPr lang="es-ES" sz="2800" b="1" dirty="0"/>
              <a:t>:</a:t>
            </a:r>
            <a:r>
              <a:rPr lang="es-ES" sz="2800" dirty="0"/>
              <a:t> El evento de compra general (la "cabecera").</a:t>
            </a:r>
          </a:p>
          <a:p>
            <a:pPr marL="457200" indent="-457200">
              <a:buFont typeface="Arial" panose="020B0604020202020204" pitchFamily="34" charset="0"/>
              <a:buChar char="•"/>
            </a:pPr>
            <a:r>
              <a:rPr lang="es-ES" sz="2800" b="1" dirty="0" err="1"/>
              <a:t>Order_Item</a:t>
            </a:r>
            <a:r>
              <a:rPr lang="es-ES" sz="2800" b="1" dirty="0"/>
              <a:t>:</a:t>
            </a:r>
            <a:r>
              <a:rPr lang="es-ES" sz="2800" dirty="0"/>
              <a:t> El detalle específico. </a:t>
            </a:r>
            <a:r>
              <a:rPr lang="es-ES" sz="2800" i="1" dirty="0"/>
              <a:t>Crucial:</a:t>
            </a:r>
            <a:r>
              <a:rPr lang="es-ES" sz="2800" dirty="0"/>
              <a:t> Aquí descubrimos que la relación Pedido-Producto es de "Muchos a Muchos".</a:t>
            </a:r>
          </a:p>
          <a:p>
            <a:pPr marL="457200" indent="-457200">
              <a:buFont typeface="Arial" panose="020B0604020202020204" pitchFamily="34" charset="0"/>
              <a:buChar char="•"/>
            </a:pPr>
            <a:r>
              <a:rPr lang="es-ES" sz="2800" b="1" dirty="0" err="1"/>
              <a:t>Payment</a:t>
            </a:r>
            <a:r>
              <a:rPr lang="es-ES" sz="2800" b="1" dirty="0"/>
              <a:t>:</a:t>
            </a:r>
            <a:r>
              <a:rPr lang="es-ES" sz="2800" dirty="0"/>
              <a:t> El evento financiero.</a:t>
            </a:r>
          </a:p>
          <a:p>
            <a:pPr marL="457200" indent="-457200">
              <a:buFont typeface="Arial" panose="020B0604020202020204" pitchFamily="34" charset="0"/>
              <a:buChar char="•"/>
            </a:pPr>
            <a:r>
              <a:rPr lang="es-ES" sz="2800" b="1" dirty="0" err="1"/>
              <a:t>Review</a:t>
            </a:r>
            <a:r>
              <a:rPr lang="es-ES" sz="2800" b="1" dirty="0"/>
              <a:t>:</a:t>
            </a:r>
            <a:r>
              <a:rPr lang="es-ES" sz="2800" dirty="0"/>
              <a:t> El evento de retroalimentación.</a:t>
            </a:r>
          </a:p>
        </p:txBody>
      </p:sp>
    </p:spTree>
    <p:extLst>
      <p:ext uri="{BB962C8B-B14F-4D97-AF65-F5344CB8AC3E}">
        <p14:creationId xmlns:p14="http://schemas.microsoft.com/office/powerpoint/2010/main" val="1433707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DC7AD-F356-6A40-0157-560B7C396A4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A4D7D4E-DB71-9A36-63C5-17641ABB553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CB76E73-2584-2D7E-30AE-A9864C9F2B6A}"/>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ECEAF99-2CAE-5549-7FFB-226CF2FA3688}"/>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E2E4EFF1-3793-416E-4CD1-F66F30ADF383}"/>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AD4125CE-D686-26A6-45C6-9E2F4AC037CE}"/>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76E522D5-ABD2-8C89-EF5A-0E29793F2BD9}"/>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7035930-95B2-6C13-118A-E68B97ECFD46}"/>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70D17064-7878-6572-45D2-611C2C339B6C}"/>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487B84FF-8F5D-E5DD-B9D8-C45B415A7F3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70453174-3B83-8CFD-031E-07459044FEC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6" name="Diagrama 15">
            <a:extLst>
              <a:ext uri="{FF2B5EF4-FFF2-40B4-BE49-F238E27FC236}">
                <a16:creationId xmlns:a16="http://schemas.microsoft.com/office/drawing/2014/main" id="{EAD7CE07-8817-8F96-8C0D-D9FAF1448381}"/>
              </a:ext>
            </a:extLst>
          </p:cNvPr>
          <p:cNvGraphicFramePr/>
          <p:nvPr>
            <p:extLst>
              <p:ext uri="{D42A27DB-BD31-4B8C-83A1-F6EECF244321}">
                <p14:modId xmlns:p14="http://schemas.microsoft.com/office/powerpoint/2010/main" val="3066959780"/>
              </p:ext>
            </p:extLst>
          </p:nvPr>
        </p:nvGraphicFramePr>
        <p:xfrm>
          <a:off x="2151068" y="1875934"/>
          <a:ext cx="14375877" cy="704182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5" name="CuadroTexto 14">
            <a:extLst>
              <a:ext uri="{FF2B5EF4-FFF2-40B4-BE49-F238E27FC236}">
                <a16:creationId xmlns:a16="http://schemas.microsoft.com/office/drawing/2014/main" id="{836DE7D8-B7E5-6E50-2D3C-DBAABB2531F7}"/>
              </a:ext>
            </a:extLst>
          </p:cNvPr>
          <p:cNvSpPr txBox="1"/>
          <p:nvPr/>
        </p:nvSpPr>
        <p:spPr>
          <a:xfrm>
            <a:off x="1520072" y="707373"/>
            <a:ext cx="9186420" cy="523220"/>
          </a:xfrm>
          <a:prstGeom prst="rect">
            <a:avLst/>
          </a:prstGeom>
          <a:noFill/>
        </p:spPr>
        <p:txBody>
          <a:bodyPr wrap="square">
            <a:spAutoFit/>
          </a:bodyPr>
          <a:lstStyle/>
          <a:p>
            <a:pPr>
              <a:buNone/>
            </a:pPr>
            <a:r>
              <a:rPr lang="es-ES" sz="2800" b="1" dirty="0"/>
              <a:t>Trampas Comunes en la Fase de Requerimientos</a:t>
            </a:r>
          </a:p>
        </p:txBody>
      </p:sp>
    </p:spTree>
    <p:extLst>
      <p:ext uri="{BB962C8B-B14F-4D97-AF65-F5344CB8AC3E}">
        <p14:creationId xmlns:p14="http://schemas.microsoft.com/office/powerpoint/2010/main" val="3052526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5EE48-2EE9-5842-7B9C-16365341F1C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EDD58E-824E-CF71-28B6-C1B8D22199A7}"/>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1335D2E-E0A8-6C4A-E8C3-DC7A976780C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E8207A84-64FB-B340-B9F8-03C23E9F20C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2419AB9A-A11C-52CF-34DC-3FFCE8786DA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4EBEB7BA-D6D3-025D-9B95-6CB1A431A32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8DAD4A0B-B879-5A25-6ACA-C35F3067C63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50560A2C-5EB0-F09F-0211-703D3890167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29FA9F8-947E-1B38-9C87-215DBE87D7F4}"/>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A59A1482-788B-1855-F202-B8780D00872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BAC6546-7934-ACC0-7ABB-EE5A7D9124E3}"/>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4" name="CuadroTexto 13">
            <a:extLst>
              <a:ext uri="{FF2B5EF4-FFF2-40B4-BE49-F238E27FC236}">
                <a16:creationId xmlns:a16="http://schemas.microsoft.com/office/drawing/2014/main" id="{C5409938-D45A-DCBB-0159-E72BD9E6D187}"/>
              </a:ext>
            </a:extLst>
          </p:cNvPr>
          <p:cNvSpPr txBox="1"/>
          <p:nvPr/>
        </p:nvSpPr>
        <p:spPr>
          <a:xfrm>
            <a:off x="1239025" y="931574"/>
            <a:ext cx="16398525" cy="5262979"/>
          </a:xfrm>
          <a:prstGeom prst="rect">
            <a:avLst/>
          </a:prstGeom>
          <a:noFill/>
        </p:spPr>
        <p:txBody>
          <a:bodyPr wrap="square">
            <a:spAutoFit/>
          </a:bodyPr>
          <a:lstStyle/>
          <a:p>
            <a:pPr>
              <a:buNone/>
            </a:pPr>
            <a:r>
              <a:rPr lang="es-ES" sz="2800" b="1" dirty="0"/>
              <a:t>Formalizando el Vocabulario antes de Relacionar</a:t>
            </a:r>
          </a:p>
          <a:p>
            <a:pPr>
              <a:buNone/>
            </a:pPr>
            <a:endParaRPr lang="es-ES" sz="2800" b="1" dirty="0"/>
          </a:p>
          <a:p>
            <a:pPr>
              <a:buNone/>
            </a:pPr>
            <a:r>
              <a:rPr lang="es-ES" sz="2800" b="1" dirty="0"/>
              <a:t>El problema de la Torre de Babel</a:t>
            </a:r>
          </a:p>
          <a:p>
            <a:pPr>
              <a:buNone/>
            </a:pPr>
            <a:endParaRPr lang="es-ES" sz="2800" dirty="0"/>
          </a:p>
          <a:p>
            <a:pPr>
              <a:buNone/>
            </a:pPr>
            <a:r>
              <a:rPr lang="es-ES" sz="2800" dirty="0"/>
              <a:t>En el Paso 1 descubrimos entidades ("Cliente", "Pedido"). Pero, ¿todos entendemos lo mismo por "Cliente"?</a:t>
            </a:r>
          </a:p>
          <a:p>
            <a:pPr>
              <a:buNone/>
            </a:pPr>
            <a:endParaRPr lang="es-ES" sz="2800" dirty="0"/>
          </a:p>
          <a:p>
            <a:pPr>
              <a:buFont typeface="Arial" panose="020B0604020202020204" pitchFamily="34" charset="0"/>
              <a:buChar char="•"/>
            </a:pPr>
            <a:r>
              <a:rPr lang="es-ES" sz="2800" b="1" dirty="0"/>
              <a:t>El Objetivo:</a:t>
            </a:r>
            <a:r>
              <a:rPr lang="es-ES" sz="2800" dirty="0"/>
              <a:t> Eliminar sinónimos y ambigüedades.</a:t>
            </a:r>
          </a:p>
          <a:p>
            <a:endParaRPr lang="es-ES" sz="2800" dirty="0"/>
          </a:p>
          <a:p>
            <a:pPr>
              <a:buFont typeface="Arial" panose="020B0604020202020204" pitchFamily="34" charset="0"/>
              <a:buChar char="•"/>
            </a:pPr>
            <a:r>
              <a:rPr lang="es-ES" sz="2800" b="1" dirty="0"/>
              <a:t>La Regla:</a:t>
            </a:r>
            <a:r>
              <a:rPr lang="es-ES" sz="2800" dirty="0"/>
              <a:t> Si no puedes describirlo en una frase, no es una entidad, es un proceso.</a:t>
            </a:r>
          </a:p>
          <a:p>
            <a:pPr>
              <a:buNone/>
            </a:pPr>
            <a:r>
              <a:rPr lang="es-ES" sz="2800" i="1" dirty="0"/>
              <a:t>"Antes de conectar A con B, debemos saber exactamente qué es A y qué es B.“</a:t>
            </a:r>
          </a:p>
          <a:p>
            <a:pPr>
              <a:buNone/>
            </a:pPr>
            <a:endParaRPr lang="es-ES" sz="2800" dirty="0"/>
          </a:p>
        </p:txBody>
      </p:sp>
    </p:spTree>
    <p:extLst>
      <p:ext uri="{BB962C8B-B14F-4D97-AF65-F5344CB8AC3E}">
        <p14:creationId xmlns:p14="http://schemas.microsoft.com/office/powerpoint/2010/main" val="944586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A0931-5D03-4BC3-AEBC-E2CEEA10F36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C8EFCEB-A149-FF71-1A7F-9FFF9383D8A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519B690-9653-5241-96B0-359782AB8D2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7BA2C3BC-840F-C683-8323-AB5D2224219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8F383A6-6833-8365-398B-226AF795C2D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D379A31A-CB86-685F-83AE-67B711BA469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2488BAE5-74D1-ACEC-57C1-BCE4D2C5BF48}"/>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8630741-399B-D7DE-CD5E-0E9FEB455859}"/>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64236FA9-3795-694F-A980-66565AACA56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35A8DACB-C903-0C04-03A3-264AF125B37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D552E7B-D869-49DE-F683-6038B9E2277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1917F7C-A04B-0846-CBAE-DCBA17105910}"/>
              </a:ext>
            </a:extLst>
          </p:cNvPr>
          <p:cNvSpPr txBox="1"/>
          <p:nvPr/>
        </p:nvSpPr>
        <p:spPr>
          <a:xfrm>
            <a:off x="1124145" y="1536261"/>
            <a:ext cx="16381430" cy="6863417"/>
          </a:xfrm>
          <a:prstGeom prst="rect">
            <a:avLst/>
          </a:prstGeom>
          <a:noFill/>
        </p:spPr>
        <p:txBody>
          <a:bodyPr wrap="square">
            <a:spAutoFit/>
          </a:bodyPr>
          <a:lstStyle/>
          <a:p>
            <a:pPr>
              <a:buNone/>
            </a:pPr>
            <a:r>
              <a:rPr lang="es-ES" sz="4000" b="1" dirty="0"/>
              <a:t>La Estructura del Diccionario de Entidades</a:t>
            </a:r>
          </a:p>
          <a:p>
            <a:pPr>
              <a:buNone/>
            </a:pPr>
            <a:endParaRPr lang="es-ES" sz="4000" b="1" dirty="0"/>
          </a:p>
          <a:p>
            <a:pPr>
              <a:buNone/>
            </a:pPr>
            <a:r>
              <a:rPr lang="es-ES" sz="4000" dirty="0"/>
              <a:t>Basándonos en tu imagen, debemos crear una ficha técnica para cada tabla candidata con 3 columnas críticas:</a:t>
            </a:r>
          </a:p>
          <a:p>
            <a:pPr>
              <a:buNone/>
            </a:pPr>
            <a:endParaRPr lang="es-ES" sz="4000" dirty="0"/>
          </a:p>
          <a:p>
            <a:pPr marL="742950" indent="-742950">
              <a:buFont typeface="+mj-lt"/>
              <a:buAutoNum type="arabicPeriod"/>
            </a:pPr>
            <a:r>
              <a:rPr lang="es-ES" sz="4000" b="1" dirty="0"/>
              <a:t>Nombre de Entidad:</a:t>
            </a:r>
            <a:r>
              <a:rPr lang="es-ES" sz="4000" dirty="0"/>
              <a:t> El nombre oficial (singular) que usaremos en SQL.</a:t>
            </a:r>
          </a:p>
          <a:p>
            <a:pPr marL="742950" indent="-742950">
              <a:buFont typeface="+mj-lt"/>
              <a:buAutoNum type="arabicPeriod"/>
            </a:pPr>
            <a:r>
              <a:rPr lang="es-ES" sz="4000" b="1" dirty="0"/>
              <a:t>Descripción:</a:t>
            </a:r>
            <a:r>
              <a:rPr lang="es-ES" sz="4000" dirty="0"/>
              <a:t> Definición del negocio.</a:t>
            </a:r>
          </a:p>
          <a:p>
            <a:pPr marL="742950" indent="-742950">
              <a:buFont typeface="+mj-lt"/>
              <a:buAutoNum type="arabicPeriod"/>
            </a:pPr>
            <a:r>
              <a:rPr lang="es-ES" sz="4000" b="1" dirty="0"/>
              <a:t>Sinónimos (Aliases):</a:t>
            </a:r>
            <a:r>
              <a:rPr lang="es-ES" sz="4000" dirty="0"/>
              <a:t> Palabras prohibidas que significan lo mismo.</a:t>
            </a:r>
          </a:p>
          <a:p>
            <a:pPr marL="742950" lvl="1" indent="-285750">
              <a:buFont typeface="+mj-lt"/>
              <a:buAutoNum type="arabicPeriod"/>
            </a:pPr>
            <a:r>
              <a:rPr lang="es-ES" sz="4000" i="1" dirty="0"/>
              <a:t>Ejemplo:</a:t>
            </a:r>
            <a:r>
              <a:rPr lang="es-ES" sz="4000" dirty="0"/>
              <a:t> Si Programación dice "</a:t>
            </a:r>
            <a:r>
              <a:rPr lang="es-ES" sz="4000" dirty="0" err="1"/>
              <a:t>User</a:t>
            </a:r>
            <a:r>
              <a:rPr lang="es-ES" sz="4000" dirty="0"/>
              <a:t>" y Ventas dice "</a:t>
            </a:r>
            <a:r>
              <a:rPr lang="es-ES" sz="4000" dirty="0" err="1"/>
              <a:t>Buyer</a:t>
            </a:r>
            <a:r>
              <a:rPr lang="es-ES" sz="4000" dirty="0"/>
              <a:t>", decidimos usar "</a:t>
            </a:r>
            <a:r>
              <a:rPr lang="es-ES" sz="4000" dirty="0" err="1"/>
              <a:t>Customer</a:t>
            </a:r>
            <a:r>
              <a:rPr lang="es-ES" sz="4000" dirty="0"/>
              <a:t>".</a:t>
            </a:r>
          </a:p>
        </p:txBody>
      </p:sp>
    </p:spTree>
    <p:extLst>
      <p:ext uri="{BB962C8B-B14F-4D97-AF65-F5344CB8AC3E}">
        <p14:creationId xmlns:p14="http://schemas.microsoft.com/office/powerpoint/2010/main" val="2771238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204A6-ADF2-416C-D1FF-51E87E72C7C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D44F2C8-FBA3-9A1C-917E-4AF8BE3FA02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7033A3F6-6111-B0E1-D10E-FF5437B75FC8}"/>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E23C5496-692C-F887-2FE9-2BD5CBA5E6F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FBCDA3E2-870D-010A-23A2-1A43B784497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4914A88A-751F-1AA3-2BEE-A031693C5CD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86AB2BF-5B0A-AF51-2AA6-DCBB0CCECF6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5263ED9A-FB70-5736-C881-8D44BFC229F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B42E45DC-53CD-4EDC-3612-7D1FC812D5C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70B39033-887D-47E7-BEB0-46AAB98BD70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B99B6D20-9D4F-0903-A100-96F478224D0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8310A42C-691F-2B0C-1734-54778288339B}"/>
              </a:ext>
            </a:extLst>
          </p:cNvPr>
          <p:cNvGraphicFramePr>
            <a:graphicFrameLocks noGrp="1"/>
          </p:cNvGraphicFramePr>
          <p:nvPr>
            <p:extLst>
              <p:ext uri="{D42A27DB-BD31-4B8C-83A1-F6EECF244321}">
                <p14:modId xmlns:p14="http://schemas.microsoft.com/office/powerpoint/2010/main" val="575244775"/>
              </p:ext>
            </p:extLst>
          </p:nvPr>
        </p:nvGraphicFramePr>
        <p:xfrm>
          <a:off x="1294613" y="3297732"/>
          <a:ext cx="15926586" cy="4389120"/>
        </p:xfrm>
        <a:graphic>
          <a:graphicData uri="http://schemas.openxmlformats.org/drawingml/2006/table">
            <a:tbl>
              <a:tblPr/>
              <a:tblGrid>
                <a:gridCol w="5308862">
                  <a:extLst>
                    <a:ext uri="{9D8B030D-6E8A-4147-A177-3AD203B41FA5}">
                      <a16:colId xmlns:a16="http://schemas.microsoft.com/office/drawing/2014/main" val="2627473297"/>
                    </a:ext>
                  </a:extLst>
                </a:gridCol>
                <a:gridCol w="5308862">
                  <a:extLst>
                    <a:ext uri="{9D8B030D-6E8A-4147-A177-3AD203B41FA5}">
                      <a16:colId xmlns:a16="http://schemas.microsoft.com/office/drawing/2014/main" val="2377507056"/>
                    </a:ext>
                  </a:extLst>
                </a:gridCol>
                <a:gridCol w="5308862">
                  <a:extLst>
                    <a:ext uri="{9D8B030D-6E8A-4147-A177-3AD203B41FA5}">
                      <a16:colId xmlns:a16="http://schemas.microsoft.com/office/drawing/2014/main" val="2305305923"/>
                    </a:ext>
                  </a:extLst>
                </a:gridCol>
              </a:tblGrid>
              <a:tr h="0">
                <a:tc>
                  <a:txBody>
                    <a:bodyPr/>
                    <a:lstStyle/>
                    <a:p>
                      <a:pPr>
                        <a:buNone/>
                      </a:pPr>
                      <a:r>
                        <a:rPr lang="es-CO" sz="2400" dirty="0"/>
                        <a:t>Nombre Entidad (Oficial)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Descripción del Negocio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Sinónimos / Aliases (A evitar)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7641935"/>
                  </a:ext>
                </a:extLst>
              </a:tr>
              <a:tr h="0">
                <a:tc>
                  <a:txBody>
                    <a:bodyPr/>
                    <a:lstStyle/>
                    <a:p>
                      <a:pPr>
                        <a:buNone/>
                      </a:pPr>
                      <a:r>
                        <a:rPr lang="es-CO" sz="2400" b="1" dirty="0" err="1"/>
                        <a:t>Customer</a:t>
                      </a:r>
                      <a:endParaRPr lang="es-CO"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dirty="0"/>
                        <a:t>La persona o entidad que realiza la compra. En </a:t>
                      </a:r>
                      <a:r>
                        <a:rPr lang="es-ES" sz="2400" dirty="0" err="1"/>
                        <a:t>Olist</a:t>
                      </a:r>
                      <a:r>
                        <a:rPr lang="es-ES" sz="2400" dirty="0"/>
                        <a:t>, tienen un ID temporal por pedido y un ID único histórico.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Comprador, Usuario, Client, Buyer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405762"/>
                  </a:ext>
                </a:extLst>
              </a:tr>
              <a:tr h="0">
                <a:tc>
                  <a:txBody>
                    <a:bodyPr/>
                    <a:lstStyle/>
                    <a:p>
                      <a:pPr>
                        <a:buNone/>
                      </a:pPr>
                      <a:r>
                        <a:rPr lang="es-CO" sz="2400" b="1"/>
                        <a:t>Seller</a:t>
                      </a:r>
                      <a:endParaRPr lang="es-CO"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a:t>El socio comercial que provee el producto. No es empleado de Olist, es un tercero.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t>Vendedor, Proveedor, Merchant, </a:t>
                      </a:r>
                      <a:r>
                        <a:rPr lang="es-CO" sz="2400" dirty="0" err="1"/>
                        <a:t>Partner</a:t>
                      </a:r>
                      <a:endParaRPr lang="es-CO"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2389291"/>
                  </a:ext>
                </a:extLst>
              </a:tr>
              <a:tr h="0">
                <a:tc>
                  <a:txBody>
                    <a:bodyPr/>
                    <a:lstStyle/>
                    <a:p>
                      <a:pPr>
                        <a:buNone/>
                      </a:pPr>
                      <a:r>
                        <a:rPr lang="es-CO" sz="2400" b="1"/>
                        <a:t>Product</a:t>
                      </a:r>
                      <a:endParaRPr lang="es-CO"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a:t>El ítem físico disponible en el catálogo. Se agrupa por categorías globales.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t>Artículo, SKU, </a:t>
                      </a:r>
                      <a:r>
                        <a:rPr lang="es-CO" sz="2400" dirty="0" err="1"/>
                        <a:t>Item</a:t>
                      </a:r>
                      <a:r>
                        <a:rPr lang="es-CO" sz="2400" dirty="0"/>
                        <a:t>, </a:t>
                      </a:r>
                      <a:r>
                        <a:rPr lang="es-CO" sz="2400" dirty="0" err="1"/>
                        <a:t>Merchandise</a:t>
                      </a:r>
                      <a:endParaRPr lang="es-CO"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4959432"/>
                  </a:ext>
                </a:extLst>
              </a:tr>
            </a:tbl>
          </a:graphicData>
        </a:graphic>
      </p:graphicFrame>
      <p:sp>
        <p:nvSpPr>
          <p:cNvPr id="13" name="Rectangle 1">
            <a:extLst>
              <a:ext uri="{FF2B5EF4-FFF2-40B4-BE49-F238E27FC236}">
                <a16:creationId xmlns:a16="http://schemas.microsoft.com/office/drawing/2014/main" id="{18C3C2AE-7B6F-A3D8-1ADB-54D8D32ACA4B}"/>
              </a:ext>
            </a:extLst>
          </p:cNvPr>
          <p:cNvSpPr>
            <a:spLocks noChangeArrowheads="1"/>
          </p:cNvSpPr>
          <p:nvPr/>
        </p:nvSpPr>
        <p:spPr bwMode="auto">
          <a:xfrm>
            <a:off x="1239624" y="763222"/>
            <a:ext cx="1296657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200" b="1" i="0" u="none" strike="noStrike" cap="none" normalizeH="0" baseline="0" dirty="0">
                <a:ln>
                  <a:noFill/>
                </a:ln>
                <a:solidFill>
                  <a:schemeClr val="tx1"/>
                </a:solidFill>
                <a:effectLst/>
                <a:latin typeface="Arial" panose="020B0604020202020204" pitchFamily="34" charset="0"/>
              </a:rPr>
              <a:t>Aplicación Práctica: Diccionario </a:t>
            </a:r>
            <a:r>
              <a:rPr kumimoji="0" lang="es-CO" altLang="es-CO" sz="3200" b="1" i="0" u="none" strike="noStrike" cap="none" normalizeH="0" baseline="0" dirty="0" err="1">
                <a:ln>
                  <a:noFill/>
                </a:ln>
                <a:solidFill>
                  <a:schemeClr val="tx1"/>
                </a:solidFill>
                <a:effectLst/>
                <a:latin typeface="Arial" panose="020B0604020202020204" pitchFamily="34" charset="0"/>
              </a:rPr>
              <a:t>Olist</a:t>
            </a:r>
            <a:r>
              <a:rPr kumimoji="0" lang="es-CO" altLang="es-CO" sz="3200" b="1" i="0" u="none" strike="noStrike" cap="none" normalizeH="0" baseline="0" dirty="0">
                <a:ln>
                  <a:noFill/>
                </a:ln>
                <a:solidFill>
                  <a:schemeClr val="tx1"/>
                </a:solidFill>
                <a:effectLst/>
                <a:latin typeface="Arial" panose="020B0604020202020204" pitchFamily="34" charset="0"/>
              </a:rPr>
              <a:t> (Parte 1)</a:t>
            </a: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800" b="0" i="0" u="none" strike="noStrike" cap="none" normalizeH="0" baseline="0" dirty="0">
                <a:ln>
                  <a:noFill/>
                </a:ln>
                <a:solidFill>
                  <a:schemeClr val="tx1"/>
                </a:solidFill>
                <a:effectLst/>
                <a:latin typeface="Arial" panose="020B0604020202020204" pitchFamily="34" charset="0"/>
              </a:rPr>
              <a:t>Llenemos la tabla con los datos reales de </a:t>
            </a:r>
            <a:r>
              <a:rPr kumimoji="0" lang="es-CO" altLang="es-CO" sz="1800" b="0" i="0" u="none" strike="noStrike" cap="none" normalizeH="0" baseline="0" dirty="0" err="1">
                <a:ln>
                  <a:noFill/>
                </a:ln>
                <a:solidFill>
                  <a:schemeClr val="tx1"/>
                </a:solidFill>
                <a:effectLst/>
                <a:latin typeface="Arial" panose="020B0604020202020204" pitchFamily="34" charset="0"/>
              </a:rPr>
              <a:t>Olist</a:t>
            </a:r>
            <a:r>
              <a:rPr kumimoji="0" lang="es-CO" altLang="es-CO" sz="1800" b="0" i="0" u="none" strike="noStrike" cap="none" normalizeH="0" baseline="0" dirty="0">
                <a:ln>
                  <a:noFill/>
                </a:ln>
                <a:solidFill>
                  <a:schemeClr val="tx1"/>
                </a:solidFill>
                <a:effectLst/>
                <a:latin typeface="Arial" panose="020B0604020202020204" pitchFamily="34" charset="0"/>
              </a:rPr>
              <a:t> para limpiar nuestro diseño:</a:t>
            </a:r>
            <a:endParaRPr kumimoji="0" lang="es-CO" altLang="es-CO"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4081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EFF2B-856D-A312-1286-CD29B75B5E6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054C17-CEA0-1EE0-FD46-BA3659DA384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07BB087-7E92-AB4E-01C3-AE9D1AD763AD}"/>
              </a:ext>
            </a:extLst>
          </p:cNvPr>
          <p:cNvGrpSpPr/>
          <p:nvPr/>
        </p:nvGrpSpPr>
        <p:grpSpPr>
          <a:xfrm>
            <a:off x="-13018" y="76041"/>
            <a:ext cx="449045" cy="10287000"/>
            <a:chOff x="0" y="0"/>
            <a:chExt cx="598727" cy="13716000"/>
          </a:xfrm>
        </p:grpSpPr>
        <p:grpSp>
          <p:nvGrpSpPr>
            <p:cNvPr id="4" name="Group 4">
              <a:extLst>
                <a:ext uri="{FF2B5EF4-FFF2-40B4-BE49-F238E27FC236}">
                  <a16:creationId xmlns:a16="http://schemas.microsoft.com/office/drawing/2014/main" id="{986E5E86-A653-2392-D537-A83BC1953AE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9AE2E156-ABE7-83AC-F369-9960422EA2F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0227EC3-B075-70AB-B4E7-5AD578EABF5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9EEA861-2236-A071-2361-FB6977CFAE1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C8D5B0C-3041-7B28-7E87-E1E7EB2B77B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47B484EE-A86E-6709-1A30-5353D3FC407B}"/>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4771F4A2-73C5-1093-8208-DD9E0BD9597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5BC200F-2D48-81CD-3924-2BAF681001A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25E7E220-7EC9-DF16-B676-F5F8860E2B88}"/>
              </a:ext>
            </a:extLst>
          </p:cNvPr>
          <p:cNvGraphicFramePr>
            <a:graphicFrameLocks noGrp="1"/>
          </p:cNvGraphicFramePr>
          <p:nvPr>
            <p:extLst>
              <p:ext uri="{D42A27DB-BD31-4B8C-83A1-F6EECF244321}">
                <p14:modId xmlns:p14="http://schemas.microsoft.com/office/powerpoint/2010/main" val="4032124931"/>
              </p:ext>
            </p:extLst>
          </p:nvPr>
        </p:nvGraphicFramePr>
        <p:xfrm>
          <a:off x="2007911" y="2572809"/>
          <a:ext cx="14818935" cy="6252757"/>
        </p:xfrm>
        <a:graphic>
          <a:graphicData uri="http://schemas.openxmlformats.org/drawingml/2006/table">
            <a:tbl>
              <a:tblPr/>
              <a:tblGrid>
                <a:gridCol w="4939645">
                  <a:extLst>
                    <a:ext uri="{9D8B030D-6E8A-4147-A177-3AD203B41FA5}">
                      <a16:colId xmlns:a16="http://schemas.microsoft.com/office/drawing/2014/main" val="1783722434"/>
                    </a:ext>
                  </a:extLst>
                </a:gridCol>
                <a:gridCol w="4939645">
                  <a:extLst>
                    <a:ext uri="{9D8B030D-6E8A-4147-A177-3AD203B41FA5}">
                      <a16:colId xmlns:a16="http://schemas.microsoft.com/office/drawing/2014/main" val="1979497216"/>
                    </a:ext>
                  </a:extLst>
                </a:gridCol>
                <a:gridCol w="4939645">
                  <a:extLst>
                    <a:ext uri="{9D8B030D-6E8A-4147-A177-3AD203B41FA5}">
                      <a16:colId xmlns:a16="http://schemas.microsoft.com/office/drawing/2014/main" val="4065968662"/>
                    </a:ext>
                  </a:extLst>
                </a:gridCol>
              </a:tblGrid>
              <a:tr h="691732">
                <a:tc>
                  <a:txBody>
                    <a:bodyPr/>
                    <a:lstStyle/>
                    <a:p>
                      <a:pPr>
                        <a:buNone/>
                      </a:pPr>
                      <a:r>
                        <a:rPr lang="es-CO" sz="2400"/>
                        <a:t>Nombre Entidad (Oficial)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Descripción del Negocio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Sinónimos / Aliases (A evitar)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2061412"/>
                  </a:ext>
                </a:extLst>
              </a:tr>
              <a:tr h="2240713">
                <a:tc>
                  <a:txBody>
                    <a:bodyPr/>
                    <a:lstStyle/>
                    <a:p>
                      <a:pPr>
                        <a:buNone/>
                      </a:pPr>
                      <a:r>
                        <a:rPr lang="es-CO" sz="2400" b="1"/>
                        <a:t>Order</a:t>
                      </a:r>
                      <a:endParaRPr lang="es-CO"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dirty="0"/>
                        <a:t>El evento "padre" que agrupa la compra. Contiene el estado (entregado, cancelado) y fechas.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Pedido, Venta, Transacción, Carrito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5302639"/>
                  </a:ext>
                </a:extLst>
              </a:tr>
              <a:tr h="1660156">
                <a:tc>
                  <a:txBody>
                    <a:bodyPr/>
                    <a:lstStyle/>
                    <a:p>
                      <a:pPr>
                        <a:buNone/>
                      </a:pPr>
                      <a:r>
                        <a:rPr lang="es-CO" sz="2400" b="1"/>
                        <a:t>Order_Item</a:t>
                      </a:r>
                      <a:endParaRPr lang="es-CO"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a:t>El detalle de línea. Representa "Un producto específico dentro de una orden específica".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dirty="0"/>
                        <a:t>Línea de pedido, Detalle, </a:t>
                      </a:r>
                      <a:r>
                        <a:rPr lang="es-ES" sz="2400" dirty="0" err="1"/>
                        <a:t>Item</a:t>
                      </a:r>
                      <a:r>
                        <a:rPr lang="es-ES" sz="2400" dirty="0"/>
                        <a:t> de Venta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371050"/>
                  </a:ext>
                </a:extLst>
              </a:tr>
              <a:tr h="1660156">
                <a:tc>
                  <a:txBody>
                    <a:bodyPr/>
                    <a:lstStyle/>
                    <a:p>
                      <a:pPr>
                        <a:buNone/>
                      </a:pPr>
                      <a:r>
                        <a:rPr lang="es-CO" sz="2400" b="1"/>
                        <a:t>Payment</a:t>
                      </a:r>
                      <a:endParaRPr lang="es-CO"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a:t>El registro financiero. Una orden puede tener múltiples de estos (ej: 2 tarjetas de crédito).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t>Cobro, Transacción Financiera, Cuota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0045122"/>
                  </a:ext>
                </a:extLst>
              </a:tr>
            </a:tbl>
          </a:graphicData>
        </a:graphic>
      </p:graphicFrame>
      <p:sp>
        <p:nvSpPr>
          <p:cNvPr id="13" name="Rectangle 1">
            <a:extLst>
              <a:ext uri="{FF2B5EF4-FFF2-40B4-BE49-F238E27FC236}">
                <a16:creationId xmlns:a16="http://schemas.microsoft.com/office/drawing/2014/main" id="{7CC4C4B7-BC72-ABC2-F871-27D5ADA509C1}"/>
              </a:ext>
            </a:extLst>
          </p:cNvPr>
          <p:cNvSpPr>
            <a:spLocks noChangeArrowheads="1"/>
          </p:cNvSpPr>
          <p:nvPr/>
        </p:nvSpPr>
        <p:spPr bwMode="auto">
          <a:xfrm>
            <a:off x="1135930" y="964013"/>
            <a:ext cx="847941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1" i="0" u="none" strike="noStrike" cap="none" normalizeH="0" baseline="0" dirty="0">
                <a:ln>
                  <a:noFill/>
                </a:ln>
                <a:solidFill>
                  <a:schemeClr val="tx1"/>
                </a:solidFill>
                <a:effectLst/>
                <a:latin typeface="Arial" panose="020B0604020202020204" pitchFamily="34" charset="0"/>
              </a:rPr>
              <a:t>Aplicación Práctica: Diccionario </a:t>
            </a:r>
            <a:r>
              <a:rPr kumimoji="0" lang="es-CO" altLang="es-CO" sz="2400" b="1" i="0" u="none" strike="noStrike" cap="none" normalizeH="0" baseline="0" dirty="0" err="1">
                <a:ln>
                  <a:noFill/>
                </a:ln>
                <a:solidFill>
                  <a:schemeClr val="tx1"/>
                </a:solidFill>
                <a:effectLst/>
                <a:latin typeface="Arial" panose="020B0604020202020204" pitchFamily="34" charset="0"/>
              </a:rPr>
              <a:t>Olist</a:t>
            </a:r>
            <a:r>
              <a:rPr kumimoji="0" lang="es-CO" altLang="es-CO" sz="2400" b="1" i="0" u="none" strike="noStrike" cap="none" normalizeH="0" baseline="0" dirty="0">
                <a:ln>
                  <a:noFill/>
                </a:ln>
                <a:solidFill>
                  <a:schemeClr val="tx1"/>
                </a:solidFill>
                <a:effectLst/>
                <a:latin typeface="Arial" panose="020B0604020202020204" pitchFamily="34" charset="0"/>
              </a:rPr>
              <a:t> (Parte 2)</a:t>
            </a: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000" b="0" i="0" u="none" strike="noStrike" cap="none" normalizeH="0" baseline="0" dirty="0">
                <a:ln>
                  <a:noFill/>
                </a:ln>
                <a:solidFill>
                  <a:schemeClr val="tx1"/>
                </a:solidFill>
                <a:effectLst/>
                <a:latin typeface="Arial" panose="020B0604020202020204" pitchFamily="34" charset="0"/>
              </a:rPr>
              <a:t>Las entidades transaccionales (las que suelen causar confusión):</a:t>
            </a:r>
            <a:endParaRPr kumimoji="0" lang="es-CO" altLang="es-CO"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59138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E380F-A4A2-FEDF-756B-E942EB09BC2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F31F02-85F1-FA48-3B63-FCA7EA896C85}"/>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A3EB86C0-1AC1-2639-774C-04EE88FA19ED}"/>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37A7356-A71F-2FFA-6994-7557AF6BEFD6}"/>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404DB371-1AD7-061A-9326-CE5CBC9339A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A8BEE2C-8789-0ED4-A8FB-8BA87089F54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DFEE5FD7-3C67-2F10-0302-A4EDED0BC8E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8AD027B-7969-CA7C-BEE0-7004EA8A851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C5BA7644-CBFF-0A22-5B80-4B4DDB7DA9EE}"/>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C005BE50-01D3-93DC-EA63-CB28CD250B9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1B2456A-B09E-D652-52C5-2A81B6B7258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53EB8C41-2227-DB3C-4A0D-BB6BE40EEEBD}"/>
              </a:ext>
            </a:extLst>
          </p:cNvPr>
          <p:cNvSpPr txBox="1"/>
          <p:nvPr/>
        </p:nvSpPr>
        <p:spPr>
          <a:xfrm>
            <a:off x="1444656" y="1172510"/>
            <a:ext cx="15580151" cy="7478970"/>
          </a:xfrm>
          <a:prstGeom prst="rect">
            <a:avLst/>
          </a:prstGeom>
          <a:noFill/>
        </p:spPr>
        <p:txBody>
          <a:bodyPr wrap="square">
            <a:spAutoFit/>
          </a:bodyPr>
          <a:lstStyle/>
          <a:p>
            <a:pPr>
              <a:buNone/>
            </a:pPr>
            <a:r>
              <a:rPr lang="es-ES" sz="3200" b="1" dirty="0"/>
              <a:t>Detectando "Falsas Entidades" (Limpieza)</a:t>
            </a:r>
          </a:p>
          <a:p>
            <a:pPr>
              <a:buNone/>
            </a:pPr>
            <a:endParaRPr lang="es-ES" sz="3200" b="1" dirty="0"/>
          </a:p>
          <a:p>
            <a:pPr>
              <a:buNone/>
            </a:pPr>
            <a:r>
              <a:rPr lang="es-ES" sz="3200" dirty="0"/>
              <a:t>En este paso, usamos la columna de </a:t>
            </a:r>
            <a:r>
              <a:rPr lang="es-ES" sz="3200" b="1" dirty="0"/>
              <a:t>Descripción</a:t>
            </a:r>
            <a:r>
              <a:rPr lang="es-ES" sz="3200" dirty="0"/>
              <a:t> para descartar errores del Paso 1.</a:t>
            </a:r>
          </a:p>
          <a:p>
            <a:pPr>
              <a:buNone/>
            </a:pPr>
            <a:endParaRPr lang="es-ES" sz="3200" dirty="0"/>
          </a:p>
          <a:p>
            <a:pPr>
              <a:buFont typeface="Arial" panose="020B0604020202020204" pitchFamily="34" charset="0"/>
              <a:buChar char="•"/>
            </a:pPr>
            <a:r>
              <a:rPr lang="es-ES" sz="3200" b="1" dirty="0"/>
              <a:t>Candidato:</a:t>
            </a:r>
            <a:r>
              <a:rPr lang="es-ES" sz="3200" dirty="0"/>
              <a:t> "</a:t>
            </a:r>
            <a:r>
              <a:rPr lang="es-ES" sz="3200" dirty="0" err="1"/>
              <a:t>Geolocation</a:t>
            </a:r>
            <a:r>
              <a:rPr lang="es-ES" sz="3200" dirty="0"/>
              <a:t>"</a:t>
            </a:r>
          </a:p>
          <a:p>
            <a:pPr>
              <a:buFont typeface="Arial" panose="020B0604020202020204" pitchFamily="34" charset="0"/>
              <a:buChar char="•"/>
            </a:pPr>
            <a:r>
              <a:rPr lang="es-ES" sz="3200" b="1" dirty="0"/>
              <a:t>Análisis:</a:t>
            </a:r>
            <a:r>
              <a:rPr lang="es-ES" sz="3200" dirty="0"/>
              <a:t> ¿Es una entidad de negocio?</a:t>
            </a:r>
          </a:p>
          <a:p>
            <a:pPr marL="742950" lvl="1" indent="-285750">
              <a:buFont typeface="Arial" panose="020B0604020202020204" pitchFamily="34" charset="0"/>
              <a:buChar char="•"/>
            </a:pPr>
            <a:r>
              <a:rPr lang="es-ES" sz="3200" i="1" dirty="0"/>
              <a:t>Descripción:</a:t>
            </a:r>
            <a:r>
              <a:rPr lang="es-ES" sz="3200" dirty="0"/>
              <a:t> Es una lista de códigos postales con latitud/longitud.</a:t>
            </a:r>
          </a:p>
          <a:p>
            <a:pPr marL="742950" lvl="1" indent="-285750">
              <a:buFont typeface="Arial" panose="020B0604020202020204" pitchFamily="34" charset="0"/>
              <a:buChar char="•"/>
            </a:pPr>
            <a:r>
              <a:rPr lang="es-ES" sz="3200" i="1" dirty="0"/>
              <a:t>Veredicto:</a:t>
            </a:r>
            <a:r>
              <a:rPr lang="es-ES" sz="3200" dirty="0"/>
              <a:t> Sí, es una entidad de referencia (</a:t>
            </a:r>
            <a:r>
              <a:rPr lang="es-ES" sz="3200" dirty="0" err="1"/>
              <a:t>Lookup</a:t>
            </a:r>
            <a:r>
              <a:rPr lang="es-ES" sz="3200" dirty="0"/>
              <a:t> Table).</a:t>
            </a:r>
          </a:p>
          <a:p>
            <a:pPr marL="742950" lvl="1" indent="-285750">
              <a:buFont typeface="Arial" panose="020B0604020202020204" pitchFamily="34" charset="0"/>
              <a:buChar char="•"/>
            </a:pPr>
            <a:endParaRPr lang="es-ES" sz="3200" dirty="0"/>
          </a:p>
          <a:p>
            <a:pPr marL="742950" lvl="1" indent="-285750">
              <a:buFont typeface="Arial" panose="020B0604020202020204" pitchFamily="34" charset="0"/>
              <a:buChar char="•"/>
            </a:pPr>
            <a:endParaRPr lang="es-ES" sz="3200" dirty="0"/>
          </a:p>
          <a:p>
            <a:pPr>
              <a:buFont typeface="Arial" panose="020B0604020202020204" pitchFamily="34" charset="0"/>
              <a:buChar char="•"/>
            </a:pPr>
            <a:r>
              <a:rPr lang="es-ES" sz="3200" b="1" dirty="0"/>
              <a:t>Candidato:</a:t>
            </a:r>
            <a:r>
              <a:rPr lang="es-ES" sz="3200" dirty="0"/>
              <a:t> "</a:t>
            </a:r>
            <a:r>
              <a:rPr lang="es-ES" sz="3200" dirty="0" err="1"/>
              <a:t>Shipping</a:t>
            </a:r>
            <a:r>
              <a:rPr lang="es-ES" sz="3200" dirty="0"/>
              <a:t>" (Envío)</a:t>
            </a:r>
          </a:p>
          <a:p>
            <a:pPr>
              <a:buFont typeface="Arial" panose="020B0604020202020204" pitchFamily="34" charset="0"/>
              <a:buChar char="•"/>
            </a:pPr>
            <a:r>
              <a:rPr lang="es-ES" sz="3200" b="1" dirty="0"/>
              <a:t>Análisis:</a:t>
            </a:r>
            <a:r>
              <a:rPr lang="es-ES" sz="3200" dirty="0"/>
              <a:t> ¿Es una tabla aparte?</a:t>
            </a:r>
          </a:p>
          <a:p>
            <a:pPr marL="742950" lvl="1" indent="-285750">
              <a:buFont typeface="Arial" panose="020B0604020202020204" pitchFamily="34" charset="0"/>
              <a:buChar char="•"/>
            </a:pPr>
            <a:r>
              <a:rPr lang="es-ES" sz="3200" i="1" dirty="0"/>
              <a:t>Descripción:</a:t>
            </a:r>
            <a:r>
              <a:rPr lang="es-ES" sz="3200" dirty="0"/>
              <a:t> Es el valor del flete (</a:t>
            </a:r>
            <a:r>
              <a:rPr lang="es-ES" sz="3200" dirty="0" err="1">
                <a:latin typeface="Courier New" panose="02070309020205020404" pitchFamily="49" charset="0"/>
              </a:rPr>
              <a:t>freight_value</a:t>
            </a:r>
            <a:r>
              <a:rPr lang="es-ES" sz="3200" dirty="0"/>
              <a:t>) y la fecha de entrega.</a:t>
            </a:r>
          </a:p>
          <a:p>
            <a:pPr marL="742950" lvl="1" indent="-285750">
              <a:buFont typeface="Arial" panose="020B0604020202020204" pitchFamily="34" charset="0"/>
              <a:buChar char="•"/>
            </a:pPr>
            <a:r>
              <a:rPr lang="es-ES" sz="3200" i="1" dirty="0"/>
              <a:t>Veredicto:</a:t>
            </a:r>
            <a:r>
              <a:rPr lang="es-ES" sz="3200" dirty="0"/>
              <a:t> </a:t>
            </a:r>
            <a:r>
              <a:rPr lang="es-ES" sz="3200" b="1" dirty="0"/>
              <a:t>NO</a:t>
            </a:r>
            <a:r>
              <a:rPr lang="es-ES" sz="3200" dirty="0"/>
              <a:t>. Son atributos que viven dentro de </a:t>
            </a:r>
            <a:r>
              <a:rPr lang="es-ES" sz="3200" dirty="0" err="1">
                <a:latin typeface="Courier New" panose="02070309020205020404" pitchFamily="49" charset="0"/>
              </a:rPr>
              <a:t>Order_Items</a:t>
            </a:r>
            <a:r>
              <a:rPr lang="es-ES" sz="3200" dirty="0"/>
              <a:t> (el costo) y </a:t>
            </a:r>
            <a:r>
              <a:rPr lang="es-ES" sz="3200" dirty="0" err="1">
                <a:latin typeface="Courier New" panose="02070309020205020404" pitchFamily="49" charset="0"/>
              </a:rPr>
              <a:t>Order</a:t>
            </a:r>
            <a:r>
              <a:rPr lang="es-ES" sz="3200" dirty="0"/>
              <a:t> (la fecha). Lo borramos de la lista de Entidades.</a:t>
            </a:r>
          </a:p>
        </p:txBody>
      </p:sp>
    </p:spTree>
    <p:extLst>
      <p:ext uri="{BB962C8B-B14F-4D97-AF65-F5344CB8AC3E}">
        <p14:creationId xmlns:p14="http://schemas.microsoft.com/office/powerpoint/2010/main" val="4066044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EC1C7-D829-80E7-5D22-86C96855ED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554BBDC-7622-43AF-4897-DAD4FB1431E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5696803-0D2B-8C70-C573-B8B0D051D64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07C73E7B-32D2-A7E4-B4D5-C9C30213E87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3CB144C-9475-B6CF-1864-7ADA1752477D}"/>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3CFC564F-BE20-488E-55FB-964C9819262D}"/>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9FAC936D-208E-ACE8-1056-546659C03EA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6A5878C-1562-F80A-F173-C5C0950D52F9}"/>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A22C3D7-1BB5-AF5F-7BD3-179A2F0A4D3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311D0357-B859-ABED-091B-847DC913FDB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435ADF2-5683-0746-09BB-C0DC4F72F93E}"/>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1F36984B-92A4-8E85-90AD-4F6CF9A225B1}"/>
              </a:ext>
            </a:extLst>
          </p:cNvPr>
          <p:cNvSpPr txBox="1"/>
          <p:nvPr/>
        </p:nvSpPr>
        <p:spPr>
          <a:xfrm>
            <a:off x="1256121" y="1172510"/>
            <a:ext cx="16150285" cy="7971413"/>
          </a:xfrm>
          <a:prstGeom prst="rect">
            <a:avLst/>
          </a:prstGeom>
          <a:noFill/>
        </p:spPr>
        <p:txBody>
          <a:bodyPr wrap="square">
            <a:spAutoFit/>
          </a:bodyPr>
          <a:lstStyle/>
          <a:p>
            <a:pPr>
              <a:buNone/>
            </a:pPr>
            <a:r>
              <a:rPr lang="es-ES" sz="3200" b="1" dirty="0"/>
              <a:t>El Resultado: Lista Maestra Limpia</a:t>
            </a:r>
          </a:p>
          <a:p>
            <a:pPr>
              <a:buNone/>
            </a:pPr>
            <a:endParaRPr lang="es-ES" sz="3200" b="1" dirty="0"/>
          </a:p>
          <a:p>
            <a:pPr>
              <a:buNone/>
            </a:pPr>
            <a:r>
              <a:rPr lang="es-ES" sz="3200" dirty="0"/>
              <a:t>Al terminar este paso intermedio, tenemos la materia prima pura para la Matriz de Relaciones (Paso 2).</a:t>
            </a:r>
          </a:p>
          <a:p>
            <a:pPr>
              <a:buNone/>
            </a:pPr>
            <a:endParaRPr lang="es-ES" sz="3200" dirty="0"/>
          </a:p>
          <a:p>
            <a:pPr>
              <a:buNone/>
            </a:pPr>
            <a:r>
              <a:rPr lang="es-ES" sz="3200" b="1" dirty="0"/>
              <a:t>Nuestra Lista Oficial para </a:t>
            </a:r>
            <a:r>
              <a:rPr lang="es-ES" sz="3200" b="1" dirty="0" err="1"/>
              <a:t>Olist</a:t>
            </a:r>
            <a:r>
              <a:rPr lang="es-ES" sz="3200" b="1" dirty="0"/>
              <a:t>:</a:t>
            </a:r>
            <a:endParaRPr lang="es-ES" sz="3200" dirty="0"/>
          </a:p>
          <a:p>
            <a:pPr>
              <a:buFont typeface="+mj-lt"/>
              <a:buAutoNum type="arabicPeriod"/>
            </a:pPr>
            <a:r>
              <a:rPr lang="es-ES" sz="3200" dirty="0" err="1">
                <a:latin typeface="Courier New" panose="02070309020205020404" pitchFamily="49" charset="0"/>
              </a:rPr>
              <a:t>Customer</a:t>
            </a:r>
            <a:endParaRPr lang="es-ES" sz="3200" dirty="0"/>
          </a:p>
          <a:p>
            <a:pPr>
              <a:buFont typeface="+mj-lt"/>
              <a:buAutoNum type="arabicPeriod"/>
            </a:pPr>
            <a:r>
              <a:rPr lang="es-ES" sz="3200" dirty="0" err="1">
                <a:latin typeface="Courier New" panose="02070309020205020404" pitchFamily="49" charset="0"/>
              </a:rPr>
              <a:t>Order</a:t>
            </a:r>
            <a:endParaRPr lang="es-ES" sz="3200" dirty="0"/>
          </a:p>
          <a:p>
            <a:pPr>
              <a:buFont typeface="+mj-lt"/>
              <a:buAutoNum type="arabicPeriod"/>
            </a:pPr>
            <a:r>
              <a:rPr lang="es-ES" sz="3200" dirty="0" err="1">
                <a:latin typeface="Courier New" panose="02070309020205020404" pitchFamily="49" charset="0"/>
              </a:rPr>
              <a:t>Order_Items</a:t>
            </a:r>
            <a:r>
              <a:rPr lang="es-ES" sz="3200" dirty="0"/>
              <a:t> (Entidad débil/hija)</a:t>
            </a:r>
          </a:p>
          <a:p>
            <a:pPr>
              <a:buFont typeface="+mj-lt"/>
              <a:buAutoNum type="arabicPeriod"/>
            </a:pPr>
            <a:r>
              <a:rPr lang="es-ES" sz="3200" dirty="0" err="1">
                <a:latin typeface="Courier New" panose="02070309020205020404" pitchFamily="49" charset="0"/>
              </a:rPr>
              <a:t>Product</a:t>
            </a:r>
            <a:endParaRPr lang="es-ES" sz="3200" dirty="0"/>
          </a:p>
          <a:p>
            <a:pPr>
              <a:buFont typeface="+mj-lt"/>
              <a:buAutoNum type="arabicPeriod"/>
            </a:pPr>
            <a:r>
              <a:rPr lang="es-ES" sz="3200" dirty="0" err="1">
                <a:latin typeface="Courier New" panose="02070309020205020404" pitchFamily="49" charset="0"/>
              </a:rPr>
              <a:t>Seller</a:t>
            </a:r>
            <a:endParaRPr lang="es-ES" sz="3200" dirty="0"/>
          </a:p>
          <a:p>
            <a:pPr>
              <a:buFont typeface="+mj-lt"/>
              <a:buAutoNum type="arabicPeriod"/>
            </a:pPr>
            <a:r>
              <a:rPr lang="es-ES" sz="3200" dirty="0" err="1">
                <a:latin typeface="Courier New" panose="02070309020205020404" pitchFamily="49" charset="0"/>
              </a:rPr>
              <a:t>Payments</a:t>
            </a:r>
            <a:endParaRPr lang="es-ES" sz="3200" dirty="0"/>
          </a:p>
          <a:p>
            <a:pPr>
              <a:buFont typeface="+mj-lt"/>
              <a:buAutoNum type="arabicPeriod"/>
            </a:pPr>
            <a:r>
              <a:rPr lang="es-ES" sz="3200" dirty="0" err="1">
                <a:latin typeface="Courier New" panose="02070309020205020404" pitchFamily="49" charset="0"/>
              </a:rPr>
              <a:t>Reviews</a:t>
            </a:r>
            <a:endParaRPr lang="es-ES" sz="3200" dirty="0">
              <a:latin typeface="Courier New" panose="02070309020205020404" pitchFamily="49" charset="0"/>
            </a:endParaRPr>
          </a:p>
          <a:p>
            <a:pPr>
              <a:buFont typeface="+mj-lt"/>
              <a:buAutoNum type="arabicPeriod"/>
            </a:pPr>
            <a:endParaRPr lang="es-ES" sz="3200" dirty="0"/>
          </a:p>
          <a:p>
            <a:pPr>
              <a:buNone/>
            </a:pPr>
            <a:r>
              <a:rPr lang="es-ES" sz="3200" i="1" dirty="0"/>
              <a:t>Ahora sí, con estos 7 actores definidos, podemos ir al Paso 2 y cruzarlos en la Matriz sin miedo a confundir "Envío" con "Pedido".</a:t>
            </a:r>
            <a:endParaRPr lang="es-ES" sz="3200" dirty="0"/>
          </a:p>
        </p:txBody>
      </p:sp>
    </p:spTree>
    <p:extLst>
      <p:ext uri="{BB962C8B-B14F-4D97-AF65-F5344CB8AC3E}">
        <p14:creationId xmlns:p14="http://schemas.microsoft.com/office/powerpoint/2010/main" val="2818110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7B3B-F11C-EBBF-AD0F-B413B607CB6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9E2E43-0256-8489-FFB4-87929D223B29}"/>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821E456-11D2-D145-1F5C-70DA04F1862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F71FAD34-C834-5A64-A5B6-3A269C31E3A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E3694F8E-9604-A302-8ECB-7D665241DB94}"/>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A8AF287B-BDB6-C09C-B271-A7D7B4AE49C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6CB9A204-8684-3228-AC7D-148EBDA4545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F5630DC-4D92-6F93-E6ED-E268A22FF18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47ECBCB-CC9B-6A61-81A3-AD038D387AFC}"/>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8D39C829-40A9-EA3D-E6C1-C69651353DBD}"/>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BCD1AB03-DD55-8050-F2E2-FC51F5D555E6}"/>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5F73B961-CDEB-4453-98B5-F8ED5982DCCD}"/>
              </a:ext>
            </a:extLst>
          </p:cNvPr>
          <p:cNvGraphicFramePr>
            <a:graphicFrameLocks noGrp="1"/>
          </p:cNvGraphicFramePr>
          <p:nvPr>
            <p:extLst>
              <p:ext uri="{D42A27DB-BD31-4B8C-83A1-F6EECF244321}">
                <p14:modId xmlns:p14="http://schemas.microsoft.com/office/powerpoint/2010/main" val="4270924123"/>
              </p:ext>
            </p:extLst>
          </p:nvPr>
        </p:nvGraphicFramePr>
        <p:xfrm>
          <a:off x="1918354" y="4323054"/>
          <a:ext cx="14069507" cy="4673784"/>
        </p:xfrm>
        <a:graphic>
          <a:graphicData uri="http://schemas.openxmlformats.org/drawingml/2006/table">
            <a:tbl>
              <a:tblPr firstRow="1" firstCol="1">
                <a:tableStyleId>{5C22544A-7EE6-4342-B048-85BDC9FD1C3A}</a:tableStyleId>
              </a:tblPr>
              <a:tblGrid>
                <a:gridCol w="3025429">
                  <a:extLst>
                    <a:ext uri="{9D8B030D-6E8A-4147-A177-3AD203B41FA5}">
                      <a16:colId xmlns:a16="http://schemas.microsoft.com/office/drawing/2014/main" val="3900059387"/>
                    </a:ext>
                  </a:extLst>
                </a:gridCol>
                <a:gridCol w="5369143">
                  <a:extLst>
                    <a:ext uri="{9D8B030D-6E8A-4147-A177-3AD203B41FA5}">
                      <a16:colId xmlns:a16="http://schemas.microsoft.com/office/drawing/2014/main" val="670859805"/>
                    </a:ext>
                  </a:extLst>
                </a:gridCol>
                <a:gridCol w="5674935">
                  <a:extLst>
                    <a:ext uri="{9D8B030D-6E8A-4147-A177-3AD203B41FA5}">
                      <a16:colId xmlns:a16="http://schemas.microsoft.com/office/drawing/2014/main" val="1487586318"/>
                    </a:ext>
                  </a:extLst>
                </a:gridCol>
              </a:tblGrid>
              <a:tr h="728939">
                <a:tc>
                  <a:txBody>
                    <a:bodyPr/>
                    <a:lstStyle/>
                    <a:p>
                      <a:pPr>
                        <a:buNone/>
                      </a:pPr>
                      <a:r>
                        <a:rPr lang="es-CO" sz="1800"/>
                        <a:t>Entidad</a:t>
                      </a:r>
                    </a:p>
                  </a:txBody>
                  <a:tcPr anchor="ctr"/>
                </a:tc>
                <a:tc>
                  <a:txBody>
                    <a:bodyPr/>
                    <a:lstStyle/>
                    <a:p>
                      <a:pPr>
                        <a:buNone/>
                      </a:pPr>
                      <a:r>
                        <a:rPr lang="es-CO" sz="1800"/>
                        <a:t>Atributos Detectados (Columnas)</a:t>
                      </a:r>
                    </a:p>
                  </a:txBody>
                  <a:tcPr anchor="ctr"/>
                </a:tc>
                <a:tc>
                  <a:txBody>
                    <a:bodyPr/>
                    <a:lstStyle/>
                    <a:p>
                      <a:pPr>
                        <a:buNone/>
                      </a:pPr>
                      <a:r>
                        <a:rPr lang="es-CO" sz="1800"/>
                        <a:t>Regla de Negocio Asociada</a:t>
                      </a:r>
                    </a:p>
                  </a:txBody>
                  <a:tcPr anchor="ctr"/>
                </a:tc>
                <a:extLst>
                  <a:ext uri="{0D108BD9-81ED-4DB2-BD59-A6C34878D82A}">
                    <a16:rowId xmlns:a16="http://schemas.microsoft.com/office/drawing/2014/main" val="601937812"/>
                  </a:ext>
                </a:extLst>
              </a:tr>
              <a:tr h="728939">
                <a:tc>
                  <a:txBody>
                    <a:bodyPr/>
                    <a:lstStyle/>
                    <a:p>
                      <a:pPr>
                        <a:buNone/>
                      </a:pPr>
                      <a:r>
                        <a:rPr lang="es-CO" sz="1800" b="1" dirty="0" err="1"/>
                        <a:t>Customer</a:t>
                      </a:r>
                      <a:endParaRPr lang="es-CO" sz="1800" dirty="0"/>
                    </a:p>
                  </a:txBody>
                  <a:tcPr anchor="ctr"/>
                </a:tc>
                <a:tc>
                  <a:txBody>
                    <a:bodyPr/>
                    <a:lstStyle/>
                    <a:p>
                      <a:pPr>
                        <a:buNone/>
                      </a:pPr>
                      <a:r>
                        <a:rPr lang="es-ES" sz="1800"/>
                        <a:t>ID, Ciudad, Estado, Código Postal.</a:t>
                      </a:r>
                    </a:p>
                  </a:txBody>
                  <a:tcPr anchor="ctr"/>
                </a:tc>
                <a:tc>
                  <a:txBody>
                    <a:bodyPr/>
                    <a:lstStyle/>
                    <a:p>
                      <a:pPr>
                        <a:buNone/>
                      </a:pPr>
                      <a:r>
                        <a:rPr lang="es-ES" sz="1800"/>
                        <a:t>Un cliente tiene una ubicación fija para el envío.</a:t>
                      </a:r>
                    </a:p>
                  </a:txBody>
                  <a:tcPr anchor="ctr"/>
                </a:tc>
                <a:extLst>
                  <a:ext uri="{0D108BD9-81ED-4DB2-BD59-A6C34878D82A}">
                    <a16:rowId xmlns:a16="http://schemas.microsoft.com/office/drawing/2014/main" val="2329907203"/>
                  </a:ext>
                </a:extLst>
              </a:tr>
              <a:tr h="728939">
                <a:tc>
                  <a:txBody>
                    <a:bodyPr/>
                    <a:lstStyle/>
                    <a:p>
                      <a:pPr>
                        <a:buNone/>
                      </a:pPr>
                      <a:r>
                        <a:rPr lang="es-CO" sz="1800" b="1"/>
                        <a:t>Product</a:t>
                      </a:r>
                      <a:endParaRPr lang="es-CO" sz="1800"/>
                    </a:p>
                  </a:txBody>
                  <a:tcPr anchor="ctr"/>
                </a:tc>
                <a:tc>
                  <a:txBody>
                    <a:bodyPr/>
                    <a:lstStyle/>
                    <a:p>
                      <a:pPr>
                        <a:buNone/>
                      </a:pPr>
                      <a:r>
                        <a:rPr lang="es-CO" sz="1800"/>
                        <a:t>ID, Categoría, Peso, Fotos, Dimensiones.</a:t>
                      </a:r>
                    </a:p>
                  </a:txBody>
                  <a:tcPr anchor="ctr"/>
                </a:tc>
                <a:tc>
                  <a:txBody>
                    <a:bodyPr/>
                    <a:lstStyle/>
                    <a:p>
                      <a:pPr>
                        <a:buNone/>
                      </a:pPr>
                      <a:r>
                        <a:rPr lang="es-ES" sz="1800"/>
                        <a:t>Necesitamos dimensiones para calcular el envío.</a:t>
                      </a:r>
                    </a:p>
                  </a:txBody>
                  <a:tcPr anchor="ctr"/>
                </a:tc>
                <a:extLst>
                  <a:ext uri="{0D108BD9-81ED-4DB2-BD59-A6C34878D82A}">
                    <a16:rowId xmlns:a16="http://schemas.microsoft.com/office/drawing/2014/main" val="2423443725"/>
                  </a:ext>
                </a:extLst>
              </a:tr>
              <a:tr h="1029089">
                <a:tc>
                  <a:txBody>
                    <a:bodyPr/>
                    <a:lstStyle/>
                    <a:p>
                      <a:pPr>
                        <a:buNone/>
                      </a:pPr>
                      <a:r>
                        <a:rPr lang="es-CO" sz="1800" b="1"/>
                        <a:t>Order</a:t>
                      </a:r>
                      <a:endParaRPr lang="es-CO" sz="1800"/>
                    </a:p>
                  </a:txBody>
                  <a:tcPr anchor="ctr"/>
                </a:tc>
                <a:tc>
                  <a:txBody>
                    <a:bodyPr/>
                    <a:lstStyle/>
                    <a:p>
                      <a:pPr>
                        <a:buNone/>
                      </a:pPr>
                      <a:r>
                        <a:rPr lang="es-CO" sz="1800"/>
                        <a:t>ID, Estado (status), Timestamps (Compra, Aprobado, Entregado).</a:t>
                      </a:r>
                    </a:p>
                  </a:txBody>
                  <a:tcPr anchor="ctr"/>
                </a:tc>
                <a:tc>
                  <a:txBody>
                    <a:bodyPr/>
                    <a:lstStyle/>
                    <a:p>
                      <a:pPr>
                        <a:buNone/>
                      </a:pPr>
                      <a:r>
                        <a:rPr lang="es-ES" sz="1800" dirty="0"/>
                        <a:t>Un pedido tiene un ciclo de vida con múltiples fechas.</a:t>
                      </a:r>
                    </a:p>
                  </a:txBody>
                  <a:tcPr anchor="ctr"/>
                </a:tc>
                <a:extLst>
                  <a:ext uri="{0D108BD9-81ED-4DB2-BD59-A6C34878D82A}">
                    <a16:rowId xmlns:a16="http://schemas.microsoft.com/office/drawing/2014/main" val="2673539326"/>
                  </a:ext>
                </a:extLst>
              </a:tr>
              <a:tr h="728939">
                <a:tc>
                  <a:txBody>
                    <a:bodyPr/>
                    <a:lstStyle/>
                    <a:p>
                      <a:pPr>
                        <a:buNone/>
                      </a:pPr>
                      <a:r>
                        <a:rPr lang="es-CO" sz="1800" b="1"/>
                        <a:t>Payment</a:t>
                      </a:r>
                      <a:endParaRPr lang="es-CO" sz="1800"/>
                    </a:p>
                  </a:txBody>
                  <a:tcPr anchor="ctr"/>
                </a:tc>
                <a:tc>
                  <a:txBody>
                    <a:bodyPr/>
                    <a:lstStyle/>
                    <a:p>
                      <a:pPr>
                        <a:buNone/>
                      </a:pPr>
                      <a:r>
                        <a:rPr lang="es-ES" sz="1800"/>
                        <a:t>Tipo (Tarjeta/Boleto), Cuotas (Installments), Valor.</a:t>
                      </a:r>
                    </a:p>
                  </a:txBody>
                  <a:tcPr anchor="ctr"/>
                </a:tc>
                <a:tc>
                  <a:txBody>
                    <a:bodyPr/>
                    <a:lstStyle/>
                    <a:p>
                      <a:pPr>
                        <a:buNone/>
                      </a:pPr>
                      <a:r>
                        <a:rPr lang="es-ES" sz="1800" dirty="0"/>
                        <a:t>Un pedido puede tener varios pagos parciales.</a:t>
                      </a:r>
                    </a:p>
                  </a:txBody>
                  <a:tcPr anchor="ctr"/>
                </a:tc>
                <a:extLst>
                  <a:ext uri="{0D108BD9-81ED-4DB2-BD59-A6C34878D82A}">
                    <a16:rowId xmlns:a16="http://schemas.microsoft.com/office/drawing/2014/main" val="270311082"/>
                  </a:ext>
                </a:extLst>
              </a:tr>
              <a:tr h="728939">
                <a:tc>
                  <a:txBody>
                    <a:bodyPr/>
                    <a:lstStyle/>
                    <a:p>
                      <a:pPr>
                        <a:buNone/>
                      </a:pPr>
                      <a:r>
                        <a:rPr lang="es-CO" sz="1800" b="1"/>
                        <a:t>Review</a:t>
                      </a:r>
                      <a:endParaRPr lang="es-CO" sz="1800"/>
                    </a:p>
                  </a:txBody>
                  <a:tcPr anchor="ctr"/>
                </a:tc>
                <a:tc>
                  <a:txBody>
                    <a:bodyPr/>
                    <a:lstStyle/>
                    <a:p>
                      <a:pPr>
                        <a:buNone/>
                      </a:pPr>
                      <a:r>
                        <a:rPr lang="es-CO" sz="1800"/>
                        <a:t>Score (1-5), Título, Mensaje.</a:t>
                      </a:r>
                    </a:p>
                  </a:txBody>
                  <a:tcPr anchor="ctr"/>
                </a:tc>
                <a:tc>
                  <a:txBody>
                    <a:bodyPr/>
                    <a:lstStyle/>
                    <a:p>
                      <a:pPr>
                        <a:buNone/>
                      </a:pPr>
                      <a:r>
                        <a:rPr lang="es-ES" sz="1800" dirty="0"/>
                        <a:t>La reseña se vincula a la orden, no al cliente directamente.</a:t>
                      </a:r>
                    </a:p>
                  </a:txBody>
                  <a:tcPr anchor="ctr"/>
                </a:tc>
                <a:extLst>
                  <a:ext uri="{0D108BD9-81ED-4DB2-BD59-A6C34878D82A}">
                    <a16:rowId xmlns:a16="http://schemas.microsoft.com/office/drawing/2014/main" val="130659494"/>
                  </a:ext>
                </a:extLst>
              </a:tr>
            </a:tbl>
          </a:graphicData>
        </a:graphic>
      </p:graphicFrame>
      <p:sp>
        <p:nvSpPr>
          <p:cNvPr id="13" name="Rectangle 1">
            <a:extLst>
              <a:ext uri="{FF2B5EF4-FFF2-40B4-BE49-F238E27FC236}">
                <a16:creationId xmlns:a16="http://schemas.microsoft.com/office/drawing/2014/main" id="{13FDA7A9-D887-D27F-2F37-9A4ADC1181D9}"/>
              </a:ext>
            </a:extLst>
          </p:cNvPr>
          <p:cNvSpPr>
            <a:spLocks noChangeArrowheads="1"/>
          </p:cNvSpPr>
          <p:nvPr/>
        </p:nvSpPr>
        <p:spPr bwMode="auto">
          <a:xfrm>
            <a:off x="1918354" y="950800"/>
            <a:ext cx="13041984"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600" b="1" i="0" u="none" strike="noStrike" cap="none" normalizeH="0" baseline="0" dirty="0">
                <a:ln>
                  <a:noFill/>
                </a:ln>
                <a:solidFill>
                  <a:schemeClr val="tx1"/>
                </a:solidFill>
                <a:effectLst/>
                <a:latin typeface="Arial" panose="020B0604020202020204" pitchFamily="34" charset="0"/>
              </a:rPr>
              <a:t>Asignación de Atributos y Reglas de Negocio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1" i="0" u="none" strike="noStrike" cap="none" normalizeH="0" baseline="0" dirty="0">
                <a:ln>
                  <a:noFill/>
                </a:ln>
                <a:solidFill>
                  <a:schemeClr val="tx1"/>
                </a:solidFill>
                <a:effectLst/>
                <a:latin typeface="Arial" panose="020B0604020202020204" pitchFamily="34" charset="0"/>
              </a:rPr>
              <a:t>Transformando "Detalles" en Columnas</a:t>
            </a:r>
          </a:p>
          <a:p>
            <a:pPr marL="0" marR="0" lvl="0" indent="0" algn="l" defTabSz="914400" rtl="0" eaLnBrk="0" fontAlgn="base" latinLnBrk="0" hangingPunct="0">
              <a:lnSpc>
                <a:spcPct val="100000"/>
              </a:lnSpc>
              <a:spcBef>
                <a:spcPct val="0"/>
              </a:spcBef>
              <a:spcAft>
                <a:spcPct val="0"/>
              </a:spcAft>
              <a:buClrTx/>
              <a:buSzTx/>
              <a:buFontTx/>
              <a:buNone/>
              <a:tabLst/>
            </a:pPr>
            <a:endParaRPr lang="es-CO" altLang="es-CO" sz="24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000" b="0" i="0" u="none" strike="noStrike" cap="none" normalizeH="0" baseline="0" dirty="0">
                <a:ln>
                  <a:noFill/>
                </a:ln>
                <a:solidFill>
                  <a:schemeClr val="tx1"/>
                </a:solidFill>
                <a:effectLst/>
                <a:latin typeface="Arial" panose="020B0604020202020204" pitchFamily="34" charset="0"/>
              </a:rPr>
              <a:t>Una vez tenemos las entidades, asignamos los datos basándonos en los archivos reales del sistema</a:t>
            </a:r>
            <a:r>
              <a:rPr kumimoji="0" lang="es-CO" altLang="es-CO" sz="1100" b="0" i="0" u="none" strike="noStrike" cap="none" normalizeH="0" baseline="0" dirty="0">
                <a:ln>
                  <a:noFill/>
                </a:ln>
                <a:solidFill>
                  <a:schemeClr val="tx1"/>
                </a:solidFill>
                <a:effectLst/>
                <a:latin typeface="Arial" panose="020B0604020202020204" pitchFamily="34" charset="0"/>
              </a:rPr>
              <a:t>.</a:t>
            </a:r>
            <a:endParaRPr kumimoji="0" lang="es-CO" altLang="es-CO"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8692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28F6F-BCC2-8FE1-5484-56E5F20B14E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00C009A-623D-16E6-4D6E-6CCC38ED8FD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1A6E73E-73D9-5C1F-2A4C-341BF432BB04}"/>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CEF687BC-313C-3214-B8B7-D90DEC5BD27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15F2E033-5E4B-E758-18AB-305B0FEDC39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BCF1FF5F-654C-6316-416A-499E18617C2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D1CA0C4-8D0A-1275-19F9-B3BCF9FE9BB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1A8123E9-187E-B970-E153-00ABDF4B024F}"/>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4E692C26-C2C7-281D-B63A-83EA3E0E3747}"/>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2B1B748C-E7A0-5312-A4B3-F663EBB0223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15EDE26-99C8-A075-E96A-0D62134FC1B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2" name="CuadroTexto 11">
            <a:extLst>
              <a:ext uri="{FF2B5EF4-FFF2-40B4-BE49-F238E27FC236}">
                <a16:creationId xmlns:a16="http://schemas.microsoft.com/office/drawing/2014/main" id="{A78F5CC2-859B-202E-A8C9-EA0888B63F10}"/>
              </a:ext>
            </a:extLst>
          </p:cNvPr>
          <p:cNvSpPr txBox="1"/>
          <p:nvPr/>
        </p:nvSpPr>
        <p:spPr>
          <a:xfrm>
            <a:off x="1564849" y="1649690"/>
            <a:ext cx="4799712" cy="769441"/>
          </a:xfrm>
          <a:prstGeom prst="rect">
            <a:avLst/>
          </a:prstGeom>
          <a:noFill/>
        </p:spPr>
        <p:txBody>
          <a:bodyPr wrap="none" rtlCol="0">
            <a:spAutoFit/>
          </a:bodyPr>
          <a:lstStyle/>
          <a:p>
            <a:r>
              <a:rPr lang="es-CO" sz="4400" dirty="0"/>
              <a:t>Caso de Estudio 1</a:t>
            </a:r>
          </a:p>
        </p:txBody>
      </p:sp>
      <p:sp>
        <p:nvSpPr>
          <p:cNvPr id="15" name="CuadroTexto 14">
            <a:extLst>
              <a:ext uri="{FF2B5EF4-FFF2-40B4-BE49-F238E27FC236}">
                <a16:creationId xmlns:a16="http://schemas.microsoft.com/office/drawing/2014/main" id="{B1D6B251-A352-D73A-D4D5-1628D304C84A}"/>
              </a:ext>
            </a:extLst>
          </p:cNvPr>
          <p:cNvSpPr txBox="1"/>
          <p:nvPr/>
        </p:nvSpPr>
        <p:spPr>
          <a:xfrm>
            <a:off x="2309567" y="3662686"/>
            <a:ext cx="14027084" cy="3539430"/>
          </a:xfrm>
          <a:prstGeom prst="rect">
            <a:avLst/>
          </a:prstGeom>
          <a:noFill/>
        </p:spPr>
        <p:txBody>
          <a:bodyPr wrap="square">
            <a:spAutoFit/>
          </a:bodyPr>
          <a:lstStyle/>
          <a:p>
            <a:pPr algn="just">
              <a:buNone/>
            </a:pPr>
            <a:r>
              <a:rPr lang="es-ES" sz="2800" dirty="0"/>
              <a:t>Una pequeña firma de contabilidad quiere una aplicación sencilla de recursos humanos que le ayude a llevar el registro de sus empleados, sus cargos, las asignaciones (o prestaciones), las escalas salariales y qué vehículos de la empresa conducen sus empleados.</a:t>
            </a:r>
          </a:p>
          <a:p>
            <a:pPr algn="just">
              <a:buNone/>
            </a:pPr>
            <a:endParaRPr lang="es-ES" sz="2800" dirty="0"/>
          </a:p>
          <a:p>
            <a:pPr algn="just">
              <a:buNone/>
            </a:pPr>
            <a:r>
              <a:rPr lang="es-ES" sz="2800" dirty="0"/>
              <a:t>La aplicación debe llevar el registro de todos los cargos de la firma, de los empleados que ocupan esos cargos, de las asignaciones asociadas a esos cargos, de las escalas salariales de esos cargos y de los vehículos de la empresa asignados a dichos cargos.</a:t>
            </a:r>
          </a:p>
        </p:txBody>
      </p:sp>
    </p:spTree>
    <p:extLst>
      <p:ext uri="{BB962C8B-B14F-4D97-AF65-F5344CB8AC3E}">
        <p14:creationId xmlns:p14="http://schemas.microsoft.com/office/powerpoint/2010/main" val="3762043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248C9-284A-CB1F-F477-D461FBF9592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CCF967-E5DB-4F4A-E952-97FFCB494DF5}"/>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C36682E-C840-4F2F-3B32-4C37ED1923B4}"/>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3301CC3D-714D-D7F8-E90C-966EC62D5804}"/>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455E1EEE-ECFC-11A4-174F-3081339EC23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703255D2-20F6-9D61-31AE-AFF2A12246E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FC4D960-9FBD-F19C-6CE7-B089D06BE62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E1630045-4EE9-EDE8-BED0-E5168D75CD8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A2FAA7DA-CDA1-2C13-708E-AE725F9611E7}"/>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BEF58554-A281-F04B-5F12-70AD66F09DB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C18A56BF-CC7B-2AA5-4F73-D9D85A6A505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2" name="CuadroTexto 11">
            <a:extLst>
              <a:ext uri="{FF2B5EF4-FFF2-40B4-BE49-F238E27FC236}">
                <a16:creationId xmlns:a16="http://schemas.microsoft.com/office/drawing/2014/main" id="{4136EB94-CD90-708C-1B6D-706B89A9D6A2}"/>
              </a:ext>
            </a:extLst>
          </p:cNvPr>
          <p:cNvSpPr txBox="1"/>
          <p:nvPr/>
        </p:nvSpPr>
        <p:spPr>
          <a:xfrm>
            <a:off x="1564849" y="1649690"/>
            <a:ext cx="4799712" cy="769441"/>
          </a:xfrm>
          <a:prstGeom prst="rect">
            <a:avLst/>
          </a:prstGeom>
          <a:noFill/>
        </p:spPr>
        <p:txBody>
          <a:bodyPr wrap="none" rtlCol="0">
            <a:spAutoFit/>
          </a:bodyPr>
          <a:lstStyle/>
          <a:p>
            <a:r>
              <a:rPr lang="es-CO" sz="4400" dirty="0"/>
              <a:t>Caso de Estudio 1</a:t>
            </a:r>
          </a:p>
        </p:txBody>
      </p:sp>
      <p:sp>
        <p:nvSpPr>
          <p:cNvPr id="15" name="CuadroTexto 14">
            <a:extLst>
              <a:ext uri="{FF2B5EF4-FFF2-40B4-BE49-F238E27FC236}">
                <a16:creationId xmlns:a16="http://schemas.microsoft.com/office/drawing/2014/main" id="{FBA2E39F-232B-44CC-A919-B4C6AC0BA445}"/>
              </a:ext>
            </a:extLst>
          </p:cNvPr>
          <p:cNvSpPr txBox="1"/>
          <p:nvPr/>
        </p:nvSpPr>
        <p:spPr>
          <a:xfrm>
            <a:off x="1692347" y="2722892"/>
            <a:ext cx="7063033" cy="6555641"/>
          </a:xfrm>
          <a:prstGeom prst="rect">
            <a:avLst/>
          </a:prstGeom>
          <a:noFill/>
        </p:spPr>
        <p:txBody>
          <a:bodyPr wrap="square">
            <a:spAutoFit/>
          </a:bodyPr>
          <a:lstStyle/>
          <a:p>
            <a:pPr algn="just">
              <a:buNone/>
            </a:pPr>
            <a:r>
              <a:rPr lang="es-ES" sz="2800" dirty="0"/>
              <a:t>Una pequeña firma de contabilidad quiere una aplicación sencilla de recursos humanos que le ayude a llevar el registro de sus </a:t>
            </a:r>
            <a:r>
              <a:rPr lang="es-ES" sz="2800" u="sng" dirty="0"/>
              <a:t>empleados</a:t>
            </a:r>
            <a:r>
              <a:rPr lang="es-ES" sz="2800" dirty="0"/>
              <a:t>, sus </a:t>
            </a:r>
            <a:r>
              <a:rPr lang="es-ES" sz="2800" u="sng" dirty="0"/>
              <a:t>cargos</a:t>
            </a:r>
            <a:r>
              <a:rPr lang="es-ES" sz="2800" dirty="0"/>
              <a:t>, las </a:t>
            </a:r>
            <a:r>
              <a:rPr lang="es-ES" sz="2800" u="sng" dirty="0"/>
              <a:t>asignaciones</a:t>
            </a:r>
            <a:r>
              <a:rPr lang="es-ES" sz="2800" dirty="0"/>
              <a:t> (o prestaciones), las </a:t>
            </a:r>
            <a:r>
              <a:rPr lang="es-ES" sz="2800" u="sng" dirty="0"/>
              <a:t>escalas salariales</a:t>
            </a:r>
            <a:r>
              <a:rPr lang="es-ES" sz="2800" dirty="0"/>
              <a:t> y qué </a:t>
            </a:r>
            <a:r>
              <a:rPr lang="es-ES" sz="2800" u="sng" dirty="0"/>
              <a:t>vehículos</a:t>
            </a:r>
            <a:r>
              <a:rPr lang="es-ES" sz="2800" dirty="0"/>
              <a:t> de la empresa conducen sus empleados.</a:t>
            </a:r>
          </a:p>
          <a:p>
            <a:pPr algn="just">
              <a:buNone/>
            </a:pPr>
            <a:endParaRPr lang="es-ES" sz="2800" dirty="0"/>
          </a:p>
          <a:p>
            <a:pPr algn="just">
              <a:buNone/>
            </a:pPr>
            <a:r>
              <a:rPr lang="es-ES" sz="2800" dirty="0"/>
              <a:t>La aplicación debe llevar el registro de todos los cargos de la firma, de los empleados que ocupan esos cargos, de las asignaciones asociadas a esos cargos, de las escalas salariales de esos cargos y de los vehículos de la empresa asignados a dichos cargos.</a:t>
            </a:r>
          </a:p>
        </p:txBody>
      </p:sp>
      <p:sp>
        <p:nvSpPr>
          <p:cNvPr id="13" name="CuadroTexto 12">
            <a:extLst>
              <a:ext uri="{FF2B5EF4-FFF2-40B4-BE49-F238E27FC236}">
                <a16:creationId xmlns:a16="http://schemas.microsoft.com/office/drawing/2014/main" id="{AE92810E-82E0-E294-DC52-8F0C4F9206DC}"/>
              </a:ext>
            </a:extLst>
          </p:cNvPr>
          <p:cNvSpPr txBox="1"/>
          <p:nvPr/>
        </p:nvSpPr>
        <p:spPr>
          <a:xfrm>
            <a:off x="9334500" y="2687326"/>
            <a:ext cx="7063033" cy="2677656"/>
          </a:xfrm>
          <a:prstGeom prst="rect">
            <a:avLst/>
          </a:prstGeom>
          <a:noFill/>
        </p:spPr>
        <p:txBody>
          <a:bodyPr wrap="square">
            <a:spAutoFit/>
          </a:bodyPr>
          <a:lstStyle/>
          <a:p>
            <a:pPr algn="just">
              <a:buNone/>
            </a:pPr>
            <a:r>
              <a:rPr lang="es-ES" sz="2800" dirty="0"/>
              <a:t>Empleados</a:t>
            </a:r>
          </a:p>
          <a:p>
            <a:pPr algn="just">
              <a:buNone/>
            </a:pPr>
            <a:r>
              <a:rPr lang="es-ES" sz="2800" dirty="0"/>
              <a:t>Cargos</a:t>
            </a:r>
          </a:p>
          <a:p>
            <a:pPr algn="just">
              <a:buNone/>
            </a:pPr>
            <a:r>
              <a:rPr lang="es-ES" sz="2800" dirty="0"/>
              <a:t>Asignaciones</a:t>
            </a:r>
          </a:p>
          <a:p>
            <a:pPr algn="just">
              <a:buNone/>
            </a:pPr>
            <a:r>
              <a:rPr lang="es-ES" sz="2800" dirty="0"/>
              <a:t>Escalas Salariales</a:t>
            </a:r>
          </a:p>
          <a:p>
            <a:pPr algn="just">
              <a:buNone/>
            </a:pPr>
            <a:r>
              <a:rPr lang="es-ES" sz="2800" dirty="0"/>
              <a:t>Vehículos</a:t>
            </a:r>
          </a:p>
          <a:p>
            <a:pPr algn="just">
              <a:buNone/>
            </a:pPr>
            <a:r>
              <a:rPr lang="es-ES" sz="2800" dirty="0"/>
              <a:t>Empresas</a:t>
            </a:r>
          </a:p>
        </p:txBody>
      </p:sp>
    </p:spTree>
    <p:extLst>
      <p:ext uri="{BB962C8B-B14F-4D97-AF65-F5344CB8AC3E}">
        <p14:creationId xmlns:p14="http://schemas.microsoft.com/office/powerpoint/2010/main" val="3159597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1E933-3D12-9D29-59C6-4DE9E0887DE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5F74110-6578-FCC0-AA32-7F8DF263CCE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29B12AA-2E3D-4FA9-CD81-8A0AE17011A4}"/>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03AEC14-B48A-812B-2C8A-994AF65BEC24}"/>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E47FA695-37C5-CB0E-BD20-3009E5BF8E84}"/>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96B1ACB-CDC3-E3D5-6708-FD2ABA16124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18B7DE28-0E23-F232-C76A-114D1410660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FF03851-2887-5C40-A1F3-EC6A79F3803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43F0844E-93CF-DB07-9045-BF49548091E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8C2E35F5-06DE-F0DF-FC6F-37DB5C64799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B0C7911-20F9-B27D-B6D7-73484A51472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2" name="CuadroTexto 11">
            <a:extLst>
              <a:ext uri="{FF2B5EF4-FFF2-40B4-BE49-F238E27FC236}">
                <a16:creationId xmlns:a16="http://schemas.microsoft.com/office/drawing/2014/main" id="{CE625097-D338-6433-4F2A-A1F627F5C848}"/>
              </a:ext>
            </a:extLst>
          </p:cNvPr>
          <p:cNvSpPr txBox="1"/>
          <p:nvPr/>
        </p:nvSpPr>
        <p:spPr>
          <a:xfrm>
            <a:off x="1536569" y="879379"/>
            <a:ext cx="4799712" cy="769441"/>
          </a:xfrm>
          <a:prstGeom prst="rect">
            <a:avLst/>
          </a:prstGeom>
          <a:noFill/>
        </p:spPr>
        <p:txBody>
          <a:bodyPr wrap="none" rtlCol="0">
            <a:spAutoFit/>
          </a:bodyPr>
          <a:lstStyle/>
          <a:p>
            <a:r>
              <a:rPr lang="es-CO" sz="4400" dirty="0"/>
              <a:t>Caso de Estudio 2</a:t>
            </a:r>
          </a:p>
        </p:txBody>
      </p:sp>
      <p:sp>
        <p:nvSpPr>
          <p:cNvPr id="15" name="CuadroTexto 14">
            <a:extLst>
              <a:ext uri="{FF2B5EF4-FFF2-40B4-BE49-F238E27FC236}">
                <a16:creationId xmlns:a16="http://schemas.microsoft.com/office/drawing/2014/main" id="{7C1BC633-8506-C369-3CB5-0D355CC9491C}"/>
              </a:ext>
            </a:extLst>
          </p:cNvPr>
          <p:cNvSpPr txBox="1"/>
          <p:nvPr/>
        </p:nvSpPr>
        <p:spPr>
          <a:xfrm>
            <a:off x="2130458" y="2437201"/>
            <a:ext cx="14027084" cy="6555641"/>
          </a:xfrm>
          <a:prstGeom prst="rect">
            <a:avLst/>
          </a:prstGeom>
          <a:noFill/>
        </p:spPr>
        <p:txBody>
          <a:bodyPr wrap="square">
            <a:spAutoFit/>
          </a:bodyPr>
          <a:lstStyle/>
          <a:p>
            <a:r>
              <a:rPr lang="es-ES" sz="2800" dirty="0"/>
              <a:t>Los dueños de un pequeño taller de reparación de computadores quieren llevar un registro de los trabajos de reparación de los equipos que arreglan, de los elementos usados en cada trabajo de reparación, de los costos de mano de obra de cada trabajo, de los técnicos que realizan cada reparación y del costo total de cada trabajo de reparación.</a:t>
            </a:r>
          </a:p>
          <a:p>
            <a:endParaRPr lang="es-ES" sz="2800" dirty="0"/>
          </a:p>
          <a:p>
            <a:r>
              <a:rPr lang="es-ES" sz="2800" dirty="0"/>
              <a:t>Cuando los clientes llevan sus computadores para ser reparados, hacen un depósito por el trabajo de reparación y se les da una fecha para regresar y retirar su computador. Luego los técnicos realizan las reparaciones en los computadores de los clientes según el trabajo de reparación, y detallan los costos de mano de obra y los elementos usados en cada trabajo.</a:t>
            </a:r>
          </a:p>
          <a:p>
            <a:endParaRPr lang="es-ES" sz="2800" dirty="0"/>
          </a:p>
          <a:p>
            <a:r>
              <a:rPr lang="es-ES" sz="2800" dirty="0"/>
              <a:t>Cuando los clientes regresan, pagan el costo total del trabajo de reparación menos el depósito, reciben un comprobante de pago y retiran el computador reparado usando ese comprobante.</a:t>
            </a:r>
          </a:p>
        </p:txBody>
      </p:sp>
    </p:spTree>
    <p:extLst>
      <p:ext uri="{BB962C8B-B14F-4D97-AF65-F5344CB8AC3E}">
        <p14:creationId xmlns:p14="http://schemas.microsoft.com/office/powerpoint/2010/main" val="2015857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1D645-8069-B932-FF37-566BD0DCFF4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7E42C9-385A-DF8E-DD21-CF7C0FA3074B}"/>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8B44B9C-E7DE-B47A-D58E-857AA9E426B8}"/>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CB6DFCC0-EA5E-B3A7-7CE2-E76CEFB310F4}"/>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6B8783F2-9E36-8722-3B83-79BDC3F7D32B}"/>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BFC1B5A6-02A9-85FC-9ABF-83D6E6BBB34E}"/>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DFBA0680-B2D8-7DBB-C767-7E965E2A8D1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0F4157A5-02C5-65E8-E31D-E94BBB1F1BB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74CC27E-7EB1-F0FF-9294-CE2BA2F04C48}"/>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74474A2-E172-1570-3B89-975F1B6554D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0AEC783-8901-3B48-3751-F7F30D2DFE9E}"/>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2" name="CuadroTexto 11">
            <a:extLst>
              <a:ext uri="{FF2B5EF4-FFF2-40B4-BE49-F238E27FC236}">
                <a16:creationId xmlns:a16="http://schemas.microsoft.com/office/drawing/2014/main" id="{BF0AB51A-C957-D2CE-F08C-F64543594871}"/>
              </a:ext>
            </a:extLst>
          </p:cNvPr>
          <p:cNvSpPr txBox="1"/>
          <p:nvPr/>
        </p:nvSpPr>
        <p:spPr>
          <a:xfrm>
            <a:off x="1574276" y="930448"/>
            <a:ext cx="4799712" cy="769441"/>
          </a:xfrm>
          <a:prstGeom prst="rect">
            <a:avLst/>
          </a:prstGeom>
          <a:noFill/>
        </p:spPr>
        <p:txBody>
          <a:bodyPr wrap="none" rtlCol="0">
            <a:spAutoFit/>
          </a:bodyPr>
          <a:lstStyle/>
          <a:p>
            <a:r>
              <a:rPr lang="es-CO" sz="4400" dirty="0"/>
              <a:t>Caso de Estudio 3</a:t>
            </a:r>
          </a:p>
        </p:txBody>
      </p:sp>
      <p:sp>
        <p:nvSpPr>
          <p:cNvPr id="15" name="CuadroTexto 14">
            <a:extLst>
              <a:ext uri="{FF2B5EF4-FFF2-40B4-BE49-F238E27FC236}">
                <a16:creationId xmlns:a16="http://schemas.microsoft.com/office/drawing/2014/main" id="{9BD5C6D8-0A56-1C21-3FA0-9E18997C2577}"/>
              </a:ext>
            </a:extLst>
          </p:cNvPr>
          <p:cNvSpPr txBox="1"/>
          <p:nvPr/>
        </p:nvSpPr>
        <p:spPr>
          <a:xfrm>
            <a:off x="1847654" y="2917968"/>
            <a:ext cx="14027084" cy="5693866"/>
          </a:xfrm>
          <a:prstGeom prst="rect">
            <a:avLst/>
          </a:prstGeom>
          <a:noFill/>
        </p:spPr>
        <p:txBody>
          <a:bodyPr wrap="square">
            <a:spAutoFit/>
          </a:bodyPr>
          <a:lstStyle/>
          <a:p>
            <a:r>
              <a:rPr lang="es-ES" sz="2800" dirty="0"/>
              <a:t>El secretario académico de un pequeño colegio/universidad quiere una aplicación que ayude a su departamento a llevar el registro de las clases programadas, los cursos y docentes que aparecen en el horario, y los estudiantes que se inscriben en los cursos de acuerdo con dicho horario.</a:t>
            </a:r>
          </a:p>
          <a:p>
            <a:endParaRPr lang="es-ES" sz="2800" dirty="0"/>
          </a:p>
          <a:p>
            <a:r>
              <a:rPr lang="es-ES" sz="2800" dirty="0"/>
              <a:t>Los cursos se programan cada semestre y esto se documenta en el horario de clases, que también registra los docentes asignados a cada clase programada. Los estudiantes se inscriben en los cursos según la lista de clases programadas.</a:t>
            </a:r>
          </a:p>
          <a:p>
            <a:endParaRPr lang="es-ES" sz="2800" dirty="0"/>
          </a:p>
          <a:p>
            <a:r>
              <a:rPr lang="es-ES" sz="2800" dirty="0"/>
              <a:t>Los usuarios (estudiantes, docentes y demás personal del colegio) deben iniciar sesión en la aplicación para poder acceder, y la aplicación debe llevar un registro de los inicios y cierres de sesión de los usuarios. Además, los usuarios deben tener diferentes niveles de acceso, lo que determinará a qué partes de la aplicación pueden acceder.</a:t>
            </a:r>
          </a:p>
        </p:txBody>
      </p:sp>
    </p:spTree>
    <p:extLst>
      <p:ext uri="{BB962C8B-B14F-4D97-AF65-F5344CB8AC3E}">
        <p14:creationId xmlns:p14="http://schemas.microsoft.com/office/powerpoint/2010/main" val="143326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C424-73F8-6D3D-5D88-B31833CC976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735DA3D-3AEF-BB7C-0924-3CFB785D36F8}"/>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8E00CEBA-9052-2D8D-835C-C3B54E27AB03}"/>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65960CA-5851-DF98-342C-9FC0251DD833}"/>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5A58FBF2-B3D9-A7C1-B84D-B0E587092A7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258AEE37-B106-BD3F-E398-CC6FC164E5F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E1BAE19-5C39-9713-F5B0-D860FCAC06BD}"/>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A7951E1F-E8E1-0B13-A1B1-7DBC66BD5336}"/>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0439002A-796A-46DF-0380-9212BC0D976C}"/>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57F46EA2-6D25-8254-03EF-79ABCE9C32D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2AF4B54D-F974-917E-C34D-5240FEAC52F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2" name="CuadroTexto 11">
            <a:extLst>
              <a:ext uri="{FF2B5EF4-FFF2-40B4-BE49-F238E27FC236}">
                <a16:creationId xmlns:a16="http://schemas.microsoft.com/office/drawing/2014/main" id="{9BD6DCE9-213D-B754-B488-478C8336DF1C}"/>
              </a:ext>
            </a:extLst>
          </p:cNvPr>
          <p:cNvSpPr txBox="1"/>
          <p:nvPr/>
        </p:nvSpPr>
        <p:spPr>
          <a:xfrm>
            <a:off x="1262137" y="268808"/>
            <a:ext cx="4799712" cy="769441"/>
          </a:xfrm>
          <a:prstGeom prst="rect">
            <a:avLst/>
          </a:prstGeom>
          <a:noFill/>
        </p:spPr>
        <p:txBody>
          <a:bodyPr wrap="none" rtlCol="0">
            <a:spAutoFit/>
          </a:bodyPr>
          <a:lstStyle/>
          <a:p>
            <a:r>
              <a:rPr lang="es-CO" sz="4400" dirty="0"/>
              <a:t>Caso de Estudio 3</a:t>
            </a:r>
          </a:p>
        </p:txBody>
      </p:sp>
      <p:sp>
        <p:nvSpPr>
          <p:cNvPr id="15" name="CuadroTexto 14">
            <a:extLst>
              <a:ext uri="{FF2B5EF4-FFF2-40B4-BE49-F238E27FC236}">
                <a16:creationId xmlns:a16="http://schemas.microsoft.com/office/drawing/2014/main" id="{F3B353AC-A0BA-7144-D02A-854E0F123723}"/>
              </a:ext>
            </a:extLst>
          </p:cNvPr>
          <p:cNvSpPr txBox="1"/>
          <p:nvPr/>
        </p:nvSpPr>
        <p:spPr>
          <a:xfrm>
            <a:off x="1116684" y="1414020"/>
            <a:ext cx="9413056" cy="8710077"/>
          </a:xfrm>
          <a:prstGeom prst="rect">
            <a:avLst/>
          </a:prstGeom>
          <a:noFill/>
        </p:spPr>
        <p:txBody>
          <a:bodyPr wrap="square">
            <a:spAutoFit/>
          </a:bodyPr>
          <a:lstStyle/>
          <a:p>
            <a:r>
              <a:rPr lang="es-ES" sz="2800" dirty="0"/>
              <a:t>El secretario académico de un pequeño colegio/universidad quiere una aplicación que ayude a su </a:t>
            </a:r>
            <a:r>
              <a:rPr lang="es-ES" sz="2800" u="sng" dirty="0"/>
              <a:t>departamento</a:t>
            </a:r>
            <a:r>
              <a:rPr lang="es-ES" sz="2800" dirty="0"/>
              <a:t> a llevar el </a:t>
            </a:r>
            <a:r>
              <a:rPr lang="es-ES" sz="2800" u="sng" dirty="0"/>
              <a:t>registro</a:t>
            </a:r>
            <a:r>
              <a:rPr lang="es-ES" sz="2800" dirty="0"/>
              <a:t> de las </a:t>
            </a:r>
            <a:r>
              <a:rPr lang="es-ES" sz="2800" u="sng" dirty="0"/>
              <a:t>clases</a:t>
            </a:r>
            <a:r>
              <a:rPr lang="es-ES" sz="2800" dirty="0"/>
              <a:t> programadas, los </a:t>
            </a:r>
            <a:r>
              <a:rPr lang="es-ES" sz="2800" u="sng" dirty="0"/>
              <a:t>cursos</a:t>
            </a:r>
            <a:r>
              <a:rPr lang="es-ES" sz="2800" dirty="0"/>
              <a:t> y </a:t>
            </a:r>
            <a:r>
              <a:rPr lang="es-ES" sz="2800" u="sng" dirty="0"/>
              <a:t>docentes</a:t>
            </a:r>
            <a:r>
              <a:rPr lang="es-ES" sz="2800" dirty="0"/>
              <a:t> que aparecen en el </a:t>
            </a:r>
            <a:r>
              <a:rPr lang="es-ES" sz="2800" u="sng" dirty="0"/>
              <a:t>horario</a:t>
            </a:r>
            <a:r>
              <a:rPr lang="es-ES" sz="2800" dirty="0"/>
              <a:t>, y los </a:t>
            </a:r>
            <a:r>
              <a:rPr lang="es-ES" sz="2800" u="sng" dirty="0"/>
              <a:t>estudiantes</a:t>
            </a:r>
            <a:r>
              <a:rPr lang="es-ES" sz="2800" dirty="0"/>
              <a:t> que se inscriben en los cursos de acuerdo con dicho horario.</a:t>
            </a:r>
          </a:p>
          <a:p>
            <a:endParaRPr lang="es-ES" sz="2800" dirty="0"/>
          </a:p>
          <a:p>
            <a:r>
              <a:rPr lang="es-ES" sz="2800" dirty="0"/>
              <a:t>Los cursos se programan cada </a:t>
            </a:r>
            <a:r>
              <a:rPr lang="es-ES" sz="2800" u="sng" dirty="0"/>
              <a:t>semestre</a:t>
            </a:r>
            <a:r>
              <a:rPr lang="es-ES" sz="2800" dirty="0"/>
              <a:t> y esto se documenta en el horario de clases, que también registra los docentes asignados a cada clase programada. Los estudiantes se inscriben en los cursos según la lista de clases programadas.</a:t>
            </a:r>
          </a:p>
          <a:p>
            <a:endParaRPr lang="es-ES" sz="2800" dirty="0"/>
          </a:p>
          <a:p>
            <a:r>
              <a:rPr lang="es-ES" sz="2800" dirty="0"/>
              <a:t>Los usuarios (estudiantes, docentes y demás </a:t>
            </a:r>
            <a:r>
              <a:rPr lang="es-ES" sz="2800" u="sng" dirty="0"/>
              <a:t>personal del colegio</a:t>
            </a:r>
            <a:r>
              <a:rPr lang="es-ES" sz="2800" dirty="0"/>
              <a:t>) deben iniciar </a:t>
            </a:r>
            <a:r>
              <a:rPr lang="es-ES" sz="2800" u="sng" dirty="0"/>
              <a:t>sesión</a:t>
            </a:r>
            <a:r>
              <a:rPr lang="es-ES" sz="2800" dirty="0"/>
              <a:t> en la aplicación para poder acceder, y la </a:t>
            </a:r>
            <a:r>
              <a:rPr lang="es-ES" sz="2800" u="sng" dirty="0"/>
              <a:t>aplicación</a:t>
            </a:r>
            <a:r>
              <a:rPr lang="es-ES" sz="2800" dirty="0"/>
              <a:t> debe llevar un registro de los inicios y cierres de sesión de los usuarios. Además, los usuarios deben tener diferentes niveles de acceso, lo que determinará a qué partes de la aplicación pueden acceder.</a:t>
            </a:r>
          </a:p>
        </p:txBody>
      </p:sp>
      <p:sp>
        <p:nvSpPr>
          <p:cNvPr id="13" name="CuadroTexto 12">
            <a:extLst>
              <a:ext uri="{FF2B5EF4-FFF2-40B4-BE49-F238E27FC236}">
                <a16:creationId xmlns:a16="http://schemas.microsoft.com/office/drawing/2014/main" id="{2C194ECC-3403-9BE3-9754-AA9F0AF31DEA}"/>
              </a:ext>
            </a:extLst>
          </p:cNvPr>
          <p:cNvSpPr txBox="1"/>
          <p:nvPr/>
        </p:nvSpPr>
        <p:spPr>
          <a:xfrm>
            <a:off x="12641344" y="1897435"/>
            <a:ext cx="3229073" cy="523220"/>
          </a:xfrm>
          <a:prstGeom prst="rect">
            <a:avLst/>
          </a:prstGeom>
          <a:noFill/>
        </p:spPr>
        <p:txBody>
          <a:bodyPr wrap="square">
            <a:spAutoFit/>
          </a:bodyPr>
          <a:lstStyle/>
          <a:p>
            <a:r>
              <a:rPr lang="es-ES" sz="2800" dirty="0"/>
              <a:t>El</a:t>
            </a:r>
          </a:p>
        </p:txBody>
      </p:sp>
    </p:spTree>
    <p:extLst>
      <p:ext uri="{BB962C8B-B14F-4D97-AF65-F5344CB8AC3E}">
        <p14:creationId xmlns:p14="http://schemas.microsoft.com/office/powerpoint/2010/main" val="277042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F57EA-AB2A-D230-8269-26A12105E4DB}"/>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763BEABA-6A1E-0588-6E8E-B829C74E8AAA}"/>
              </a:ext>
            </a:extLst>
          </p:cNvPr>
          <p:cNvGrpSpPr/>
          <p:nvPr/>
        </p:nvGrpSpPr>
        <p:grpSpPr>
          <a:xfrm rot="-10800000">
            <a:off x="10392303" y="0"/>
            <a:ext cx="7895697" cy="10287000"/>
            <a:chOff x="0" y="0"/>
            <a:chExt cx="2079525" cy="2709333"/>
          </a:xfrm>
        </p:grpSpPr>
        <p:sp>
          <p:nvSpPr>
            <p:cNvPr id="4" name="Freeform 4">
              <a:extLst>
                <a:ext uri="{FF2B5EF4-FFF2-40B4-BE49-F238E27FC236}">
                  <a16:creationId xmlns:a16="http://schemas.microsoft.com/office/drawing/2014/main" id="{74725FA9-DB41-09A5-DF03-37153937910A}"/>
                </a:ext>
              </a:extLst>
            </p:cNvPr>
            <p:cNvSpPr/>
            <p:nvPr/>
          </p:nvSpPr>
          <p:spPr>
            <a:xfrm>
              <a:off x="0" y="0"/>
              <a:ext cx="2079525" cy="2709333"/>
            </a:xfrm>
            <a:custGeom>
              <a:avLst/>
              <a:gdLst/>
              <a:ahLst/>
              <a:cxnLst/>
              <a:rect l="l" t="t" r="r" b="b"/>
              <a:pathLst>
                <a:path w="2079525" h="2709333">
                  <a:moveTo>
                    <a:pt x="0" y="0"/>
                  </a:moveTo>
                  <a:lnTo>
                    <a:pt x="2079525" y="0"/>
                  </a:lnTo>
                  <a:lnTo>
                    <a:pt x="2079525"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5" name="TextBox 5">
              <a:extLst>
                <a:ext uri="{FF2B5EF4-FFF2-40B4-BE49-F238E27FC236}">
                  <a16:creationId xmlns:a16="http://schemas.microsoft.com/office/drawing/2014/main" id="{912FEF42-0636-3E17-8A6D-0E140C7E4274}"/>
                </a:ext>
              </a:extLst>
            </p:cNvPr>
            <p:cNvSpPr txBox="1"/>
            <p:nvPr/>
          </p:nvSpPr>
          <p:spPr>
            <a:xfrm>
              <a:off x="0" y="-38100"/>
              <a:ext cx="20795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a:extLst>
              <a:ext uri="{FF2B5EF4-FFF2-40B4-BE49-F238E27FC236}">
                <a16:creationId xmlns:a16="http://schemas.microsoft.com/office/drawing/2014/main" id="{70C63301-6F78-06FB-FAD1-BFAE730F4912}"/>
              </a:ext>
            </a:extLst>
          </p:cNvPr>
          <p:cNvSpPr/>
          <p:nvPr/>
        </p:nvSpPr>
        <p:spPr>
          <a:xfrm>
            <a:off x="9562641" y="4953536"/>
            <a:ext cx="4777510" cy="4687932"/>
          </a:xfrm>
          <a:custGeom>
            <a:avLst/>
            <a:gdLst/>
            <a:ahLst/>
            <a:cxnLst/>
            <a:rect l="l" t="t" r="r" b="b"/>
            <a:pathLst>
              <a:path w="4777510" h="4687932">
                <a:moveTo>
                  <a:pt x="0" y="0"/>
                </a:moveTo>
                <a:lnTo>
                  <a:pt x="4777511" y="0"/>
                </a:lnTo>
                <a:lnTo>
                  <a:pt x="4777511"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a:extLst>
              <a:ext uri="{FF2B5EF4-FFF2-40B4-BE49-F238E27FC236}">
                <a16:creationId xmlns:a16="http://schemas.microsoft.com/office/drawing/2014/main" id="{52FFCCEB-96B9-EDFB-AFD6-2797FA7C98E5}"/>
              </a:ext>
            </a:extLst>
          </p:cNvPr>
          <p:cNvSpPr/>
          <p:nvPr/>
        </p:nvSpPr>
        <p:spPr>
          <a:xfrm rot="-10800000">
            <a:off x="14340152" y="455568"/>
            <a:ext cx="4777510" cy="4687932"/>
          </a:xfrm>
          <a:custGeom>
            <a:avLst/>
            <a:gdLst/>
            <a:ahLst/>
            <a:cxnLst/>
            <a:rect l="l" t="t" r="r" b="b"/>
            <a:pathLst>
              <a:path w="4777510" h="4687932">
                <a:moveTo>
                  <a:pt x="0" y="0"/>
                </a:moveTo>
                <a:lnTo>
                  <a:pt x="4777510" y="0"/>
                </a:lnTo>
                <a:lnTo>
                  <a:pt x="4777510"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grpSp>
        <p:nvGrpSpPr>
          <p:cNvPr id="8" name="Group 8">
            <a:extLst>
              <a:ext uri="{FF2B5EF4-FFF2-40B4-BE49-F238E27FC236}">
                <a16:creationId xmlns:a16="http://schemas.microsoft.com/office/drawing/2014/main" id="{62AE8F99-2121-ACCC-DE87-9D8E38E2B656}"/>
              </a:ext>
            </a:extLst>
          </p:cNvPr>
          <p:cNvGrpSpPr/>
          <p:nvPr/>
        </p:nvGrpSpPr>
        <p:grpSpPr>
          <a:xfrm rot="1460314">
            <a:off x="10661875" y="4518938"/>
            <a:ext cx="7356554" cy="1249125"/>
            <a:chOff x="0" y="0"/>
            <a:chExt cx="1937529" cy="328988"/>
          </a:xfrm>
        </p:grpSpPr>
        <p:sp>
          <p:nvSpPr>
            <p:cNvPr id="9" name="Freeform 9">
              <a:extLst>
                <a:ext uri="{FF2B5EF4-FFF2-40B4-BE49-F238E27FC236}">
                  <a16:creationId xmlns:a16="http://schemas.microsoft.com/office/drawing/2014/main" id="{137C37D5-46E2-C18B-B79F-62EFE65E0F7C}"/>
                </a:ext>
              </a:extLst>
            </p:cNvPr>
            <p:cNvSpPr/>
            <p:nvPr/>
          </p:nvSpPr>
          <p:spPr>
            <a:xfrm>
              <a:off x="0" y="0"/>
              <a:ext cx="1937528" cy="328988"/>
            </a:xfrm>
            <a:custGeom>
              <a:avLst/>
              <a:gdLst/>
              <a:ahLst/>
              <a:cxnLst/>
              <a:rect l="l" t="t" r="r" b="b"/>
              <a:pathLst>
                <a:path w="1937528" h="328988">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p:spPr>
          <p:txBody>
            <a:bodyPr/>
            <a:lstStyle/>
            <a:p>
              <a:endParaRPr lang="es-CO"/>
            </a:p>
          </p:txBody>
        </p:sp>
        <p:sp>
          <p:nvSpPr>
            <p:cNvPr id="10" name="TextBox 10">
              <a:extLst>
                <a:ext uri="{FF2B5EF4-FFF2-40B4-BE49-F238E27FC236}">
                  <a16:creationId xmlns:a16="http://schemas.microsoft.com/office/drawing/2014/main" id="{927D3582-B0C4-6E41-AA2D-FD73D127DDD6}"/>
                </a:ext>
              </a:extLst>
            </p:cNvPr>
            <p:cNvSpPr txBox="1"/>
            <p:nvPr/>
          </p:nvSpPr>
          <p:spPr>
            <a:xfrm>
              <a:off x="0" y="-38100"/>
              <a:ext cx="1937529" cy="367088"/>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D7A6C202-C67A-41DC-7499-D28D188D03E6}"/>
              </a:ext>
            </a:extLst>
          </p:cNvPr>
          <p:cNvGrpSpPr/>
          <p:nvPr/>
        </p:nvGrpSpPr>
        <p:grpSpPr>
          <a:xfrm rot="-10800000">
            <a:off x="-536257" y="9574006"/>
            <a:ext cx="8704391" cy="134923"/>
            <a:chOff x="0" y="0"/>
            <a:chExt cx="2292514" cy="35535"/>
          </a:xfrm>
        </p:grpSpPr>
        <p:sp>
          <p:nvSpPr>
            <p:cNvPr id="12" name="Freeform 12">
              <a:extLst>
                <a:ext uri="{FF2B5EF4-FFF2-40B4-BE49-F238E27FC236}">
                  <a16:creationId xmlns:a16="http://schemas.microsoft.com/office/drawing/2014/main" id="{D0807688-3D2E-8BBD-9C7C-BB692B82F405}"/>
                </a:ext>
              </a:extLst>
            </p:cNvPr>
            <p:cNvSpPr/>
            <p:nvPr/>
          </p:nvSpPr>
          <p:spPr>
            <a:xfrm>
              <a:off x="0" y="0"/>
              <a:ext cx="2292515" cy="35535"/>
            </a:xfrm>
            <a:custGeom>
              <a:avLst/>
              <a:gdLst/>
              <a:ahLst/>
              <a:cxnLst/>
              <a:rect l="l" t="t" r="r" b="b"/>
              <a:pathLst>
                <a:path w="2292515" h="35535">
                  <a:moveTo>
                    <a:pt x="17768" y="0"/>
                  </a:moveTo>
                  <a:lnTo>
                    <a:pt x="2274747" y="0"/>
                  </a:lnTo>
                  <a:cubicBezTo>
                    <a:pt x="2284560" y="0"/>
                    <a:pt x="2292515" y="7955"/>
                    <a:pt x="2292515" y="17768"/>
                  </a:cubicBezTo>
                  <a:lnTo>
                    <a:pt x="2292515" y="17768"/>
                  </a:lnTo>
                  <a:cubicBezTo>
                    <a:pt x="2292515" y="22480"/>
                    <a:pt x="2290643" y="26999"/>
                    <a:pt x="2287311" y="30331"/>
                  </a:cubicBezTo>
                  <a:cubicBezTo>
                    <a:pt x="2283978" y="33663"/>
                    <a:pt x="2279459" y="35535"/>
                    <a:pt x="2274747" y="35535"/>
                  </a:cubicBezTo>
                  <a:lnTo>
                    <a:pt x="17768" y="35535"/>
                  </a:lnTo>
                  <a:cubicBezTo>
                    <a:pt x="13055" y="35535"/>
                    <a:pt x="8536" y="33663"/>
                    <a:pt x="5204" y="30331"/>
                  </a:cubicBezTo>
                  <a:cubicBezTo>
                    <a:pt x="1872" y="26999"/>
                    <a:pt x="0" y="22480"/>
                    <a:pt x="0" y="17768"/>
                  </a:cubicBezTo>
                  <a:lnTo>
                    <a:pt x="0" y="17768"/>
                  </a:lnTo>
                  <a:cubicBezTo>
                    <a:pt x="0" y="13055"/>
                    <a:pt x="1872" y="8536"/>
                    <a:pt x="5204" y="5204"/>
                  </a:cubicBezTo>
                  <a:cubicBezTo>
                    <a:pt x="8536" y="1872"/>
                    <a:pt x="13055" y="0"/>
                    <a:pt x="17768" y="0"/>
                  </a:cubicBez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0"/>
            </a:gradFill>
          </p:spPr>
          <p:txBody>
            <a:bodyPr/>
            <a:lstStyle/>
            <a:p>
              <a:endParaRPr lang="es-CO"/>
            </a:p>
          </p:txBody>
        </p:sp>
        <p:sp>
          <p:nvSpPr>
            <p:cNvPr id="13" name="TextBox 13">
              <a:extLst>
                <a:ext uri="{FF2B5EF4-FFF2-40B4-BE49-F238E27FC236}">
                  <a16:creationId xmlns:a16="http://schemas.microsoft.com/office/drawing/2014/main" id="{EDE14CBD-71F3-CE58-1900-5B5A694C35F2}"/>
                </a:ext>
              </a:extLst>
            </p:cNvPr>
            <p:cNvSpPr txBox="1"/>
            <p:nvPr/>
          </p:nvSpPr>
          <p:spPr>
            <a:xfrm>
              <a:off x="0" y="-38100"/>
              <a:ext cx="2292514" cy="73635"/>
            </a:xfrm>
            <a:prstGeom prst="rect">
              <a:avLst/>
            </a:prstGeom>
          </p:spPr>
          <p:txBody>
            <a:bodyPr lIns="50800" tIns="50800" rIns="50800" bIns="50800" rtlCol="0" anchor="ctr"/>
            <a:lstStyle/>
            <a:p>
              <a:pPr algn="ctr">
                <a:lnSpc>
                  <a:spcPts val="2659"/>
                </a:lnSpc>
              </a:pPr>
              <a:endParaRPr/>
            </a:p>
          </p:txBody>
        </p:sp>
      </p:grpSp>
      <p:sp>
        <p:nvSpPr>
          <p:cNvPr id="15" name="TextBox 15">
            <a:extLst>
              <a:ext uri="{FF2B5EF4-FFF2-40B4-BE49-F238E27FC236}">
                <a16:creationId xmlns:a16="http://schemas.microsoft.com/office/drawing/2014/main" id="{53F83F89-F8AE-E23F-84E0-1F8B85266321}"/>
              </a:ext>
            </a:extLst>
          </p:cNvPr>
          <p:cNvSpPr txBox="1"/>
          <p:nvPr/>
        </p:nvSpPr>
        <p:spPr>
          <a:xfrm>
            <a:off x="822279" y="1616322"/>
            <a:ext cx="8321721" cy="752514"/>
          </a:xfrm>
          <a:prstGeom prst="rect">
            <a:avLst/>
          </a:prstGeom>
        </p:spPr>
        <p:txBody>
          <a:bodyPr wrap="square" lIns="0" tIns="0" rIns="0" bIns="0" rtlCol="0" anchor="t">
            <a:spAutoFit/>
          </a:bodyPr>
          <a:lstStyle/>
          <a:p>
            <a:pPr algn="ctr">
              <a:lnSpc>
                <a:spcPts val="6159"/>
              </a:lnSpc>
              <a:spcBef>
                <a:spcPct val="0"/>
              </a:spcBef>
            </a:pPr>
            <a:r>
              <a:rPr lang="es-CO" sz="4350" b="1" dirty="0">
                <a:solidFill>
                  <a:srgbClr val="700A89"/>
                </a:solidFill>
                <a:latin typeface="Poppins" panose="00000500000000000000" pitchFamily="2" charset="0"/>
                <a:cs typeface="Poppins" panose="00000500000000000000" pitchFamily="2" charset="0"/>
                <a:sym typeface="Poppins 1 Bold"/>
              </a:rPr>
              <a:t>Actividad</a:t>
            </a:r>
            <a:endParaRPr lang="es-CO" sz="4350" b="1" noProof="0" dirty="0">
              <a:solidFill>
                <a:srgbClr val="700A89"/>
              </a:solidFill>
              <a:latin typeface="Poppins 1 Bold"/>
              <a:cs typeface="Poppins 1 Bold"/>
              <a:sym typeface="Poppins 1 Bold"/>
            </a:endParaRPr>
          </a:p>
        </p:txBody>
      </p:sp>
      <p:grpSp>
        <p:nvGrpSpPr>
          <p:cNvPr id="14" name="Group 11">
            <a:extLst>
              <a:ext uri="{FF2B5EF4-FFF2-40B4-BE49-F238E27FC236}">
                <a16:creationId xmlns:a16="http://schemas.microsoft.com/office/drawing/2014/main" id="{B5508332-E396-C457-41BD-15EA1B9FF668}"/>
              </a:ext>
            </a:extLst>
          </p:cNvPr>
          <p:cNvGrpSpPr/>
          <p:nvPr/>
        </p:nvGrpSpPr>
        <p:grpSpPr>
          <a:xfrm>
            <a:off x="2058780" y="2289744"/>
            <a:ext cx="6529135" cy="5279975"/>
            <a:chOff x="-126535" y="-560842"/>
            <a:chExt cx="8705514" cy="7583683"/>
          </a:xfrm>
        </p:grpSpPr>
        <p:grpSp>
          <p:nvGrpSpPr>
            <p:cNvPr id="16" name="Group 12">
              <a:extLst>
                <a:ext uri="{FF2B5EF4-FFF2-40B4-BE49-F238E27FC236}">
                  <a16:creationId xmlns:a16="http://schemas.microsoft.com/office/drawing/2014/main" id="{DD42C7D6-C634-986E-F8A7-A484451609BF}"/>
                </a:ext>
              </a:extLst>
            </p:cNvPr>
            <p:cNvGrpSpPr/>
            <p:nvPr/>
          </p:nvGrpSpPr>
          <p:grpSpPr>
            <a:xfrm>
              <a:off x="-126535" y="-560842"/>
              <a:ext cx="8705514" cy="7583683"/>
              <a:chOff x="-8596" y="-38100"/>
              <a:chExt cx="591397" cy="515187"/>
            </a:xfrm>
          </p:grpSpPr>
          <p:sp>
            <p:nvSpPr>
              <p:cNvPr id="19" name="Freeform 13">
                <a:extLst>
                  <a:ext uri="{FF2B5EF4-FFF2-40B4-BE49-F238E27FC236}">
                    <a16:creationId xmlns:a16="http://schemas.microsoft.com/office/drawing/2014/main" id="{59870950-ABBE-D8A5-2B21-D00D299B06CB}"/>
                  </a:ext>
                </a:extLst>
              </p:cNvPr>
              <p:cNvSpPr/>
              <p:nvPr/>
            </p:nvSpPr>
            <p:spPr>
              <a:xfrm>
                <a:off x="-8596" y="-64"/>
                <a:ext cx="582801" cy="477151"/>
              </a:xfrm>
              <a:custGeom>
                <a:avLst/>
                <a:gdLst/>
                <a:ahLst/>
                <a:cxnLst/>
                <a:rect l="l" t="t" r="r" b="b"/>
                <a:pathLst>
                  <a:path w="582801" h="228266">
                    <a:moveTo>
                      <a:pt x="87467" y="0"/>
                    </a:moveTo>
                    <a:lnTo>
                      <a:pt x="495335" y="0"/>
                    </a:lnTo>
                    <a:cubicBezTo>
                      <a:pt x="543641" y="0"/>
                      <a:pt x="582801" y="39160"/>
                      <a:pt x="582801" y="87467"/>
                    </a:cubicBezTo>
                    <a:lnTo>
                      <a:pt x="582801" y="140800"/>
                    </a:lnTo>
                    <a:cubicBezTo>
                      <a:pt x="582801" y="189106"/>
                      <a:pt x="543641" y="228266"/>
                      <a:pt x="495335" y="228266"/>
                    </a:cubicBezTo>
                    <a:lnTo>
                      <a:pt x="87467" y="228266"/>
                    </a:lnTo>
                    <a:cubicBezTo>
                      <a:pt x="39160" y="228266"/>
                      <a:pt x="0" y="189106"/>
                      <a:pt x="0" y="140800"/>
                    </a:cubicBezTo>
                    <a:lnTo>
                      <a:pt x="0" y="87467"/>
                    </a:lnTo>
                    <a:cubicBezTo>
                      <a:pt x="0" y="39160"/>
                      <a:pt x="39160" y="0"/>
                      <a:pt x="87467" y="0"/>
                    </a:cubicBezTo>
                    <a:close/>
                  </a:path>
                </a:pathLst>
              </a:custGeom>
              <a:solidFill>
                <a:srgbClr val="000000">
                  <a:alpha val="0"/>
                </a:srgbClr>
              </a:solidFill>
              <a:ln w="38100" cap="rnd">
                <a:gradFill>
                  <a:gsLst>
                    <a:gs pos="0">
                      <a:srgbClr val="6B1374">
                        <a:alpha val="100000"/>
                      </a:srgbClr>
                    </a:gs>
                    <a:gs pos="33333">
                      <a:srgbClr val="700A89">
                        <a:alpha val="100000"/>
                      </a:srgbClr>
                    </a:gs>
                    <a:gs pos="66667">
                      <a:srgbClr val="C20052">
                        <a:alpha val="100000"/>
                      </a:srgbClr>
                    </a:gs>
                    <a:gs pos="100000">
                      <a:srgbClr val="FF0055">
                        <a:alpha val="100000"/>
                      </a:srgbClr>
                    </a:gs>
                  </a:gsLst>
                  <a:lin ang="2700000"/>
                </a:gradFill>
                <a:prstDash val="solid"/>
                <a:round/>
              </a:ln>
            </p:spPr>
            <p:txBody>
              <a:bodyPr/>
              <a:lstStyle/>
              <a:p>
                <a:endParaRPr lang="es-CO"/>
              </a:p>
            </p:txBody>
          </p:sp>
          <p:sp>
            <p:nvSpPr>
              <p:cNvPr id="20" name="TextBox 14">
                <a:extLst>
                  <a:ext uri="{FF2B5EF4-FFF2-40B4-BE49-F238E27FC236}">
                    <a16:creationId xmlns:a16="http://schemas.microsoft.com/office/drawing/2014/main" id="{BFD7014C-AF4D-9A3F-E1E4-F6B10D57103A}"/>
                  </a:ext>
                </a:extLst>
              </p:cNvPr>
              <p:cNvSpPr txBox="1"/>
              <p:nvPr/>
            </p:nvSpPr>
            <p:spPr>
              <a:xfrm>
                <a:off x="0" y="-38100"/>
                <a:ext cx="582801" cy="266366"/>
              </a:xfrm>
              <a:prstGeom prst="rect">
                <a:avLst/>
              </a:prstGeom>
            </p:spPr>
            <p:txBody>
              <a:bodyPr lIns="50800" tIns="50800" rIns="50800" bIns="50800" rtlCol="0" anchor="ctr"/>
              <a:lstStyle/>
              <a:p>
                <a:pPr algn="ctr">
                  <a:lnSpc>
                    <a:spcPts val="2660"/>
                  </a:lnSpc>
                </a:pPr>
                <a:endParaRPr/>
              </a:p>
            </p:txBody>
          </p:sp>
        </p:grpSp>
        <p:sp>
          <p:nvSpPr>
            <p:cNvPr id="17" name="TextBox 15">
              <a:extLst>
                <a:ext uri="{FF2B5EF4-FFF2-40B4-BE49-F238E27FC236}">
                  <a16:creationId xmlns:a16="http://schemas.microsoft.com/office/drawing/2014/main" id="{26C0743B-319B-BDC5-A2EC-A281764244F5}"/>
                </a:ext>
              </a:extLst>
            </p:cNvPr>
            <p:cNvSpPr txBox="1"/>
            <p:nvPr/>
          </p:nvSpPr>
          <p:spPr>
            <a:xfrm>
              <a:off x="355297" y="1180058"/>
              <a:ext cx="7868385" cy="4243802"/>
            </a:xfrm>
            <a:prstGeom prst="rect">
              <a:avLst/>
            </a:prstGeom>
          </p:spPr>
          <p:txBody>
            <a:bodyPr lIns="0" tIns="0" rIns="0" bIns="0" rtlCol="0" anchor="t">
              <a:spAutoFit/>
            </a:bodyPr>
            <a:lstStyle/>
            <a:p>
              <a:r>
                <a:rPr lang="es-CO" sz="2400" dirty="0"/>
                <a:t>Paso 1: Descubrir entidades y asignar atributos</a:t>
              </a:r>
            </a:p>
            <a:p>
              <a:pPr marL="285750" indent="-285750">
                <a:buFont typeface="Arial" panose="020B0604020202020204" pitchFamily="34" charset="0"/>
                <a:buChar char="•"/>
              </a:pPr>
              <a:r>
                <a:rPr lang="es-CO" sz="2400" dirty="0"/>
                <a:t>Paso 1-1: Descubrir las entidades</a:t>
              </a:r>
            </a:p>
            <a:p>
              <a:pPr marL="285750" indent="-285750">
                <a:buFont typeface="Arial" panose="020B0604020202020204" pitchFamily="34" charset="0"/>
                <a:buChar char="•"/>
              </a:pPr>
              <a:r>
                <a:rPr lang="es-CO" sz="2400" dirty="0"/>
                <a:t>Paso 1-2: Asignar atributos a cada entidad descubierta</a:t>
              </a:r>
            </a:p>
            <a:p>
              <a:pPr marL="285750" indent="-285750">
                <a:buFont typeface="Arial" panose="020B0604020202020204" pitchFamily="34" charset="0"/>
                <a:buChar char="•"/>
              </a:pPr>
              <a:r>
                <a:rPr lang="es-CO" sz="2400" dirty="0"/>
                <a:t>Paso 1-3: Seleccionar identificadores, claves y claves primarias de los atributos de cada entidad</a:t>
              </a:r>
            </a:p>
          </p:txBody>
        </p:sp>
      </p:grpSp>
    </p:spTree>
    <p:extLst>
      <p:ext uri="{BB962C8B-B14F-4D97-AF65-F5344CB8AC3E}">
        <p14:creationId xmlns:p14="http://schemas.microsoft.com/office/powerpoint/2010/main" val="2938131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3078C-DE50-D0CD-BB5B-7D0C782D486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421F0FF-BC02-6C7D-417C-93F829C68C38}"/>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C3E8C6B8-99D7-2914-1B54-47270AABED10}"/>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1798C99D-DC3C-2C2C-D7C0-D411B64D3AA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5752F03-1DC8-9788-90E0-A629A010971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7C881F6F-9A75-4C66-259B-FBD8311FA6A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3E050FCC-B448-7F3A-6317-5BF9435C2695}"/>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97C49959-779D-C0B3-FEC3-1440DBB05A39}"/>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1F561E8B-A3AA-3AB0-7D17-7868C7026E30}"/>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157891A-63A7-6538-6948-848C08150AE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ACA87E2B-2F7D-A323-17CF-1C8DCA032670}"/>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AC3A8311-AB44-2130-8433-D38B520D0B70}"/>
              </a:ext>
            </a:extLst>
          </p:cNvPr>
          <p:cNvSpPr txBox="1"/>
          <p:nvPr/>
        </p:nvSpPr>
        <p:spPr>
          <a:xfrm>
            <a:off x="2123388" y="968983"/>
            <a:ext cx="13828522" cy="7478970"/>
          </a:xfrm>
          <a:prstGeom prst="rect">
            <a:avLst/>
          </a:prstGeom>
          <a:noFill/>
        </p:spPr>
        <p:txBody>
          <a:bodyPr wrap="square">
            <a:spAutoFit/>
          </a:bodyPr>
          <a:lstStyle/>
          <a:p>
            <a:pPr>
              <a:buNone/>
            </a:pPr>
            <a:r>
              <a:rPr lang="es-ES" sz="3200" b="1" dirty="0"/>
              <a:t>El Concepto de "Identificador Único" (</a:t>
            </a:r>
            <a:r>
              <a:rPr lang="es-ES" sz="3200" b="1" dirty="0" err="1"/>
              <a:t>Primary</a:t>
            </a:r>
            <a:r>
              <a:rPr lang="es-ES" sz="3200" b="1" dirty="0"/>
              <a:t> Key)</a:t>
            </a:r>
          </a:p>
          <a:p>
            <a:pPr>
              <a:buNone/>
            </a:pPr>
            <a:endParaRPr lang="es-ES" sz="3200" b="1" dirty="0"/>
          </a:p>
          <a:p>
            <a:pPr>
              <a:buNone/>
            </a:pPr>
            <a:r>
              <a:rPr lang="es-ES" sz="3200" b="1" dirty="0"/>
              <a:t>La Regla de Oro de la Identidad</a:t>
            </a:r>
          </a:p>
          <a:p>
            <a:pPr>
              <a:buNone/>
            </a:pPr>
            <a:r>
              <a:rPr lang="es-ES" sz="3200" dirty="0"/>
              <a:t>Para que una base de datos sea relacional, cada fila debe ser única e inconfundible.</a:t>
            </a:r>
          </a:p>
          <a:p>
            <a:pPr>
              <a:buNone/>
            </a:pPr>
            <a:endParaRPr lang="es-ES" sz="3200" dirty="0"/>
          </a:p>
          <a:p>
            <a:pPr>
              <a:buFont typeface="Arial" panose="020B0604020202020204" pitchFamily="34" charset="0"/>
              <a:buChar char="•"/>
            </a:pPr>
            <a:r>
              <a:rPr lang="es-ES" sz="3200" b="1" dirty="0"/>
              <a:t>El Problema:</a:t>
            </a:r>
            <a:r>
              <a:rPr lang="es-ES" sz="3200" dirty="0"/>
              <a:t> Los nombres se repiten, las fechas se repiten.</a:t>
            </a:r>
          </a:p>
          <a:p>
            <a:pPr>
              <a:buFont typeface="Arial" panose="020B0604020202020204" pitchFamily="34" charset="0"/>
              <a:buChar char="•"/>
            </a:pPr>
            <a:r>
              <a:rPr lang="es-ES" sz="3200" b="1" dirty="0"/>
              <a:t>La Solución Técnica:</a:t>
            </a:r>
            <a:r>
              <a:rPr lang="es-ES" sz="3200" dirty="0"/>
              <a:t> Crear un atributo artificial (ID).</a:t>
            </a:r>
          </a:p>
          <a:p>
            <a:pPr>
              <a:buFont typeface="Arial" panose="020B0604020202020204" pitchFamily="34" charset="0"/>
              <a:buChar char="•"/>
            </a:pPr>
            <a:endParaRPr lang="es-ES" sz="3200" dirty="0"/>
          </a:p>
          <a:p>
            <a:pPr>
              <a:buFont typeface="Arial" panose="020B0604020202020204" pitchFamily="34" charset="0"/>
              <a:buChar char="•"/>
            </a:pPr>
            <a:r>
              <a:rPr lang="es-ES" sz="3200" b="1" dirty="0"/>
              <a:t>Caso de Estudio </a:t>
            </a:r>
            <a:r>
              <a:rPr lang="es-ES" sz="3200" b="1" dirty="0" err="1"/>
              <a:t>Olist</a:t>
            </a:r>
            <a:r>
              <a:rPr lang="es-ES" sz="3200" b="1" dirty="0"/>
              <a:t>:</a:t>
            </a:r>
            <a:endParaRPr lang="es-ES" sz="3200" dirty="0"/>
          </a:p>
          <a:p>
            <a:pPr marL="742950" lvl="1" indent="-285750">
              <a:buFont typeface="Arial" panose="020B0604020202020204" pitchFamily="34" charset="0"/>
              <a:buChar char="•"/>
            </a:pPr>
            <a:r>
              <a:rPr lang="es-ES" sz="3200" dirty="0"/>
              <a:t>Observamos el uso de </a:t>
            </a:r>
            <a:r>
              <a:rPr lang="es-ES" sz="3200" b="1" dirty="0" err="1"/>
              <a:t>UUIDs</a:t>
            </a:r>
            <a:r>
              <a:rPr lang="es-ES" sz="3200" dirty="0"/>
              <a:t> (</a:t>
            </a:r>
            <a:r>
              <a:rPr lang="es-ES" sz="3200" dirty="0" err="1"/>
              <a:t>Ej</a:t>
            </a:r>
            <a:r>
              <a:rPr lang="es-ES" sz="3200" dirty="0"/>
              <a:t>: </a:t>
            </a:r>
            <a:r>
              <a:rPr lang="es-ES" sz="3200" dirty="0">
                <a:latin typeface="Courier New" panose="02070309020205020404" pitchFamily="49" charset="0"/>
              </a:rPr>
              <a:t>e481f5...</a:t>
            </a:r>
            <a:r>
              <a:rPr lang="es-ES" sz="3200" dirty="0"/>
              <a:t>) en lugar de </a:t>
            </a:r>
            <a:r>
              <a:rPr lang="es-ES" sz="3200" dirty="0" err="1"/>
              <a:t>IDs</a:t>
            </a:r>
            <a:r>
              <a:rPr lang="es-ES" sz="3200" dirty="0"/>
              <a:t> numéricos (</a:t>
            </a:r>
            <a:r>
              <a:rPr lang="es-ES" sz="3200" dirty="0">
                <a:latin typeface="Courier New" panose="02070309020205020404" pitchFamily="49" charset="0"/>
              </a:rPr>
              <a:t>1, 2, 3</a:t>
            </a:r>
            <a:r>
              <a:rPr lang="es-ES" sz="3200" dirty="0"/>
              <a:t>).</a:t>
            </a:r>
          </a:p>
          <a:p>
            <a:pPr marL="742950" lvl="1" indent="-285750">
              <a:buFont typeface="Arial" panose="020B0604020202020204" pitchFamily="34" charset="0"/>
              <a:buChar char="•"/>
            </a:pPr>
            <a:r>
              <a:rPr lang="es-ES" sz="3200" i="1" dirty="0"/>
              <a:t>Análisis:</a:t>
            </a:r>
            <a:r>
              <a:rPr lang="es-ES" sz="3200" dirty="0"/>
              <a:t> Esto sugiere un sistema distribuido donde múltiples servidores generan pedidos simultáneamente y no pueden esperar a un contador centralizado.</a:t>
            </a:r>
          </a:p>
        </p:txBody>
      </p:sp>
    </p:spTree>
    <p:extLst>
      <p:ext uri="{BB962C8B-B14F-4D97-AF65-F5344CB8AC3E}">
        <p14:creationId xmlns:p14="http://schemas.microsoft.com/office/powerpoint/2010/main" val="933417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126D7-25FE-362B-1D3A-2A8BB95FBDB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1CC5DE-CB8A-CA1C-FB8E-5F3CFA98AC05}"/>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724E1BCD-3F50-2DD4-43AD-23AAD662BEE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26CDFB7-98C0-BCB9-73E8-D19F5B323F73}"/>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CA0EFEB-FC71-7829-880B-6C59C4B4266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3DEA410-2A7D-51A3-B6FF-38C635381C0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78EC96BE-79B2-8A51-4E52-A61AF30B7FB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8F65B321-B01F-9A4D-1E5F-A64B9D9B025A}"/>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1DF937D-A862-DE4C-9E97-28348ACDE8D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5A19A765-C69C-D9B0-BDB4-45D0FCAA903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B2D75AE0-D144-8F1F-B1D5-7A508E693A2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D4D43B30-87F2-1DB7-353E-06E15DE6469C}"/>
              </a:ext>
            </a:extLst>
          </p:cNvPr>
          <p:cNvSpPr txBox="1"/>
          <p:nvPr/>
        </p:nvSpPr>
        <p:spPr>
          <a:xfrm>
            <a:off x="1067584" y="474835"/>
            <a:ext cx="16579393" cy="8863965"/>
          </a:xfrm>
          <a:prstGeom prst="rect">
            <a:avLst/>
          </a:prstGeom>
          <a:noFill/>
        </p:spPr>
        <p:txBody>
          <a:bodyPr wrap="square">
            <a:spAutoFit/>
          </a:bodyPr>
          <a:lstStyle/>
          <a:p>
            <a:pPr>
              <a:buNone/>
            </a:pPr>
            <a:r>
              <a:rPr lang="es-ES" sz="2800" b="1" dirty="0"/>
              <a:t>Guía rápida para elegir llaves primarias (PK)</a:t>
            </a:r>
          </a:p>
          <a:p>
            <a:pPr>
              <a:buNone/>
            </a:pPr>
            <a:endParaRPr lang="es-ES" b="1" dirty="0"/>
          </a:p>
          <a:p>
            <a:pPr>
              <a:buNone/>
            </a:pPr>
            <a:endParaRPr lang="es-ES" b="1" dirty="0"/>
          </a:p>
          <a:p>
            <a:pPr>
              <a:buNone/>
            </a:pPr>
            <a:endParaRPr lang="es-ES" dirty="0"/>
          </a:p>
          <a:p>
            <a:pPr>
              <a:buNone/>
            </a:pPr>
            <a:r>
              <a:rPr lang="es-ES" sz="2000" b="1" dirty="0"/>
              <a:t>1. Qué debe cumplir una PK</a:t>
            </a:r>
            <a:endParaRPr lang="es-ES" sz="2000" dirty="0"/>
          </a:p>
          <a:p>
            <a:pPr marL="342900" indent="-342900">
              <a:buFont typeface="Arial" panose="020B0604020202020204" pitchFamily="34" charset="0"/>
              <a:buChar char="•"/>
            </a:pPr>
            <a:r>
              <a:rPr lang="es-ES" sz="2000" dirty="0"/>
              <a:t>Debe </a:t>
            </a:r>
            <a:r>
              <a:rPr lang="es-ES" sz="2000" b="1" dirty="0"/>
              <a:t>identificar de forma única</a:t>
            </a:r>
            <a:r>
              <a:rPr lang="es-ES" sz="2000" dirty="0"/>
              <a:t> cada fila.</a:t>
            </a:r>
          </a:p>
          <a:p>
            <a:pPr marL="342900" indent="-342900">
              <a:buFont typeface="Arial" panose="020B0604020202020204" pitchFamily="34" charset="0"/>
              <a:buChar char="•"/>
            </a:pPr>
            <a:r>
              <a:rPr lang="es-ES" sz="2000" dirty="0"/>
              <a:t>Debe ser </a:t>
            </a:r>
            <a:r>
              <a:rPr lang="es-ES" sz="2000" b="1" dirty="0"/>
              <a:t>NOT NULL</a:t>
            </a:r>
            <a:r>
              <a:rPr lang="es-ES" sz="2000" dirty="0"/>
              <a:t> y </a:t>
            </a:r>
            <a:r>
              <a:rPr lang="es-ES" sz="2000" b="1" dirty="0"/>
              <a:t>no cambiar en el tiempo</a:t>
            </a:r>
            <a:r>
              <a:rPr lang="es-ES" sz="2000" dirty="0"/>
              <a:t>.</a:t>
            </a:r>
          </a:p>
          <a:p>
            <a:pPr marL="342900" indent="-342900">
              <a:buFont typeface="Arial" panose="020B0604020202020204" pitchFamily="34" charset="0"/>
              <a:buChar char="•"/>
            </a:pPr>
            <a:r>
              <a:rPr lang="es-ES" sz="2000" dirty="0"/>
              <a:t>Mejor si es </a:t>
            </a:r>
            <a:r>
              <a:rPr lang="es-ES" sz="2000" b="1" dirty="0"/>
              <a:t>corta y simple</a:t>
            </a:r>
            <a:r>
              <a:rPr lang="es-ES" sz="2000" dirty="0"/>
              <a:t> (idealmente 1 columna, numérica).</a:t>
            </a:r>
          </a:p>
          <a:p>
            <a:pPr marL="342900" indent="-342900">
              <a:buFont typeface="Arial" panose="020B0604020202020204" pitchFamily="34" charset="0"/>
              <a:buChar char="•"/>
            </a:pPr>
            <a:r>
              <a:rPr lang="es-ES" sz="2000" dirty="0"/>
              <a:t>Debe ser </a:t>
            </a:r>
            <a:r>
              <a:rPr lang="es-ES" sz="2000" b="1" dirty="0"/>
              <a:t>independiente de reglas de negocio cambiantes</a:t>
            </a:r>
            <a:r>
              <a:rPr lang="es-ES" sz="2000" dirty="0"/>
              <a:t>.</a:t>
            </a:r>
          </a:p>
          <a:p>
            <a:pPr marL="342900" indent="-342900">
              <a:buFont typeface="Arial" panose="020B0604020202020204" pitchFamily="34" charset="0"/>
              <a:buChar char="•"/>
            </a:pPr>
            <a:endParaRPr lang="es-ES" sz="2000" dirty="0"/>
          </a:p>
          <a:p>
            <a:pPr>
              <a:buNone/>
            </a:pPr>
            <a:r>
              <a:rPr lang="es-ES" sz="2000" b="1" dirty="0"/>
              <a:t>2. Qué evitar como PK</a:t>
            </a:r>
            <a:endParaRPr lang="es-ES" sz="2000" dirty="0"/>
          </a:p>
          <a:p>
            <a:pPr marL="342900" indent="-342900">
              <a:buFont typeface="Arial" panose="020B0604020202020204" pitchFamily="34" charset="0"/>
              <a:buChar char="•"/>
            </a:pPr>
            <a:r>
              <a:rPr lang="es-ES" sz="2000" dirty="0"/>
              <a:t>Campos que puedan </a:t>
            </a:r>
            <a:r>
              <a:rPr lang="es-ES" sz="2000" b="1" dirty="0"/>
              <a:t>cambiar</a:t>
            </a:r>
            <a:r>
              <a:rPr lang="es-ES" sz="2000" dirty="0"/>
              <a:t>: correo, teléfono, dirección, estado del pedido.</a:t>
            </a:r>
          </a:p>
          <a:p>
            <a:pPr marL="342900" indent="-342900">
              <a:buFont typeface="Arial" panose="020B0604020202020204" pitchFamily="34" charset="0"/>
              <a:buChar char="•"/>
            </a:pPr>
            <a:r>
              <a:rPr lang="es-ES" sz="2000" dirty="0"/>
              <a:t>Campos </a:t>
            </a:r>
            <a:r>
              <a:rPr lang="es-ES" sz="2000" b="1" dirty="0"/>
              <a:t>largos</a:t>
            </a:r>
            <a:r>
              <a:rPr lang="es-ES" sz="2000" dirty="0"/>
              <a:t> o poco eficientes: descripciones, nombres completos, textos.</a:t>
            </a:r>
          </a:p>
          <a:p>
            <a:pPr marL="342900" indent="-342900">
              <a:buFont typeface="Arial" panose="020B0604020202020204" pitchFamily="34" charset="0"/>
              <a:buChar char="•"/>
            </a:pPr>
            <a:r>
              <a:rPr lang="es-ES" sz="2000" dirty="0"/>
              <a:t>Datos </a:t>
            </a:r>
            <a:r>
              <a:rPr lang="es-ES" sz="2000" b="1" dirty="0"/>
              <a:t>sensibles</a:t>
            </a:r>
            <a:r>
              <a:rPr lang="es-ES" sz="2000" dirty="0"/>
              <a:t>: número de documento, SSN, tarjeta de crédito, etc.</a:t>
            </a:r>
          </a:p>
          <a:p>
            <a:pPr marL="342900" indent="-342900">
              <a:buFont typeface="Arial" panose="020B0604020202020204" pitchFamily="34" charset="0"/>
              <a:buChar char="•"/>
            </a:pPr>
            <a:endParaRPr lang="es-ES" sz="2000" dirty="0"/>
          </a:p>
          <a:p>
            <a:pPr>
              <a:buNone/>
            </a:pPr>
            <a:r>
              <a:rPr lang="es-ES" sz="2000" b="1" dirty="0"/>
              <a:t>3. Natural </a:t>
            </a:r>
            <a:r>
              <a:rPr lang="es-ES" sz="2000" b="1" dirty="0" err="1"/>
              <a:t>key</a:t>
            </a:r>
            <a:r>
              <a:rPr lang="es-ES" sz="2000" b="1" dirty="0"/>
              <a:t> vs. </a:t>
            </a:r>
            <a:r>
              <a:rPr lang="es-ES" sz="2000" b="1" dirty="0" err="1"/>
              <a:t>Surrogate</a:t>
            </a:r>
            <a:r>
              <a:rPr lang="es-ES" sz="2000" b="1" dirty="0"/>
              <a:t> </a:t>
            </a:r>
            <a:r>
              <a:rPr lang="es-ES" sz="2000" b="1" dirty="0" err="1"/>
              <a:t>key</a:t>
            </a:r>
            <a:endParaRPr lang="es-ES" sz="2000" dirty="0"/>
          </a:p>
          <a:p>
            <a:pPr marL="342900" indent="-342900">
              <a:buFont typeface="Arial" panose="020B0604020202020204" pitchFamily="34" charset="0"/>
              <a:buChar char="•"/>
            </a:pPr>
            <a:r>
              <a:rPr lang="es-ES" sz="2000" b="1" dirty="0"/>
              <a:t>Natural </a:t>
            </a:r>
            <a:r>
              <a:rPr lang="es-ES" sz="2000" b="1" dirty="0" err="1"/>
              <a:t>key</a:t>
            </a:r>
            <a:endParaRPr lang="es-ES" sz="2000" dirty="0"/>
          </a:p>
          <a:p>
            <a:pPr marL="800100" lvl="1" indent="-342900">
              <a:buFont typeface="Arial" panose="020B0604020202020204" pitchFamily="34" charset="0"/>
              <a:buChar char="•"/>
            </a:pPr>
            <a:r>
              <a:rPr lang="es-ES" sz="2000" dirty="0"/>
              <a:t>Viene del negocio: NIT, código de producto, placa del vehículo.</a:t>
            </a:r>
          </a:p>
          <a:p>
            <a:pPr marL="800100" lvl="1" indent="-342900">
              <a:buFont typeface="Arial" panose="020B0604020202020204" pitchFamily="34" charset="0"/>
              <a:buChar char="•"/>
            </a:pPr>
            <a:r>
              <a:rPr lang="es-ES" sz="2000" dirty="0"/>
              <a:t>Úsala cuando sea realmente </a:t>
            </a:r>
            <a:r>
              <a:rPr lang="es-ES" sz="2000" b="1" dirty="0"/>
              <a:t>única, estable y conocida por los usuarios</a:t>
            </a:r>
            <a:r>
              <a:rPr lang="es-ES" sz="2000" dirty="0"/>
              <a:t>.</a:t>
            </a:r>
          </a:p>
          <a:p>
            <a:pPr marL="342900" indent="-342900">
              <a:buFont typeface="Arial" panose="020B0604020202020204" pitchFamily="34" charset="0"/>
              <a:buChar char="•"/>
            </a:pPr>
            <a:r>
              <a:rPr lang="es-ES" sz="2000" b="1" dirty="0" err="1"/>
              <a:t>Surrogate</a:t>
            </a:r>
            <a:r>
              <a:rPr lang="es-ES" sz="2000" b="1" dirty="0"/>
              <a:t> </a:t>
            </a:r>
            <a:r>
              <a:rPr lang="es-ES" sz="2000" b="1" dirty="0" err="1"/>
              <a:t>key</a:t>
            </a:r>
            <a:r>
              <a:rPr lang="es-ES" sz="2000" dirty="0"/>
              <a:t> (artificial: </a:t>
            </a:r>
            <a:r>
              <a:rPr lang="es-ES" sz="2000" dirty="0">
                <a:latin typeface="Courier New" panose="02070309020205020404" pitchFamily="49" charset="0"/>
              </a:rPr>
              <a:t>id</a:t>
            </a:r>
            <a:r>
              <a:rPr lang="es-ES" sz="2000" dirty="0"/>
              <a:t> </a:t>
            </a:r>
            <a:r>
              <a:rPr lang="es-ES" sz="2000" dirty="0" err="1"/>
              <a:t>autoincremental</a:t>
            </a:r>
            <a:r>
              <a:rPr lang="es-ES" sz="2000" dirty="0"/>
              <a:t> o UUID)</a:t>
            </a:r>
          </a:p>
          <a:p>
            <a:pPr marL="800100" lvl="1" indent="-342900">
              <a:buFont typeface="Arial" panose="020B0604020202020204" pitchFamily="34" charset="0"/>
              <a:buChar char="•"/>
            </a:pPr>
            <a:r>
              <a:rPr lang="es-ES" sz="2000" dirty="0"/>
              <a:t>No tiene significado de negocio.</a:t>
            </a:r>
          </a:p>
          <a:p>
            <a:pPr marL="800100" lvl="1" indent="-342900">
              <a:buFont typeface="Arial" panose="020B0604020202020204" pitchFamily="34" charset="0"/>
              <a:buChar char="•"/>
            </a:pPr>
            <a:r>
              <a:rPr lang="es-ES" sz="2000" dirty="0"/>
              <a:t>Ideal cuando </a:t>
            </a:r>
            <a:r>
              <a:rPr lang="es-ES" sz="2000" b="1" dirty="0"/>
              <a:t>no hay</a:t>
            </a:r>
            <a:r>
              <a:rPr lang="es-ES" sz="2000" dirty="0"/>
              <a:t> un identificador de negocio perfecto o cuando sería muy complejo.</a:t>
            </a:r>
          </a:p>
          <a:p>
            <a:pPr marL="800100" lvl="1" indent="-342900">
              <a:buFont typeface="Arial" panose="020B0604020202020204" pitchFamily="34" charset="0"/>
              <a:buChar char="•"/>
            </a:pPr>
            <a:endParaRPr lang="es-ES" sz="2000" dirty="0"/>
          </a:p>
          <a:p>
            <a:pPr>
              <a:buNone/>
            </a:pPr>
            <a:r>
              <a:rPr lang="es-ES" sz="2000" b="1" dirty="0"/>
              <a:t>4. Reglas prácticas</a:t>
            </a:r>
            <a:endParaRPr lang="es-ES" sz="2000" dirty="0"/>
          </a:p>
          <a:p>
            <a:pPr marL="342900" indent="-342900">
              <a:buFont typeface="Arial" panose="020B0604020202020204" pitchFamily="34" charset="0"/>
              <a:buChar char="•"/>
            </a:pPr>
            <a:r>
              <a:rPr lang="es-ES" sz="2000" dirty="0"/>
              <a:t>Si existe un identificador de negocio </a:t>
            </a:r>
            <a:r>
              <a:rPr lang="es-ES" sz="2000" b="1" dirty="0"/>
              <a:t>único, estable y no sensible</a:t>
            </a:r>
            <a:r>
              <a:rPr lang="es-ES" sz="2000" dirty="0"/>
              <a:t>, puede ser PK.</a:t>
            </a:r>
          </a:p>
          <a:p>
            <a:pPr marL="342900" indent="-342900">
              <a:buFont typeface="Arial" panose="020B0604020202020204" pitchFamily="34" charset="0"/>
              <a:buChar char="•"/>
            </a:pPr>
            <a:r>
              <a:rPr lang="es-ES" sz="2000" dirty="0"/>
              <a:t>Si hay dudas, crea una PK artificial (</a:t>
            </a:r>
            <a:r>
              <a:rPr lang="es-ES" sz="2000" dirty="0" err="1">
                <a:latin typeface="Courier New" panose="02070309020205020404" pitchFamily="49" charset="0"/>
              </a:rPr>
              <a:t>EmployeeID</a:t>
            </a:r>
            <a:r>
              <a:rPr lang="es-ES" sz="2000" dirty="0"/>
              <a:t>, </a:t>
            </a:r>
            <a:r>
              <a:rPr lang="es-ES" sz="2000" dirty="0" err="1">
                <a:latin typeface="Courier New" panose="02070309020205020404" pitchFamily="49" charset="0"/>
              </a:rPr>
              <a:t>CourseID</a:t>
            </a:r>
            <a:r>
              <a:rPr lang="es-ES" sz="2000" dirty="0"/>
              <a:t>, </a:t>
            </a:r>
            <a:r>
              <a:rPr lang="es-ES" sz="2000" dirty="0" err="1">
                <a:latin typeface="Courier New" panose="02070309020205020404" pitchFamily="49" charset="0"/>
              </a:rPr>
              <a:t>RepairJobID</a:t>
            </a:r>
            <a:r>
              <a:rPr lang="es-ES" sz="2000" dirty="0"/>
              <a:t>) y deja el identificador de negocio como </a:t>
            </a:r>
            <a:r>
              <a:rPr lang="es-ES" sz="2000" dirty="0">
                <a:latin typeface="Courier New" panose="02070309020205020404" pitchFamily="49" charset="0"/>
              </a:rPr>
              <a:t>UNIQUE</a:t>
            </a:r>
            <a:r>
              <a:rPr lang="es-ES" sz="2000" dirty="0"/>
              <a:t>.</a:t>
            </a:r>
          </a:p>
          <a:p>
            <a:pPr marL="342900" indent="-342900">
              <a:buFont typeface="Arial" panose="020B0604020202020204" pitchFamily="34" charset="0"/>
              <a:buChar char="•"/>
            </a:pPr>
            <a:r>
              <a:rPr lang="es-ES" sz="2000" dirty="0"/>
              <a:t>En tablas de relación muchos-a-muchos, usa:</a:t>
            </a:r>
          </a:p>
          <a:p>
            <a:pPr marL="800100" lvl="1" indent="-342900">
              <a:buFont typeface="Arial" panose="020B0604020202020204" pitchFamily="34" charset="0"/>
              <a:buChar char="•"/>
            </a:pPr>
            <a:r>
              <a:rPr lang="es-ES" sz="2000" dirty="0"/>
              <a:t>PK compuesta (</a:t>
            </a:r>
            <a:r>
              <a:rPr lang="es-ES" sz="2000" dirty="0" err="1">
                <a:latin typeface="Courier New" panose="02070309020205020404" pitchFamily="49" charset="0"/>
              </a:rPr>
              <a:t>StudentID</a:t>
            </a:r>
            <a:r>
              <a:rPr lang="es-ES" sz="2000" dirty="0"/>
              <a:t>, </a:t>
            </a:r>
            <a:r>
              <a:rPr lang="es-ES" sz="2000" dirty="0" err="1">
                <a:latin typeface="Courier New" panose="02070309020205020404" pitchFamily="49" charset="0"/>
              </a:rPr>
              <a:t>CourseID</a:t>
            </a:r>
            <a:r>
              <a:rPr lang="es-ES" sz="2000" dirty="0"/>
              <a:t>)</a:t>
            </a:r>
          </a:p>
          <a:p>
            <a:pPr marL="800100" lvl="1" indent="-342900">
              <a:buFont typeface="Arial" panose="020B0604020202020204" pitchFamily="34" charset="0"/>
              <a:buChar char="•"/>
            </a:pPr>
            <a:r>
              <a:rPr lang="es-ES" sz="2000" dirty="0"/>
              <a:t>o un </a:t>
            </a:r>
            <a:r>
              <a:rPr lang="es-ES" sz="2000" dirty="0">
                <a:latin typeface="Courier New" panose="02070309020205020404" pitchFamily="49" charset="0"/>
              </a:rPr>
              <a:t>ID</a:t>
            </a:r>
            <a:r>
              <a:rPr lang="es-ES" sz="2000" dirty="0"/>
              <a:t> artificial y un índice </a:t>
            </a:r>
            <a:r>
              <a:rPr lang="es-ES" sz="2000" dirty="0">
                <a:latin typeface="Courier New" panose="02070309020205020404" pitchFamily="49" charset="0"/>
              </a:rPr>
              <a:t>UNIQUE (</a:t>
            </a:r>
            <a:r>
              <a:rPr lang="es-ES" sz="2000" dirty="0" err="1">
                <a:latin typeface="Courier New" panose="02070309020205020404" pitchFamily="49" charset="0"/>
              </a:rPr>
              <a:t>StudentID</a:t>
            </a:r>
            <a:r>
              <a:rPr lang="es-ES" sz="2000" dirty="0">
                <a:latin typeface="Courier New" panose="02070309020205020404" pitchFamily="49" charset="0"/>
              </a:rPr>
              <a:t>, </a:t>
            </a:r>
            <a:r>
              <a:rPr lang="es-ES" sz="2000" dirty="0" err="1">
                <a:latin typeface="Courier New" panose="02070309020205020404" pitchFamily="49" charset="0"/>
              </a:rPr>
              <a:t>CourseID</a:t>
            </a:r>
            <a:r>
              <a:rPr lang="es-ES" sz="2000" dirty="0">
                <a:latin typeface="Courier New" panose="02070309020205020404" pitchFamily="49" charset="0"/>
              </a:rPr>
              <a:t>)</a:t>
            </a:r>
            <a:r>
              <a:rPr lang="es-ES" sz="2000" dirty="0"/>
              <a:t>.</a:t>
            </a:r>
            <a:endParaRPr lang="es-ES" sz="2400" dirty="0"/>
          </a:p>
        </p:txBody>
      </p:sp>
    </p:spTree>
    <p:extLst>
      <p:ext uri="{BB962C8B-B14F-4D97-AF65-F5344CB8AC3E}">
        <p14:creationId xmlns:p14="http://schemas.microsoft.com/office/powerpoint/2010/main" val="3899245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577FF-D3D7-F0FA-6154-159EA09D1D1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1269D96-8835-8AEB-D4FC-51197EA8DD87}"/>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7625E06-7CDE-688B-7AA3-316DB9C23519}"/>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4CA894A9-E801-83B7-D483-ADA9644296EB}"/>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2813D324-4795-380E-0EED-BCED75E0ED2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2BE726CD-2A37-3913-C5D8-AC1DE3D7055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D4E9D7A-9F46-6B85-1DB6-E15915B9C2F9}"/>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DBD1BC39-ECD8-D466-701B-6A691CEF653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E18D8E0-0D43-E2AC-957A-1FDC2F14969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E4E1FD4-BA31-1741-6D3C-E49687093F9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CC742859-4694-8CD7-3675-A0BFAF9B980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392E8A85-9D7D-25C9-7103-64A4C8CC48E7}"/>
              </a:ext>
            </a:extLst>
          </p:cNvPr>
          <p:cNvSpPr txBox="1"/>
          <p:nvPr/>
        </p:nvSpPr>
        <p:spPr>
          <a:xfrm>
            <a:off x="4508369" y="4917732"/>
            <a:ext cx="9186420" cy="2585323"/>
          </a:xfrm>
          <a:prstGeom prst="rect">
            <a:avLst/>
          </a:prstGeom>
          <a:noFill/>
        </p:spPr>
        <p:txBody>
          <a:bodyPr wrap="square">
            <a:spAutoFit/>
          </a:bodyPr>
          <a:lstStyle/>
          <a:p>
            <a:pPr algn="ctr"/>
            <a:r>
              <a:rPr lang="es-CO" sz="5400" b="1" dirty="0"/>
              <a:t>Paso 2:</a:t>
            </a:r>
          </a:p>
          <a:p>
            <a:pPr algn="ctr"/>
            <a:r>
              <a:rPr lang="es-CO" sz="5400" b="1" dirty="0"/>
              <a:t>Derivar relaciones unarias y binarias</a:t>
            </a:r>
          </a:p>
        </p:txBody>
      </p:sp>
    </p:spTree>
    <p:extLst>
      <p:ext uri="{BB962C8B-B14F-4D97-AF65-F5344CB8AC3E}">
        <p14:creationId xmlns:p14="http://schemas.microsoft.com/office/powerpoint/2010/main" val="710583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9670E-BC6E-629A-BA98-1531FEE838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A6D7063-8C48-620C-79BE-479DD7EB8BF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7A580F0-C7F9-F65C-9FCF-0129C5830DF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22B548E-EB49-655C-2A0B-93E585B588D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F72599E9-CC9D-FC95-8508-944E6CDB1B4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67EC5A85-191D-3D40-B391-5B70FC4EE7A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7FD5E078-3E97-9717-4A5B-D81BBAA68BC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97A7F884-36A4-079A-7A99-65D96BAE87E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56A6370-F58C-1DD6-BAC4-8ECF0E2031AD}"/>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AFF6D44D-52EF-0232-165B-FAE5AB849F3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D45E710-533C-4A12-7712-C8383A27CE5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2B532605-7B4E-5C54-17EC-7DFA62D8BA67}"/>
              </a:ext>
            </a:extLst>
          </p:cNvPr>
          <p:cNvGraphicFramePr>
            <a:graphicFrameLocks noGrp="1"/>
          </p:cNvGraphicFramePr>
          <p:nvPr>
            <p:extLst>
              <p:ext uri="{D42A27DB-BD31-4B8C-83A1-F6EECF244321}">
                <p14:modId xmlns:p14="http://schemas.microsoft.com/office/powerpoint/2010/main" val="956816788"/>
              </p:ext>
            </p:extLst>
          </p:nvPr>
        </p:nvGraphicFramePr>
        <p:xfrm>
          <a:off x="2205872" y="2563850"/>
          <a:ext cx="13876255" cy="5646897"/>
        </p:xfrm>
        <a:graphic>
          <a:graphicData uri="http://schemas.openxmlformats.org/drawingml/2006/table">
            <a:tbl>
              <a:tblPr/>
              <a:tblGrid>
                <a:gridCol w="2775251">
                  <a:extLst>
                    <a:ext uri="{9D8B030D-6E8A-4147-A177-3AD203B41FA5}">
                      <a16:colId xmlns:a16="http://schemas.microsoft.com/office/drawing/2014/main" val="1881698810"/>
                    </a:ext>
                  </a:extLst>
                </a:gridCol>
                <a:gridCol w="2775251">
                  <a:extLst>
                    <a:ext uri="{9D8B030D-6E8A-4147-A177-3AD203B41FA5}">
                      <a16:colId xmlns:a16="http://schemas.microsoft.com/office/drawing/2014/main" val="1948886594"/>
                    </a:ext>
                  </a:extLst>
                </a:gridCol>
                <a:gridCol w="2775251">
                  <a:extLst>
                    <a:ext uri="{9D8B030D-6E8A-4147-A177-3AD203B41FA5}">
                      <a16:colId xmlns:a16="http://schemas.microsoft.com/office/drawing/2014/main" val="2042585261"/>
                    </a:ext>
                  </a:extLst>
                </a:gridCol>
                <a:gridCol w="2775251">
                  <a:extLst>
                    <a:ext uri="{9D8B030D-6E8A-4147-A177-3AD203B41FA5}">
                      <a16:colId xmlns:a16="http://schemas.microsoft.com/office/drawing/2014/main" val="853299245"/>
                    </a:ext>
                  </a:extLst>
                </a:gridCol>
                <a:gridCol w="2775251">
                  <a:extLst>
                    <a:ext uri="{9D8B030D-6E8A-4147-A177-3AD203B41FA5}">
                      <a16:colId xmlns:a16="http://schemas.microsoft.com/office/drawing/2014/main" val="626683672"/>
                    </a:ext>
                  </a:extLst>
                </a:gridCol>
              </a:tblGrid>
              <a:tr h="1549149">
                <a:tc>
                  <a:txBody>
                    <a:bodyPr/>
                    <a:lstStyle/>
                    <a:p>
                      <a:pPr>
                        <a:buNone/>
                      </a:pPr>
                      <a:r>
                        <a:rPr lang="es-CO" sz="2800" dirty="0"/>
                        <a:t>ENTIDAD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err="1"/>
                        <a:t>Customer</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Product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Seller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2549566"/>
                  </a:ext>
                </a:extLst>
              </a:tr>
              <a:tr h="1549149">
                <a:tc>
                  <a:txBody>
                    <a:bodyPr/>
                    <a:lstStyle/>
                    <a:p>
                      <a:pPr>
                        <a:buNone/>
                      </a:pPr>
                      <a:r>
                        <a:rPr lang="es-CO" sz="2800" b="1"/>
                        <a:t>Customer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dirty="0"/>
                        <a:t>?</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9772883"/>
                  </a:ext>
                </a:extLst>
              </a:tr>
              <a:tr h="849533">
                <a:tc>
                  <a:txBody>
                    <a:bodyPr/>
                    <a:lstStyle/>
                    <a:p>
                      <a:pPr>
                        <a:buNone/>
                      </a:pPr>
                      <a:r>
                        <a:rPr lang="es-CO" sz="2800" b="1"/>
                        <a:t>Order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7537255"/>
                  </a:ext>
                </a:extLst>
              </a:tr>
              <a:tr h="849533">
                <a:tc>
                  <a:txBody>
                    <a:bodyPr/>
                    <a:lstStyle/>
                    <a:p>
                      <a:pPr>
                        <a:buNone/>
                      </a:pPr>
                      <a:r>
                        <a:rPr lang="es-CO" sz="2800" b="1"/>
                        <a:t>Product</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0183457"/>
                  </a:ext>
                </a:extLst>
              </a:tr>
              <a:tr h="849533">
                <a:tc>
                  <a:txBody>
                    <a:bodyPr/>
                    <a:lstStyle/>
                    <a:p>
                      <a:pPr>
                        <a:buNone/>
                      </a:pPr>
                      <a:r>
                        <a:rPr lang="es-CO" sz="2800" b="1"/>
                        <a:t>Seller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5398139"/>
                  </a:ext>
                </a:extLst>
              </a:tr>
            </a:tbl>
          </a:graphicData>
        </a:graphic>
      </p:graphicFrame>
      <p:sp>
        <p:nvSpPr>
          <p:cNvPr id="13" name="Rectangle 1">
            <a:extLst>
              <a:ext uri="{FF2B5EF4-FFF2-40B4-BE49-F238E27FC236}">
                <a16:creationId xmlns:a16="http://schemas.microsoft.com/office/drawing/2014/main" id="{730E3269-B07D-AED4-45AC-D4F13BAA4326}"/>
              </a:ext>
            </a:extLst>
          </p:cNvPr>
          <p:cNvSpPr>
            <a:spLocks noChangeArrowheads="1"/>
          </p:cNvSpPr>
          <p:nvPr/>
        </p:nvSpPr>
        <p:spPr bwMode="auto">
          <a:xfrm>
            <a:off x="1300278" y="760385"/>
            <a:ext cx="1424139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600" b="1" i="0" u="none" strike="noStrike" cap="none" normalizeH="0" baseline="0" dirty="0">
                <a:ln>
                  <a:noFill/>
                </a:ln>
                <a:solidFill>
                  <a:schemeClr val="tx1"/>
                </a:solidFill>
                <a:effectLst/>
                <a:latin typeface="Arial" panose="020B0604020202020204" pitchFamily="34" charset="0"/>
              </a:rPr>
              <a:t>La Matriz de Relaciones (El </a:t>
            </a:r>
            <a:r>
              <a:rPr kumimoji="0" lang="es-CO" altLang="es-CO" sz="3600" b="1" i="0" u="none" strike="noStrike" cap="none" normalizeH="0" baseline="0" dirty="0" err="1">
                <a:ln>
                  <a:noFill/>
                </a:ln>
                <a:solidFill>
                  <a:schemeClr val="tx1"/>
                </a:solidFill>
                <a:effectLst/>
                <a:latin typeface="Arial" panose="020B0604020202020204" pitchFamily="34" charset="0"/>
              </a:rPr>
              <a:t>Grid</a:t>
            </a:r>
            <a:r>
              <a:rPr kumimoji="0" lang="es-CO" altLang="es-CO" sz="36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0" i="0" u="none" strike="noStrike" cap="none" normalizeH="0" baseline="0" dirty="0">
                <a:ln>
                  <a:noFill/>
                </a:ln>
                <a:solidFill>
                  <a:schemeClr val="tx1"/>
                </a:solidFill>
                <a:effectLst/>
                <a:latin typeface="Arial" panose="020B0604020202020204" pitchFamily="34" charset="0"/>
              </a:rPr>
              <a:t>Construimos una tabla con las entidades en ambos ejes (X e Y) para asegurar que no olvidamos nada.</a:t>
            </a:r>
            <a:endParaRPr kumimoji="0" lang="es-CO" altLang="es-CO" sz="5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44573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0BC66-ACF4-BA62-7BE8-15E2D8FF115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20F8EE1-651C-B7CD-BDCC-2269182C03D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A2899F8-C884-BE77-618E-39E04200664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09C41886-5158-9A4B-0434-A6FD053BD5C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4D2C17E-59C9-94B3-D38F-390BECA7CB2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C808FC4A-95A0-7CA0-1931-3987700F6C3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9730C57F-9F55-7470-6620-C2477A240E7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E02DDC5-99BE-4F15-03C2-D05984A0B27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B7AA00EC-BA37-8548-33ED-B09A1F767D3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B6F2E5F5-56CB-C497-3147-3D9033690BE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2173D3B-BC73-814D-749B-F2E900E9AD1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67F9CDCD-8CE8-5050-D7BF-0CC3B87978D7}"/>
              </a:ext>
            </a:extLst>
          </p:cNvPr>
          <p:cNvSpPr txBox="1"/>
          <p:nvPr/>
        </p:nvSpPr>
        <p:spPr>
          <a:xfrm>
            <a:off x="1501218" y="763222"/>
            <a:ext cx="14844859" cy="7848302"/>
          </a:xfrm>
          <a:prstGeom prst="rect">
            <a:avLst/>
          </a:prstGeom>
          <a:noFill/>
        </p:spPr>
        <p:txBody>
          <a:bodyPr wrap="square">
            <a:spAutoFit/>
          </a:bodyPr>
          <a:lstStyle/>
          <a:p>
            <a:pPr>
              <a:buNone/>
            </a:pPr>
            <a:r>
              <a:rPr lang="es-ES" sz="2800" b="1" dirty="0"/>
              <a:t>Llenando la Matriz: Análisis del Caso </a:t>
            </a:r>
            <a:r>
              <a:rPr lang="es-ES" sz="2800" b="1" dirty="0" err="1"/>
              <a:t>Olist</a:t>
            </a:r>
            <a:endParaRPr lang="es-ES" sz="2800" b="1" dirty="0"/>
          </a:p>
          <a:p>
            <a:pPr>
              <a:buNone/>
            </a:pPr>
            <a:endParaRPr lang="es-ES" sz="2800" b="1" dirty="0"/>
          </a:p>
          <a:p>
            <a:pPr>
              <a:buNone/>
            </a:pPr>
            <a:endParaRPr lang="es-ES" sz="2800" dirty="0"/>
          </a:p>
          <a:p>
            <a:pPr>
              <a:buNone/>
            </a:pPr>
            <a:r>
              <a:rPr lang="es-ES" sz="2800" b="1" dirty="0"/>
              <a:t>Cruce 1: </a:t>
            </a:r>
            <a:r>
              <a:rPr lang="es-ES" sz="2800" b="1" dirty="0" err="1"/>
              <a:t>Customer</a:t>
            </a:r>
            <a:r>
              <a:rPr lang="es-ES" sz="2800" b="1" dirty="0"/>
              <a:t> vs </a:t>
            </a:r>
            <a:r>
              <a:rPr lang="es-ES" sz="2800" b="1" dirty="0" err="1"/>
              <a:t>Order</a:t>
            </a:r>
            <a:endParaRPr lang="es-ES" sz="2800" b="1" dirty="0"/>
          </a:p>
          <a:p>
            <a:pPr>
              <a:buFont typeface="Arial" panose="020B0604020202020204" pitchFamily="34" charset="0"/>
              <a:buChar char="•"/>
            </a:pPr>
            <a:r>
              <a:rPr lang="es-ES" sz="2800" i="1" dirty="0"/>
              <a:t>Pregunta:</a:t>
            </a:r>
            <a:r>
              <a:rPr lang="es-ES" sz="2800" dirty="0"/>
              <a:t> ¿Un cliente puede tener órdenes? </a:t>
            </a:r>
            <a:r>
              <a:rPr lang="es-ES" sz="2800" b="1" dirty="0"/>
              <a:t>SÍ</a:t>
            </a:r>
            <a:r>
              <a:rPr lang="es-ES" sz="2800" dirty="0"/>
              <a:t>.</a:t>
            </a:r>
          </a:p>
          <a:p>
            <a:pPr>
              <a:buFont typeface="Arial" panose="020B0604020202020204" pitchFamily="34" charset="0"/>
              <a:buChar char="•"/>
            </a:pPr>
            <a:r>
              <a:rPr lang="es-ES" sz="2800" i="1" dirty="0"/>
              <a:t>Pregunta:</a:t>
            </a:r>
            <a:r>
              <a:rPr lang="es-ES" sz="2800" dirty="0"/>
              <a:t> ¿Una orden es de muchos clientes? </a:t>
            </a:r>
            <a:r>
              <a:rPr lang="es-ES" sz="2800" b="1" dirty="0"/>
              <a:t>NO</a:t>
            </a:r>
            <a:r>
              <a:rPr lang="es-ES" sz="2800" dirty="0"/>
              <a:t>.</a:t>
            </a:r>
          </a:p>
          <a:p>
            <a:pPr>
              <a:buFont typeface="Arial" panose="020B0604020202020204" pitchFamily="34" charset="0"/>
              <a:buChar char="•"/>
            </a:pPr>
            <a:r>
              <a:rPr lang="es-ES" sz="2800" b="1" dirty="0"/>
              <a:t>Resultado:</a:t>
            </a:r>
            <a:r>
              <a:rPr lang="es-ES" sz="2800" dirty="0"/>
              <a:t> Relación </a:t>
            </a:r>
            <a:r>
              <a:rPr lang="es-ES" sz="2800" b="1" dirty="0"/>
              <a:t>1:N</a:t>
            </a:r>
            <a:r>
              <a:rPr lang="es-ES" sz="2800" dirty="0"/>
              <a:t> (Uno a Muchos).</a:t>
            </a:r>
          </a:p>
          <a:p>
            <a:pPr>
              <a:buFont typeface="Arial" panose="020B0604020202020204" pitchFamily="34" charset="0"/>
              <a:buChar char="•"/>
            </a:pPr>
            <a:endParaRPr lang="es-ES" sz="2800" dirty="0"/>
          </a:p>
          <a:p>
            <a:pPr>
              <a:buNone/>
            </a:pPr>
            <a:r>
              <a:rPr lang="es-ES" sz="2800" b="1" dirty="0"/>
              <a:t>Cruce 2: </a:t>
            </a:r>
            <a:r>
              <a:rPr lang="es-ES" sz="2800" b="1" dirty="0" err="1"/>
              <a:t>Order</a:t>
            </a:r>
            <a:r>
              <a:rPr lang="es-ES" sz="2800" b="1" dirty="0"/>
              <a:t> vs </a:t>
            </a:r>
            <a:r>
              <a:rPr lang="es-ES" sz="2800" b="1" dirty="0" err="1"/>
              <a:t>Product</a:t>
            </a:r>
            <a:endParaRPr lang="es-ES" sz="2800" b="1" dirty="0"/>
          </a:p>
          <a:p>
            <a:pPr>
              <a:buFont typeface="Arial" panose="020B0604020202020204" pitchFamily="34" charset="0"/>
              <a:buChar char="•"/>
            </a:pPr>
            <a:r>
              <a:rPr lang="es-ES" sz="2800" i="1" dirty="0"/>
              <a:t>Pregunta:</a:t>
            </a:r>
            <a:r>
              <a:rPr lang="es-ES" sz="2800" dirty="0"/>
              <a:t> ¿Una orden tiene productos? </a:t>
            </a:r>
            <a:r>
              <a:rPr lang="es-ES" sz="2800" b="1" dirty="0"/>
              <a:t>SÍ</a:t>
            </a:r>
            <a:r>
              <a:rPr lang="es-ES" sz="2800" dirty="0"/>
              <a:t> (Muchos).</a:t>
            </a:r>
          </a:p>
          <a:p>
            <a:pPr>
              <a:buFont typeface="Arial" panose="020B0604020202020204" pitchFamily="34" charset="0"/>
              <a:buChar char="•"/>
            </a:pPr>
            <a:r>
              <a:rPr lang="es-ES" sz="2800" i="1" dirty="0"/>
              <a:t>Pregunta:</a:t>
            </a:r>
            <a:r>
              <a:rPr lang="es-ES" sz="2800" dirty="0"/>
              <a:t> ¿Un producto (</a:t>
            </a:r>
            <a:r>
              <a:rPr lang="es-ES" sz="2800" dirty="0" err="1"/>
              <a:t>ej</a:t>
            </a:r>
            <a:r>
              <a:rPr lang="es-ES" sz="2800" dirty="0"/>
              <a:t>: "Reloj X") está en muchas órdenes? </a:t>
            </a:r>
            <a:r>
              <a:rPr lang="es-ES" sz="2800" b="1" dirty="0"/>
              <a:t>SÍ</a:t>
            </a:r>
            <a:r>
              <a:rPr lang="es-ES" sz="2800" dirty="0"/>
              <a:t>.</a:t>
            </a:r>
          </a:p>
          <a:p>
            <a:pPr>
              <a:buFont typeface="Arial" panose="020B0604020202020204" pitchFamily="34" charset="0"/>
              <a:buChar char="•"/>
            </a:pPr>
            <a:r>
              <a:rPr lang="es-ES" sz="2800" b="1" dirty="0"/>
              <a:t>Resultado:</a:t>
            </a:r>
            <a:r>
              <a:rPr lang="es-ES" sz="2800" dirty="0"/>
              <a:t> Relación </a:t>
            </a:r>
            <a:r>
              <a:rPr lang="es-ES" sz="2800" b="1" dirty="0"/>
              <a:t>M:N</a:t>
            </a:r>
            <a:r>
              <a:rPr lang="es-ES" sz="2800" dirty="0"/>
              <a:t> (Muchos a Muchos).</a:t>
            </a:r>
          </a:p>
          <a:p>
            <a:pPr>
              <a:buFont typeface="Arial" panose="020B0604020202020204" pitchFamily="34" charset="0"/>
              <a:buChar char="•"/>
            </a:pPr>
            <a:endParaRPr lang="es-ES" sz="2800" dirty="0"/>
          </a:p>
          <a:p>
            <a:pPr>
              <a:buNone/>
            </a:pPr>
            <a:r>
              <a:rPr lang="es-ES" sz="2800" b="1" dirty="0"/>
              <a:t>Cruce 3: </a:t>
            </a:r>
            <a:r>
              <a:rPr lang="es-ES" sz="2800" b="1" dirty="0" err="1"/>
              <a:t>Customer</a:t>
            </a:r>
            <a:r>
              <a:rPr lang="es-ES" sz="2800" b="1" dirty="0"/>
              <a:t> vs </a:t>
            </a:r>
            <a:r>
              <a:rPr lang="es-ES" sz="2800" b="1" dirty="0" err="1"/>
              <a:t>Seller</a:t>
            </a:r>
            <a:endParaRPr lang="es-ES" sz="2800" b="1" dirty="0"/>
          </a:p>
          <a:p>
            <a:pPr>
              <a:buFont typeface="Arial" panose="020B0604020202020204" pitchFamily="34" charset="0"/>
              <a:buChar char="•"/>
            </a:pPr>
            <a:r>
              <a:rPr lang="es-ES" sz="2800" i="1" dirty="0"/>
              <a:t>Pregunta:</a:t>
            </a:r>
            <a:r>
              <a:rPr lang="es-ES" sz="2800" dirty="0"/>
              <a:t> ¿Un cliente compra directamente al vendedor?</a:t>
            </a:r>
          </a:p>
          <a:p>
            <a:pPr>
              <a:buFont typeface="Arial" panose="020B0604020202020204" pitchFamily="34" charset="0"/>
              <a:buChar char="•"/>
            </a:pPr>
            <a:r>
              <a:rPr lang="es-ES" sz="2800" i="1" dirty="0"/>
              <a:t>Análisis:</a:t>
            </a:r>
            <a:r>
              <a:rPr lang="es-ES" sz="2800" dirty="0"/>
              <a:t> En </a:t>
            </a:r>
            <a:r>
              <a:rPr lang="es-ES" sz="2800" dirty="0" err="1"/>
              <a:t>Olist</a:t>
            </a:r>
            <a:r>
              <a:rPr lang="es-ES" sz="2800" dirty="0"/>
              <a:t>, el cliente compra un </a:t>
            </a:r>
            <a:r>
              <a:rPr lang="es-ES" sz="2800" i="1" dirty="0"/>
              <a:t>Producto</a:t>
            </a:r>
            <a:r>
              <a:rPr lang="es-ES" sz="2800" dirty="0"/>
              <a:t> que </a:t>
            </a:r>
            <a:r>
              <a:rPr lang="es-ES" sz="2800" i="1" dirty="0"/>
              <a:t>pertenece</a:t>
            </a:r>
            <a:r>
              <a:rPr lang="es-ES" sz="2800" dirty="0"/>
              <a:t> a un vendedor, pero no hay un contrato directo "Cliente-Vendedor" fuera de la orden.</a:t>
            </a:r>
          </a:p>
          <a:p>
            <a:pPr>
              <a:buFont typeface="Arial" panose="020B0604020202020204" pitchFamily="34" charset="0"/>
              <a:buChar char="•"/>
            </a:pPr>
            <a:r>
              <a:rPr lang="es-ES" sz="2800" b="1" dirty="0"/>
              <a:t>Resultado:</a:t>
            </a:r>
            <a:r>
              <a:rPr lang="es-ES" sz="2800" dirty="0"/>
              <a:t> </a:t>
            </a:r>
            <a:r>
              <a:rPr lang="es-ES" sz="2800" b="1" dirty="0"/>
              <a:t>Sin Relación Directa</a:t>
            </a:r>
            <a:r>
              <a:rPr lang="es-ES" sz="2800" dirty="0"/>
              <a:t> (Se conectan a través de </a:t>
            </a:r>
            <a:r>
              <a:rPr lang="es-ES" sz="2800" dirty="0" err="1">
                <a:latin typeface="Courier New" panose="02070309020205020404" pitchFamily="49" charset="0"/>
              </a:rPr>
              <a:t>Order</a:t>
            </a:r>
            <a:r>
              <a:rPr lang="es-ES" sz="2800" dirty="0"/>
              <a:t> y </a:t>
            </a:r>
            <a:r>
              <a:rPr lang="es-ES" sz="2800" dirty="0" err="1">
                <a:latin typeface="Courier New" panose="02070309020205020404" pitchFamily="49" charset="0"/>
              </a:rPr>
              <a:t>Order_Items</a:t>
            </a:r>
            <a:r>
              <a:rPr lang="es-ES" sz="2800" dirty="0"/>
              <a:t>).</a:t>
            </a:r>
          </a:p>
        </p:txBody>
      </p:sp>
    </p:spTree>
    <p:extLst>
      <p:ext uri="{BB962C8B-B14F-4D97-AF65-F5344CB8AC3E}">
        <p14:creationId xmlns:p14="http://schemas.microsoft.com/office/powerpoint/2010/main" val="9401235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D015-6B71-0D69-2983-F63D8DA5E5E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5DCD14-ADA6-E9EA-DB28-458D1672295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763F7039-3315-AD73-BE29-85A401453BDB}"/>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4DCF87E-8DEB-F46E-3633-3AF704193A9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14A3D6D6-DA6D-800F-216D-F85128E2E7F4}"/>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F2A050A9-AEFF-1A80-E557-0706404E91A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190012A-89AA-369B-3C9D-3BCDBC288E9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50D128EF-3428-A84D-A69E-34FD77F1755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FE7F313-071B-487E-6C8E-CA5F9FFC75D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18DE04C2-D926-0EA9-E44F-CFBC48093E6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72287D30-BF23-E101-9922-60A97BCE505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BF98EB3E-B25A-A8B7-BBCA-18A1FD2A53F9}"/>
              </a:ext>
            </a:extLst>
          </p:cNvPr>
          <p:cNvGraphicFramePr>
            <a:graphicFrameLocks noGrp="1"/>
          </p:cNvGraphicFramePr>
          <p:nvPr>
            <p:extLst>
              <p:ext uri="{D42A27DB-BD31-4B8C-83A1-F6EECF244321}">
                <p14:modId xmlns:p14="http://schemas.microsoft.com/office/powerpoint/2010/main" val="1012069705"/>
              </p:ext>
            </p:extLst>
          </p:nvPr>
        </p:nvGraphicFramePr>
        <p:xfrm>
          <a:off x="2964730" y="2658121"/>
          <a:ext cx="11863630" cy="4160965"/>
        </p:xfrm>
        <a:graphic>
          <a:graphicData uri="http://schemas.openxmlformats.org/drawingml/2006/table">
            <a:tbl>
              <a:tblPr/>
              <a:tblGrid>
                <a:gridCol w="2372726">
                  <a:extLst>
                    <a:ext uri="{9D8B030D-6E8A-4147-A177-3AD203B41FA5}">
                      <a16:colId xmlns:a16="http://schemas.microsoft.com/office/drawing/2014/main" val="1440396324"/>
                    </a:ext>
                  </a:extLst>
                </a:gridCol>
                <a:gridCol w="2372726">
                  <a:extLst>
                    <a:ext uri="{9D8B030D-6E8A-4147-A177-3AD203B41FA5}">
                      <a16:colId xmlns:a16="http://schemas.microsoft.com/office/drawing/2014/main" val="3611656687"/>
                    </a:ext>
                  </a:extLst>
                </a:gridCol>
                <a:gridCol w="2372726">
                  <a:extLst>
                    <a:ext uri="{9D8B030D-6E8A-4147-A177-3AD203B41FA5}">
                      <a16:colId xmlns:a16="http://schemas.microsoft.com/office/drawing/2014/main" val="1582652915"/>
                    </a:ext>
                  </a:extLst>
                </a:gridCol>
                <a:gridCol w="2372726">
                  <a:extLst>
                    <a:ext uri="{9D8B030D-6E8A-4147-A177-3AD203B41FA5}">
                      <a16:colId xmlns:a16="http://schemas.microsoft.com/office/drawing/2014/main" val="220071222"/>
                    </a:ext>
                  </a:extLst>
                </a:gridCol>
                <a:gridCol w="2372726">
                  <a:extLst>
                    <a:ext uri="{9D8B030D-6E8A-4147-A177-3AD203B41FA5}">
                      <a16:colId xmlns:a16="http://schemas.microsoft.com/office/drawing/2014/main" val="1405358658"/>
                    </a:ext>
                  </a:extLst>
                </a:gridCol>
              </a:tblGrid>
              <a:tr h="1027759">
                <a:tc>
                  <a:txBody>
                    <a:bodyPr/>
                    <a:lstStyle/>
                    <a:p>
                      <a:pPr>
                        <a:buNone/>
                      </a:pP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err="1"/>
                        <a:t>Customer</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Product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Seller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401715"/>
                  </a:ext>
                </a:extLst>
              </a:tr>
              <a:tr h="1184505">
                <a:tc>
                  <a:txBody>
                    <a:bodyPr/>
                    <a:lstStyle/>
                    <a:p>
                      <a:pPr>
                        <a:buNone/>
                      </a:pPr>
                      <a:r>
                        <a:rPr lang="es-CO" sz="2800" b="1"/>
                        <a:t>Customer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dirty="0"/>
                        <a:t>1:N</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1953478"/>
                  </a:ext>
                </a:extLst>
              </a:tr>
              <a:tr h="649567">
                <a:tc>
                  <a:txBody>
                    <a:bodyPr/>
                    <a:lstStyle/>
                    <a:p>
                      <a:pPr>
                        <a:buNone/>
                      </a:pPr>
                      <a:r>
                        <a:rPr lang="es-CO" sz="2800" b="1"/>
                        <a:t>Order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N:1</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dirty="0"/>
                        <a:t>M:N</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N:1</a:t>
                      </a: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1371335"/>
                  </a:ext>
                </a:extLst>
              </a:tr>
              <a:tr h="649567">
                <a:tc>
                  <a:txBody>
                    <a:bodyPr/>
                    <a:lstStyle/>
                    <a:p>
                      <a:pPr>
                        <a:buNone/>
                      </a:pPr>
                      <a:r>
                        <a:rPr lang="es-CO" sz="2800" b="1"/>
                        <a:t>Product</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M:N</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N:1</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7062001"/>
                  </a:ext>
                </a:extLst>
              </a:tr>
              <a:tr h="649567">
                <a:tc>
                  <a:txBody>
                    <a:bodyPr/>
                    <a:lstStyle/>
                    <a:p>
                      <a:pPr>
                        <a:buNone/>
                      </a:pPr>
                      <a:r>
                        <a:rPr lang="es-CO" sz="2800" b="1"/>
                        <a:t>Seller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1:N</a:t>
                      </a: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dirty="0"/>
                        <a:t>1:N</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0237387"/>
                  </a:ext>
                </a:extLst>
              </a:tr>
            </a:tbl>
          </a:graphicData>
        </a:graphic>
      </p:graphicFrame>
      <p:sp>
        <p:nvSpPr>
          <p:cNvPr id="13" name="Rectangle 1">
            <a:extLst>
              <a:ext uri="{FF2B5EF4-FFF2-40B4-BE49-F238E27FC236}">
                <a16:creationId xmlns:a16="http://schemas.microsoft.com/office/drawing/2014/main" id="{814C4B72-6C2A-E5D1-795E-8519830EC283}"/>
              </a:ext>
            </a:extLst>
          </p:cNvPr>
          <p:cNvSpPr>
            <a:spLocks noChangeArrowheads="1"/>
          </p:cNvSpPr>
          <p:nvPr/>
        </p:nvSpPr>
        <p:spPr bwMode="auto">
          <a:xfrm>
            <a:off x="1356201" y="910899"/>
            <a:ext cx="151878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800" b="1" i="0" u="none" strike="noStrike" cap="none" normalizeH="0" baseline="0" dirty="0">
                <a:ln>
                  <a:noFill/>
                </a:ln>
                <a:solidFill>
                  <a:schemeClr val="tx1"/>
                </a:solidFill>
                <a:effectLst/>
                <a:latin typeface="Arial" panose="020B0604020202020204" pitchFamily="34" charset="0"/>
              </a:rPr>
              <a:t>La Matriz Resuelta (Versión Simplificada)</a:t>
            </a:r>
          </a:p>
        </p:txBody>
      </p:sp>
      <p:sp>
        <p:nvSpPr>
          <p:cNvPr id="15" name="CuadroTexto 14">
            <a:extLst>
              <a:ext uri="{FF2B5EF4-FFF2-40B4-BE49-F238E27FC236}">
                <a16:creationId xmlns:a16="http://schemas.microsoft.com/office/drawing/2014/main" id="{9070CF4B-D1C0-D3D6-B090-70AB84CC7988}"/>
              </a:ext>
            </a:extLst>
          </p:cNvPr>
          <p:cNvSpPr txBox="1"/>
          <p:nvPr/>
        </p:nvSpPr>
        <p:spPr>
          <a:xfrm>
            <a:off x="1919533" y="8114993"/>
            <a:ext cx="14448934" cy="101566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000" b="0" i="1" u="none" strike="noStrike" cap="none" normalizeH="0" baseline="0" dirty="0">
                <a:ln>
                  <a:noFill/>
                </a:ln>
                <a:solidFill>
                  <a:schemeClr val="tx1"/>
                </a:solidFill>
                <a:effectLst/>
                <a:latin typeface="Arial" panose="020B0604020202020204" pitchFamily="34" charset="0"/>
              </a:rPr>
              <a:t>*Nota sobre </a:t>
            </a:r>
            <a:r>
              <a:rPr kumimoji="0" lang="es-CO" altLang="es-CO" sz="2000" b="0" i="1" u="none" strike="noStrike" cap="none" normalizeH="0" baseline="0" dirty="0" err="1">
                <a:ln>
                  <a:noFill/>
                </a:ln>
                <a:solidFill>
                  <a:schemeClr val="tx1"/>
                </a:solidFill>
                <a:effectLst/>
                <a:latin typeface="Arial" panose="020B0604020202020204" pitchFamily="34" charset="0"/>
              </a:rPr>
              <a:t>Seller</a:t>
            </a:r>
            <a:r>
              <a:rPr kumimoji="0" lang="es-CO" altLang="es-CO" sz="2000" b="0" i="1" u="none" strike="noStrike" cap="none" normalizeH="0" baseline="0" dirty="0">
                <a:ln>
                  <a:noFill/>
                </a:ln>
                <a:solidFill>
                  <a:schemeClr val="tx1"/>
                </a:solidFill>
                <a:effectLst/>
                <a:latin typeface="Arial" panose="020B0604020202020204" pitchFamily="34" charset="0"/>
              </a:rPr>
              <a:t> y </a:t>
            </a:r>
            <a:r>
              <a:rPr kumimoji="0" lang="es-CO" altLang="es-CO" sz="2000" b="0" i="1" u="none" strike="noStrike" cap="none" normalizeH="0" baseline="0" dirty="0" err="1">
                <a:ln>
                  <a:noFill/>
                </a:ln>
                <a:solidFill>
                  <a:schemeClr val="tx1"/>
                </a:solidFill>
                <a:effectLst/>
                <a:latin typeface="Arial" panose="020B0604020202020204" pitchFamily="34" charset="0"/>
              </a:rPr>
              <a:t>Order</a:t>
            </a:r>
            <a:r>
              <a:rPr kumimoji="0" lang="es-CO" altLang="es-CO" sz="2000" b="0" i="1" u="none" strike="noStrike" cap="none" normalizeH="0" baseline="0" dirty="0">
                <a:ln>
                  <a:noFill/>
                </a:ln>
                <a:solidFill>
                  <a:schemeClr val="tx1"/>
                </a:solidFill>
                <a:effectLst/>
                <a:latin typeface="Arial" panose="020B0604020202020204" pitchFamily="34" charset="0"/>
              </a:rPr>
              <a:t>: En </a:t>
            </a:r>
            <a:r>
              <a:rPr kumimoji="0" lang="es-CO" altLang="es-CO" sz="2000" b="0" i="1" u="none" strike="noStrike" cap="none" normalizeH="0" baseline="0" dirty="0" err="1">
                <a:ln>
                  <a:noFill/>
                </a:ln>
                <a:solidFill>
                  <a:schemeClr val="tx1"/>
                </a:solidFill>
                <a:effectLst/>
                <a:latin typeface="Arial" panose="020B0604020202020204" pitchFamily="34" charset="0"/>
              </a:rPr>
              <a:t>Olist</a:t>
            </a:r>
            <a:r>
              <a:rPr kumimoji="0" lang="es-CO" altLang="es-CO" sz="2000" b="0" i="1" u="none" strike="noStrike" cap="none" normalizeH="0" baseline="0" dirty="0">
                <a:ln>
                  <a:noFill/>
                </a:ln>
                <a:solidFill>
                  <a:schemeClr val="tx1"/>
                </a:solidFill>
                <a:effectLst/>
                <a:latin typeface="Arial" panose="020B0604020202020204" pitchFamily="34" charset="0"/>
              </a:rPr>
              <a:t>, técnicamente un vendedor se relaciona con los ítems de la orden, no con la orden completa (porque una orden puede tener </a:t>
            </a:r>
            <a:r>
              <a:rPr kumimoji="0" lang="es-CO" altLang="es-CO" sz="2000" b="0" i="1" u="none" strike="noStrike" cap="none" normalizeH="0" baseline="0" dirty="0" err="1">
                <a:ln>
                  <a:noFill/>
                </a:ln>
                <a:solidFill>
                  <a:schemeClr val="tx1"/>
                </a:solidFill>
                <a:effectLst/>
                <a:latin typeface="Arial" panose="020B0604020202020204" pitchFamily="34" charset="0"/>
              </a:rPr>
              <a:t>items</a:t>
            </a:r>
            <a:r>
              <a:rPr kumimoji="0" lang="es-CO" altLang="es-CO" sz="2000" b="0" i="1" u="none" strike="noStrike" cap="none" normalizeH="0" baseline="0" dirty="0">
                <a:ln>
                  <a:noFill/>
                </a:ln>
                <a:solidFill>
                  <a:schemeClr val="tx1"/>
                </a:solidFill>
                <a:effectLst/>
                <a:latin typeface="Arial" panose="020B0604020202020204" pitchFamily="34" charset="0"/>
              </a:rPr>
              <a:t> de vendedores distintos). Por ahora, lo marcamos como relación indirecta o compleja.</a:t>
            </a:r>
            <a:endParaRPr kumimoji="0" lang="es-CO" altLang="es-CO"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4935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531AB-3AC1-B9D3-CF37-1E0644AE5D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AD8722-5588-209A-EB2D-24B505CF1B15}"/>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6B107FC-F521-D4AE-E057-68E185841A6B}"/>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CD2446BC-9953-9A54-9269-40EA86B6395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D6E9B152-6EE8-6232-1948-517369764EDD}"/>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A3553E9-7317-B64A-AACC-ABDA8DE5826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9000D428-2C36-70BD-B728-C1395D7E87A9}"/>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4493295-0ED1-A378-78AD-148B590F445A}"/>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AB79C09-B6FE-3DE3-B471-7F12D2F13B27}"/>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0607C8F-2FB9-9DC9-BFF5-3A8726D3041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29BA864-5F93-069F-2FB6-9DBFD3FEAE5F}"/>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135B361E-2833-09F2-EA6A-2C4D79433341}"/>
              </a:ext>
            </a:extLst>
          </p:cNvPr>
          <p:cNvSpPr txBox="1"/>
          <p:nvPr/>
        </p:nvSpPr>
        <p:spPr>
          <a:xfrm>
            <a:off x="1286758" y="1331684"/>
            <a:ext cx="15714483" cy="7478970"/>
          </a:xfrm>
          <a:prstGeom prst="rect">
            <a:avLst/>
          </a:prstGeom>
          <a:noFill/>
        </p:spPr>
        <p:txBody>
          <a:bodyPr wrap="square">
            <a:spAutoFit/>
          </a:bodyPr>
          <a:lstStyle/>
          <a:p>
            <a:pPr>
              <a:buNone/>
            </a:pPr>
            <a:r>
              <a:rPr lang="es-ES" sz="3200" b="1" dirty="0"/>
              <a:t>Descubrimiento Crítico: La "Entidad Asociativa“</a:t>
            </a:r>
          </a:p>
          <a:p>
            <a:pPr>
              <a:buNone/>
            </a:pPr>
            <a:endParaRPr lang="es-ES" sz="3200" b="1" dirty="0"/>
          </a:p>
          <a:p>
            <a:pPr>
              <a:buNone/>
            </a:pPr>
            <a:r>
              <a:rPr lang="es-ES" sz="3200" dirty="0"/>
              <a:t>Al encontrar la relación </a:t>
            </a:r>
            <a:r>
              <a:rPr lang="es-ES" sz="3200" b="1" dirty="0"/>
              <a:t>M:N</a:t>
            </a:r>
            <a:r>
              <a:rPr lang="es-ES" sz="3200" dirty="0"/>
              <a:t> entre </a:t>
            </a:r>
            <a:r>
              <a:rPr lang="es-ES" sz="3200" dirty="0" err="1">
                <a:latin typeface="Courier New" panose="02070309020205020404" pitchFamily="49" charset="0"/>
              </a:rPr>
              <a:t>Order</a:t>
            </a:r>
            <a:r>
              <a:rPr lang="es-ES" sz="3200" dirty="0"/>
              <a:t> y </a:t>
            </a:r>
            <a:r>
              <a:rPr lang="es-ES" sz="3200" dirty="0" err="1">
                <a:latin typeface="Courier New" panose="02070309020205020404" pitchFamily="49" charset="0"/>
              </a:rPr>
              <a:t>Product</a:t>
            </a:r>
            <a:r>
              <a:rPr lang="es-ES" sz="3200" dirty="0"/>
              <a:t>, la metodología nos obliga a crear una nueva entidad intermedia.</a:t>
            </a:r>
          </a:p>
          <a:p>
            <a:pPr>
              <a:buNone/>
            </a:pPr>
            <a:endParaRPr lang="es-ES" sz="3200" dirty="0"/>
          </a:p>
          <a:p>
            <a:pPr marL="457200" indent="-457200">
              <a:buFont typeface="Arial" panose="020B0604020202020204" pitchFamily="34" charset="0"/>
              <a:buChar char="•"/>
            </a:pPr>
            <a:r>
              <a:rPr lang="es-ES" sz="3200" b="1" dirty="0"/>
              <a:t>El Problema:</a:t>
            </a:r>
            <a:r>
              <a:rPr lang="es-ES" sz="3200" dirty="0"/>
              <a:t> No puedo guardar una lista de productos en una celda de la tabla </a:t>
            </a:r>
            <a:r>
              <a:rPr lang="es-ES" sz="3200" dirty="0" err="1">
                <a:latin typeface="Courier New" panose="02070309020205020404" pitchFamily="49" charset="0"/>
              </a:rPr>
              <a:t>Order</a:t>
            </a:r>
            <a:r>
              <a:rPr lang="es-ES" sz="3200" dirty="0"/>
              <a:t>.</a:t>
            </a:r>
          </a:p>
          <a:p>
            <a:pPr marL="457200" indent="-457200">
              <a:buFont typeface="Arial" panose="020B0604020202020204" pitchFamily="34" charset="0"/>
              <a:buChar char="•"/>
            </a:pPr>
            <a:r>
              <a:rPr lang="es-ES" sz="3200" b="1" dirty="0"/>
              <a:t>La Solución:</a:t>
            </a:r>
            <a:r>
              <a:rPr lang="es-ES" sz="3200" dirty="0"/>
              <a:t> Nace </a:t>
            </a:r>
            <a:r>
              <a:rPr lang="es-ES" sz="3200" dirty="0" err="1">
                <a:latin typeface="Courier New" panose="02070309020205020404" pitchFamily="49" charset="0"/>
              </a:rPr>
              <a:t>Order_Items</a:t>
            </a:r>
            <a:r>
              <a:rPr lang="es-ES" sz="3200" dirty="0"/>
              <a:t>.</a:t>
            </a:r>
          </a:p>
          <a:p>
            <a:pPr marL="457200" indent="-457200">
              <a:buFont typeface="Arial" panose="020B0604020202020204" pitchFamily="34" charset="0"/>
              <a:buChar char="•"/>
            </a:pPr>
            <a:endParaRPr lang="es-ES" sz="3200" dirty="0"/>
          </a:p>
          <a:p>
            <a:pPr>
              <a:buNone/>
            </a:pPr>
            <a:r>
              <a:rPr lang="es-ES" sz="3200" b="1" dirty="0"/>
              <a:t>Nueva Relación:</a:t>
            </a:r>
          </a:p>
          <a:p>
            <a:pPr>
              <a:buNone/>
            </a:pPr>
            <a:endParaRPr lang="es-ES" sz="3200" dirty="0"/>
          </a:p>
          <a:p>
            <a:pPr marL="514350" indent="-514350">
              <a:buFont typeface="+mj-lt"/>
              <a:buAutoNum type="arabicPeriod"/>
            </a:pPr>
            <a:r>
              <a:rPr lang="es-ES" sz="3200" dirty="0" err="1"/>
              <a:t>Order</a:t>
            </a:r>
            <a:r>
              <a:rPr lang="es-ES" sz="3200" dirty="0"/>
              <a:t> </a:t>
            </a:r>
            <a:r>
              <a:rPr lang="es-ES" sz="3200" b="1" dirty="0"/>
              <a:t>1 : N</a:t>
            </a:r>
            <a:r>
              <a:rPr lang="es-ES" sz="3200" dirty="0"/>
              <a:t> </a:t>
            </a:r>
            <a:r>
              <a:rPr lang="es-ES" sz="3200" dirty="0" err="1"/>
              <a:t>Order_Items</a:t>
            </a:r>
            <a:endParaRPr lang="es-ES" sz="3200" dirty="0"/>
          </a:p>
          <a:p>
            <a:pPr marL="514350" indent="-514350">
              <a:buFont typeface="+mj-lt"/>
              <a:buAutoNum type="arabicPeriod"/>
            </a:pPr>
            <a:r>
              <a:rPr lang="es-ES" sz="3200" dirty="0" err="1"/>
              <a:t>Product</a:t>
            </a:r>
            <a:r>
              <a:rPr lang="es-ES" sz="3200" dirty="0"/>
              <a:t> </a:t>
            </a:r>
            <a:r>
              <a:rPr lang="es-ES" sz="3200" b="1" dirty="0"/>
              <a:t>1 : N</a:t>
            </a:r>
            <a:r>
              <a:rPr lang="es-ES" sz="3200" dirty="0"/>
              <a:t> </a:t>
            </a:r>
            <a:r>
              <a:rPr lang="es-ES" sz="3200" dirty="0" err="1"/>
              <a:t>Order_Items</a:t>
            </a:r>
            <a:endParaRPr lang="es-ES" sz="3200" dirty="0"/>
          </a:p>
          <a:p>
            <a:pPr>
              <a:buFont typeface="+mj-lt"/>
              <a:buAutoNum type="arabicPeriod"/>
            </a:pPr>
            <a:endParaRPr lang="es-ES" sz="3200" dirty="0"/>
          </a:p>
          <a:p>
            <a:pPr>
              <a:buNone/>
            </a:pPr>
            <a:r>
              <a:rPr lang="es-ES" sz="3200" i="1" dirty="0"/>
              <a:t>Ahora </a:t>
            </a:r>
            <a:r>
              <a:rPr lang="es-ES" sz="3200" i="1" dirty="0" err="1">
                <a:latin typeface="Courier New" panose="02070309020205020404" pitchFamily="49" charset="0"/>
              </a:rPr>
              <a:t>Order_Items</a:t>
            </a:r>
            <a:r>
              <a:rPr lang="es-ES" sz="3200" i="1" dirty="0"/>
              <a:t> se convierte en el "hijo" de ambos.</a:t>
            </a:r>
            <a:endParaRPr lang="es-ES" sz="3200" dirty="0"/>
          </a:p>
        </p:txBody>
      </p:sp>
    </p:spTree>
    <p:extLst>
      <p:ext uri="{BB962C8B-B14F-4D97-AF65-F5344CB8AC3E}">
        <p14:creationId xmlns:p14="http://schemas.microsoft.com/office/powerpoint/2010/main" val="2188530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58A2E-B134-114C-0294-F105BC92E631}"/>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1CAA0377-AB38-922F-DD31-229BC989C9E2}"/>
              </a:ext>
            </a:extLst>
          </p:cNvPr>
          <p:cNvGrpSpPr/>
          <p:nvPr/>
        </p:nvGrpSpPr>
        <p:grpSpPr>
          <a:xfrm rot="-10800000">
            <a:off x="10392303" y="0"/>
            <a:ext cx="7895697" cy="10287000"/>
            <a:chOff x="0" y="0"/>
            <a:chExt cx="2079525" cy="2709333"/>
          </a:xfrm>
        </p:grpSpPr>
        <p:sp>
          <p:nvSpPr>
            <p:cNvPr id="4" name="Freeform 4">
              <a:extLst>
                <a:ext uri="{FF2B5EF4-FFF2-40B4-BE49-F238E27FC236}">
                  <a16:creationId xmlns:a16="http://schemas.microsoft.com/office/drawing/2014/main" id="{EB88EE6F-D06B-D095-DC71-5B67E27E71E5}"/>
                </a:ext>
              </a:extLst>
            </p:cNvPr>
            <p:cNvSpPr/>
            <p:nvPr/>
          </p:nvSpPr>
          <p:spPr>
            <a:xfrm>
              <a:off x="0" y="0"/>
              <a:ext cx="2079525" cy="2709333"/>
            </a:xfrm>
            <a:custGeom>
              <a:avLst/>
              <a:gdLst/>
              <a:ahLst/>
              <a:cxnLst/>
              <a:rect l="l" t="t" r="r" b="b"/>
              <a:pathLst>
                <a:path w="2079525" h="2709333">
                  <a:moveTo>
                    <a:pt x="0" y="0"/>
                  </a:moveTo>
                  <a:lnTo>
                    <a:pt x="2079525" y="0"/>
                  </a:lnTo>
                  <a:lnTo>
                    <a:pt x="2079525"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5" name="TextBox 5">
              <a:extLst>
                <a:ext uri="{FF2B5EF4-FFF2-40B4-BE49-F238E27FC236}">
                  <a16:creationId xmlns:a16="http://schemas.microsoft.com/office/drawing/2014/main" id="{24510801-8903-DF33-A59D-B15EAE990B14}"/>
                </a:ext>
              </a:extLst>
            </p:cNvPr>
            <p:cNvSpPr txBox="1"/>
            <p:nvPr/>
          </p:nvSpPr>
          <p:spPr>
            <a:xfrm>
              <a:off x="0" y="-38100"/>
              <a:ext cx="20795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a:extLst>
              <a:ext uri="{FF2B5EF4-FFF2-40B4-BE49-F238E27FC236}">
                <a16:creationId xmlns:a16="http://schemas.microsoft.com/office/drawing/2014/main" id="{BFC8E835-4E9D-7B35-A8A1-38E4F3B61C94}"/>
              </a:ext>
            </a:extLst>
          </p:cNvPr>
          <p:cNvSpPr/>
          <p:nvPr/>
        </p:nvSpPr>
        <p:spPr>
          <a:xfrm>
            <a:off x="9562641" y="4953536"/>
            <a:ext cx="4777510" cy="4687932"/>
          </a:xfrm>
          <a:custGeom>
            <a:avLst/>
            <a:gdLst/>
            <a:ahLst/>
            <a:cxnLst/>
            <a:rect l="l" t="t" r="r" b="b"/>
            <a:pathLst>
              <a:path w="4777510" h="4687932">
                <a:moveTo>
                  <a:pt x="0" y="0"/>
                </a:moveTo>
                <a:lnTo>
                  <a:pt x="4777511" y="0"/>
                </a:lnTo>
                <a:lnTo>
                  <a:pt x="4777511"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a:extLst>
              <a:ext uri="{FF2B5EF4-FFF2-40B4-BE49-F238E27FC236}">
                <a16:creationId xmlns:a16="http://schemas.microsoft.com/office/drawing/2014/main" id="{69137522-2EBF-AA03-BA69-5EBCBAB6964C}"/>
              </a:ext>
            </a:extLst>
          </p:cNvPr>
          <p:cNvSpPr/>
          <p:nvPr/>
        </p:nvSpPr>
        <p:spPr>
          <a:xfrm rot="-10800000">
            <a:off x="14340152" y="455568"/>
            <a:ext cx="4777510" cy="4687932"/>
          </a:xfrm>
          <a:custGeom>
            <a:avLst/>
            <a:gdLst/>
            <a:ahLst/>
            <a:cxnLst/>
            <a:rect l="l" t="t" r="r" b="b"/>
            <a:pathLst>
              <a:path w="4777510" h="4687932">
                <a:moveTo>
                  <a:pt x="0" y="0"/>
                </a:moveTo>
                <a:lnTo>
                  <a:pt x="4777510" y="0"/>
                </a:lnTo>
                <a:lnTo>
                  <a:pt x="4777510"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grpSp>
        <p:nvGrpSpPr>
          <p:cNvPr id="8" name="Group 8">
            <a:extLst>
              <a:ext uri="{FF2B5EF4-FFF2-40B4-BE49-F238E27FC236}">
                <a16:creationId xmlns:a16="http://schemas.microsoft.com/office/drawing/2014/main" id="{BE93A83B-81AF-3060-4B40-408B83EF718A}"/>
              </a:ext>
            </a:extLst>
          </p:cNvPr>
          <p:cNvGrpSpPr/>
          <p:nvPr/>
        </p:nvGrpSpPr>
        <p:grpSpPr>
          <a:xfrm rot="1460314">
            <a:off x="10661875" y="4518938"/>
            <a:ext cx="7356554" cy="1249125"/>
            <a:chOff x="0" y="0"/>
            <a:chExt cx="1937529" cy="328988"/>
          </a:xfrm>
        </p:grpSpPr>
        <p:sp>
          <p:nvSpPr>
            <p:cNvPr id="9" name="Freeform 9">
              <a:extLst>
                <a:ext uri="{FF2B5EF4-FFF2-40B4-BE49-F238E27FC236}">
                  <a16:creationId xmlns:a16="http://schemas.microsoft.com/office/drawing/2014/main" id="{CD2F8443-1DE0-8175-0DAA-FB321F7EF400}"/>
                </a:ext>
              </a:extLst>
            </p:cNvPr>
            <p:cNvSpPr/>
            <p:nvPr/>
          </p:nvSpPr>
          <p:spPr>
            <a:xfrm>
              <a:off x="0" y="0"/>
              <a:ext cx="1937528" cy="328988"/>
            </a:xfrm>
            <a:custGeom>
              <a:avLst/>
              <a:gdLst/>
              <a:ahLst/>
              <a:cxnLst/>
              <a:rect l="l" t="t" r="r" b="b"/>
              <a:pathLst>
                <a:path w="1937528" h="328988">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p:spPr>
          <p:txBody>
            <a:bodyPr/>
            <a:lstStyle/>
            <a:p>
              <a:endParaRPr lang="es-CO"/>
            </a:p>
          </p:txBody>
        </p:sp>
        <p:sp>
          <p:nvSpPr>
            <p:cNvPr id="10" name="TextBox 10">
              <a:extLst>
                <a:ext uri="{FF2B5EF4-FFF2-40B4-BE49-F238E27FC236}">
                  <a16:creationId xmlns:a16="http://schemas.microsoft.com/office/drawing/2014/main" id="{BEDD097D-F27C-F4C5-48F9-5443ECDFC13E}"/>
                </a:ext>
              </a:extLst>
            </p:cNvPr>
            <p:cNvSpPr txBox="1"/>
            <p:nvPr/>
          </p:nvSpPr>
          <p:spPr>
            <a:xfrm>
              <a:off x="0" y="-38100"/>
              <a:ext cx="1937529" cy="367088"/>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B9A32E0B-CED8-24BE-34F2-DE8191F272D4}"/>
              </a:ext>
            </a:extLst>
          </p:cNvPr>
          <p:cNvGrpSpPr/>
          <p:nvPr/>
        </p:nvGrpSpPr>
        <p:grpSpPr>
          <a:xfrm rot="-10800000">
            <a:off x="-536257" y="9574006"/>
            <a:ext cx="8704391" cy="134923"/>
            <a:chOff x="0" y="0"/>
            <a:chExt cx="2292514" cy="35535"/>
          </a:xfrm>
        </p:grpSpPr>
        <p:sp>
          <p:nvSpPr>
            <p:cNvPr id="12" name="Freeform 12">
              <a:extLst>
                <a:ext uri="{FF2B5EF4-FFF2-40B4-BE49-F238E27FC236}">
                  <a16:creationId xmlns:a16="http://schemas.microsoft.com/office/drawing/2014/main" id="{2EA4013A-107D-3EBA-8C1A-2AC1AAF86AA1}"/>
                </a:ext>
              </a:extLst>
            </p:cNvPr>
            <p:cNvSpPr/>
            <p:nvPr/>
          </p:nvSpPr>
          <p:spPr>
            <a:xfrm>
              <a:off x="0" y="0"/>
              <a:ext cx="2292515" cy="35535"/>
            </a:xfrm>
            <a:custGeom>
              <a:avLst/>
              <a:gdLst/>
              <a:ahLst/>
              <a:cxnLst/>
              <a:rect l="l" t="t" r="r" b="b"/>
              <a:pathLst>
                <a:path w="2292515" h="35535">
                  <a:moveTo>
                    <a:pt x="17768" y="0"/>
                  </a:moveTo>
                  <a:lnTo>
                    <a:pt x="2274747" y="0"/>
                  </a:lnTo>
                  <a:cubicBezTo>
                    <a:pt x="2284560" y="0"/>
                    <a:pt x="2292515" y="7955"/>
                    <a:pt x="2292515" y="17768"/>
                  </a:cubicBezTo>
                  <a:lnTo>
                    <a:pt x="2292515" y="17768"/>
                  </a:lnTo>
                  <a:cubicBezTo>
                    <a:pt x="2292515" y="22480"/>
                    <a:pt x="2290643" y="26999"/>
                    <a:pt x="2287311" y="30331"/>
                  </a:cubicBezTo>
                  <a:cubicBezTo>
                    <a:pt x="2283978" y="33663"/>
                    <a:pt x="2279459" y="35535"/>
                    <a:pt x="2274747" y="35535"/>
                  </a:cubicBezTo>
                  <a:lnTo>
                    <a:pt x="17768" y="35535"/>
                  </a:lnTo>
                  <a:cubicBezTo>
                    <a:pt x="13055" y="35535"/>
                    <a:pt x="8536" y="33663"/>
                    <a:pt x="5204" y="30331"/>
                  </a:cubicBezTo>
                  <a:cubicBezTo>
                    <a:pt x="1872" y="26999"/>
                    <a:pt x="0" y="22480"/>
                    <a:pt x="0" y="17768"/>
                  </a:cubicBezTo>
                  <a:lnTo>
                    <a:pt x="0" y="17768"/>
                  </a:lnTo>
                  <a:cubicBezTo>
                    <a:pt x="0" y="13055"/>
                    <a:pt x="1872" y="8536"/>
                    <a:pt x="5204" y="5204"/>
                  </a:cubicBezTo>
                  <a:cubicBezTo>
                    <a:pt x="8536" y="1872"/>
                    <a:pt x="13055" y="0"/>
                    <a:pt x="17768" y="0"/>
                  </a:cubicBez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0"/>
            </a:gradFill>
          </p:spPr>
          <p:txBody>
            <a:bodyPr/>
            <a:lstStyle/>
            <a:p>
              <a:endParaRPr lang="es-CO"/>
            </a:p>
          </p:txBody>
        </p:sp>
        <p:sp>
          <p:nvSpPr>
            <p:cNvPr id="13" name="TextBox 13">
              <a:extLst>
                <a:ext uri="{FF2B5EF4-FFF2-40B4-BE49-F238E27FC236}">
                  <a16:creationId xmlns:a16="http://schemas.microsoft.com/office/drawing/2014/main" id="{36ECDE5A-D5BF-10C3-78CD-882F01718AC4}"/>
                </a:ext>
              </a:extLst>
            </p:cNvPr>
            <p:cNvSpPr txBox="1"/>
            <p:nvPr/>
          </p:nvSpPr>
          <p:spPr>
            <a:xfrm>
              <a:off x="0" y="-38100"/>
              <a:ext cx="2292514" cy="73635"/>
            </a:xfrm>
            <a:prstGeom prst="rect">
              <a:avLst/>
            </a:prstGeom>
          </p:spPr>
          <p:txBody>
            <a:bodyPr lIns="50800" tIns="50800" rIns="50800" bIns="50800" rtlCol="0" anchor="ctr"/>
            <a:lstStyle/>
            <a:p>
              <a:pPr algn="ctr">
                <a:lnSpc>
                  <a:spcPts val="2659"/>
                </a:lnSpc>
              </a:pPr>
              <a:endParaRPr/>
            </a:p>
          </p:txBody>
        </p:sp>
      </p:grpSp>
      <p:sp>
        <p:nvSpPr>
          <p:cNvPr id="15" name="TextBox 15">
            <a:extLst>
              <a:ext uri="{FF2B5EF4-FFF2-40B4-BE49-F238E27FC236}">
                <a16:creationId xmlns:a16="http://schemas.microsoft.com/office/drawing/2014/main" id="{D5E578D3-02FD-B462-9236-06EA1D6DD04F}"/>
              </a:ext>
            </a:extLst>
          </p:cNvPr>
          <p:cNvSpPr txBox="1"/>
          <p:nvPr/>
        </p:nvSpPr>
        <p:spPr>
          <a:xfrm>
            <a:off x="822279" y="1616322"/>
            <a:ext cx="8321721" cy="752514"/>
          </a:xfrm>
          <a:prstGeom prst="rect">
            <a:avLst/>
          </a:prstGeom>
        </p:spPr>
        <p:txBody>
          <a:bodyPr wrap="square" lIns="0" tIns="0" rIns="0" bIns="0" rtlCol="0" anchor="t">
            <a:spAutoFit/>
          </a:bodyPr>
          <a:lstStyle/>
          <a:p>
            <a:pPr algn="ctr">
              <a:lnSpc>
                <a:spcPts val="6159"/>
              </a:lnSpc>
              <a:spcBef>
                <a:spcPct val="0"/>
              </a:spcBef>
            </a:pPr>
            <a:r>
              <a:rPr lang="es-CO" sz="4350" b="1" dirty="0">
                <a:solidFill>
                  <a:srgbClr val="700A89"/>
                </a:solidFill>
                <a:latin typeface="Poppins" panose="00000500000000000000" pitchFamily="2" charset="0"/>
                <a:cs typeface="Poppins" panose="00000500000000000000" pitchFamily="2" charset="0"/>
                <a:sym typeface="Poppins 1 Bold"/>
              </a:rPr>
              <a:t>Actividad</a:t>
            </a:r>
            <a:endParaRPr lang="es-CO" sz="4350" b="1" noProof="0" dirty="0">
              <a:solidFill>
                <a:srgbClr val="700A89"/>
              </a:solidFill>
              <a:latin typeface="Poppins 1 Bold"/>
              <a:cs typeface="Poppins 1 Bold"/>
              <a:sym typeface="Poppins 1 Bold"/>
            </a:endParaRPr>
          </a:p>
        </p:txBody>
      </p:sp>
      <p:grpSp>
        <p:nvGrpSpPr>
          <p:cNvPr id="14" name="Group 11">
            <a:extLst>
              <a:ext uri="{FF2B5EF4-FFF2-40B4-BE49-F238E27FC236}">
                <a16:creationId xmlns:a16="http://schemas.microsoft.com/office/drawing/2014/main" id="{2AB0F8EA-AEF3-A475-F4A7-894947D01192}"/>
              </a:ext>
            </a:extLst>
          </p:cNvPr>
          <p:cNvGrpSpPr/>
          <p:nvPr/>
        </p:nvGrpSpPr>
        <p:grpSpPr>
          <a:xfrm>
            <a:off x="2058780" y="2289744"/>
            <a:ext cx="6529135" cy="5279975"/>
            <a:chOff x="-126535" y="-560842"/>
            <a:chExt cx="8705514" cy="7583683"/>
          </a:xfrm>
        </p:grpSpPr>
        <p:grpSp>
          <p:nvGrpSpPr>
            <p:cNvPr id="16" name="Group 12">
              <a:extLst>
                <a:ext uri="{FF2B5EF4-FFF2-40B4-BE49-F238E27FC236}">
                  <a16:creationId xmlns:a16="http://schemas.microsoft.com/office/drawing/2014/main" id="{4945509B-C3C9-A4AB-1A7C-1188A3810057}"/>
                </a:ext>
              </a:extLst>
            </p:cNvPr>
            <p:cNvGrpSpPr/>
            <p:nvPr/>
          </p:nvGrpSpPr>
          <p:grpSpPr>
            <a:xfrm>
              <a:off x="-126535" y="-560842"/>
              <a:ext cx="8705514" cy="7583683"/>
              <a:chOff x="-8596" y="-38100"/>
              <a:chExt cx="591397" cy="515187"/>
            </a:xfrm>
          </p:grpSpPr>
          <p:sp>
            <p:nvSpPr>
              <p:cNvPr id="19" name="Freeform 13">
                <a:extLst>
                  <a:ext uri="{FF2B5EF4-FFF2-40B4-BE49-F238E27FC236}">
                    <a16:creationId xmlns:a16="http://schemas.microsoft.com/office/drawing/2014/main" id="{1D047091-6226-6D5A-A634-6BC9F5E14216}"/>
                  </a:ext>
                </a:extLst>
              </p:cNvPr>
              <p:cNvSpPr/>
              <p:nvPr/>
            </p:nvSpPr>
            <p:spPr>
              <a:xfrm>
                <a:off x="-8596" y="-64"/>
                <a:ext cx="582801" cy="477151"/>
              </a:xfrm>
              <a:custGeom>
                <a:avLst/>
                <a:gdLst/>
                <a:ahLst/>
                <a:cxnLst/>
                <a:rect l="l" t="t" r="r" b="b"/>
                <a:pathLst>
                  <a:path w="582801" h="228266">
                    <a:moveTo>
                      <a:pt x="87467" y="0"/>
                    </a:moveTo>
                    <a:lnTo>
                      <a:pt x="495335" y="0"/>
                    </a:lnTo>
                    <a:cubicBezTo>
                      <a:pt x="543641" y="0"/>
                      <a:pt x="582801" y="39160"/>
                      <a:pt x="582801" y="87467"/>
                    </a:cubicBezTo>
                    <a:lnTo>
                      <a:pt x="582801" y="140800"/>
                    </a:lnTo>
                    <a:cubicBezTo>
                      <a:pt x="582801" y="189106"/>
                      <a:pt x="543641" y="228266"/>
                      <a:pt x="495335" y="228266"/>
                    </a:cubicBezTo>
                    <a:lnTo>
                      <a:pt x="87467" y="228266"/>
                    </a:lnTo>
                    <a:cubicBezTo>
                      <a:pt x="39160" y="228266"/>
                      <a:pt x="0" y="189106"/>
                      <a:pt x="0" y="140800"/>
                    </a:cubicBezTo>
                    <a:lnTo>
                      <a:pt x="0" y="87467"/>
                    </a:lnTo>
                    <a:cubicBezTo>
                      <a:pt x="0" y="39160"/>
                      <a:pt x="39160" y="0"/>
                      <a:pt x="87467" y="0"/>
                    </a:cubicBezTo>
                    <a:close/>
                  </a:path>
                </a:pathLst>
              </a:custGeom>
              <a:solidFill>
                <a:srgbClr val="000000">
                  <a:alpha val="0"/>
                </a:srgbClr>
              </a:solidFill>
              <a:ln w="38100" cap="rnd">
                <a:gradFill>
                  <a:gsLst>
                    <a:gs pos="0">
                      <a:srgbClr val="6B1374">
                        <a:alpha val="100000"/>
                      </a:srgbClr>
                    </a:gs>
                    <a:gs pos="33333">
                      <a:srgbClr val="700A89">
                        <a:alpha val="100000"/>
                      </a:srgbClr>
                    </a:gs>
                    <a:gs pos="66667">
                      <a:srgbClr val="C20052">
                        <a:alpha val="100000"/>
                      </a:srgbClr>
                    </a:gs>
                    <a:gs pos="100000">
                      <a:srgbClr val="FF0055">
                        <a:alpha val="100000"/>
                      </a:srgbClr>
                    </a:gs>
                  </a:gsLst>
                  <a:lin ang="2700000"/>
                </a:gradFill>
                <a:prstDash val="solid"/>
                <a:round/>
              </a:ln>
            </p:spPr>
            <p:txBody>
              <a:bodyPr/>
              <a:lstStyle/>
              <a:p>
                <a:endParaRPr lang="es-CO"/>
              </a:p>
            </p:txBody>
          </p:sp>
          <p:sp>
            <p:nvSpPr>
              <p:cNvPr id="20" name="TextBox 14">
                <a:extLst>
                  <a:ext uri="{FF2B5EF4-FFF2-40B4-BE49-F238E27FC236}">
                    <a16:creationId xmlns:a16="http://schemas.microsoft.com/office/drawing/2014/main" id="{18445748-31A5-2339-CD83-939D0515C625}"/>
                  </a:ext>
                </a:extLst>
              </p:cNvPr>
              <p:cNvSpPr txBox="1"/>
              <p:nvPr/>
            </p:nvSpPr>
            <p:spPr>
              <a:xfrm>
                <a:off x="0" y="-38100"/>
                <a:ext cx="582801" cy="266366"/>
              </a:xfrm>
              <a:prstGeom prst="rect">
                <a:avLst/>
              </a:prstGeom>
            </p:spPr>
            <p:txBody>
              <a:bodyPr lIns="50800" tIns="50800" rIns="50800" bIns="50800" rtlCol="0" anchor="ctr"/>
              <a:lstStyle/>
              <a:p>
                <a:pPr algn="ctr">
                  <a:lnSpc>
                    <a:spcPts val="2660"/>
                  </a:lnSpc>
                </a:pPr>
                <a:endParaRPr/>
              </a:p>
            </p:txBody>
          </p:sp>
        </p:grpSp>
        <p:sp>
          <p:nvSpPr>
            <p:cNvPr id="17" name="TextBox 15">
              <a:extLst>
                <a:ext uri="{FF2B5EF4-FFF2-40B4-BE49-F238E27FC236}">
                  <a16:creationId xmlns:a16="http://schemas.microsoft.com/office/drawing/2014/main" id="{02165A0E-3897-B7CB-3129-AA263509EC89}"/>
                </a:ext>
              </a:extLst>
            </p:cNvPr>
            <p:cNvSpPr txBox="1"/>
            <p:nvPr/>
          </p:nvSpPr>
          <p:spPr>
            <a:xfrm>
              <a:off x="355297" y="1180058"/>
              <a:ext cx="7868385" cy="2652376"/>
            </a:xfrm>
            <a:prstGeom prst="rect">
              <a:avLst/>
            </a:prstGeom>
          </p:spPr>
          <p:txBody>
            <a:bodyPr lIns="0" tIns="0" rIns="0" bIns="0" rtlCol="0" anchor="t">
              <a:spAutoFit/>
            </a:bodyPr>
            <a:lstStyle/>
            <a:p>
              <a:r>
                <a:rPr lang="es-CO" sz="2400" dirty="0"/>
                <a:t>En Grupos y por cada caso de estudio</a:t>
              </a:r>
            </a:p>
            <a:p>
              <a:endParaRPr lang="es-CO" sz="2400" dirty="0"/>
            </a:p>
            <a:p>
              <a:pPr marL="285750" indent="-285750">
                <a:buFont typeface="Arial" panose="020B0604020202020204" pitchFamily="34" charset="0"/>
                <a:buChar char="•"/>
              </a:pPr>
              <a:r>
                <a:rPr lang="es-CO" sz="2400" dirty="0"/>
                <a:t>Paso 2-1: Construir la matriz</a:t>
              </a:r>
            </a:p>
            <a:p>
              <a:pPr marL="285750" indent="-285750">
                <a:buFont typeface="Arial" panose="020B0604020202020204" pitchFamily="34" charset="0"/>
                <a:buChar char="•"/>
              </a:pPr>
              <a:r>
                <a:rPr lang="es-CO" sz="2400" dirty="0"/>
                <a:t>Paso 2-2: Completar la matriz</a:t>
              </a:r>
            </a:p>
            <a:p>
              <a:endParaRPr lang="es-CO" sz="2400" dirty="0"/>
            </a:p>
          </p:txBody>
        </p:sp>
      </p:grpSp>
    </p:spTree>
    <p:extLst>
      <p:ext uri="{BB962C8B-B14F-4D97-AF65-F5344CB8AC3E}">
        <p14:creationId xmlns:p14="http://schemas.microsoft.com/office/powerpoint/2010/main" val="3535062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74B36-FD69-B9F1-879D-6BDA871EFAB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F72B9D7-A353-13DE-9DC8-8BD73222CAD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BCEF3BA4-50F4-8DF2-1AF7-9F3B3796CBC9}"/>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3799E304-BE56-09BB-BCAD-019796007A9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B5597EE-525D-E25D-36C3-F49C125997F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C8AAF8C4-1B06-E03E-8979-9FC6135DEA9E}"/>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1F603F43-56DA-3871-547F-A74758995F8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0327629A-B9A6-6A29-E317-689E505D8FDA}"/>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67F937A-B514-FDB7-CD50-6C0E31F75A5A}"/>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4B5A5094-B895-9D6C-04E9-8D06DEFC0B2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EED92A39-98BF-6A03-2667-C87C8395569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A030351-CDFA-4134-5C91-46A8FE6841EB}"/>
              </a:ext>
            </a:extLst>
          </p:cNvPr>
          <p:cNvSpPr txBox="1"/>
          <p:nvPr/>
        </p:nvSpPr>
        <p:spPr>
          <a:xfrm>
            <a:off x="4508369" y="4917732"/>
            <a:ext cx="9186420" cy="2123658"/>
          </a:xfrm>
          <a:prstGeom prst="rect">
            <a:avLst/>
          </a:prstGeom>
          <a:noFill/>
        </p:spPr>
        <p:txBody>
          <a:bodyPr wrap="square">
            <a:spAutoFit/>
          </a:bodyPr>
          <a:lstStyle/>
          <a:p>
            <a:pPr algn="ctr"/>
            <a:r>
              <a:rPr lang="es-CO" sz="4400" b="1" dirty="0"/>
              <a:t>Paso 3: </a:t>
            </a:r>
          </a:p>
          <a:p>
            <a:pPr algn="ctr"/>
            <a:r>
              <a:rPr lang="es-CO" sz="4400" b="1" dirty="0"/>
              <a:t>Crear un diagrama de entidad-relación simplificado</a:t>
            </a:r>
          </a:p>
        </p:txBody>
      </p:sp>
    </p:spTree>
    <p:extLst>
      <p:ext uri="{BB962C8B-B14F-4D97-AF65-F5344CB8AC3E}">
        <p14:creationId xmlns:p14="http://schemas.microsoft.com/office/powerpoint/2010/main" val="2722885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5CCD0-DBB0-4DE3-FF91-FFE438A7D8A8}"/>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B4C6A28C-C600-1181-C330-16CD4F284E58}"/>
              </a:ext>
            </a:extLst>
          </p:cNvPr>
          <p:cNvGrpSpPr/>
          <p:nvPr/>
        </p:nvGrpSpPr>
        <p:grpSpPr>
          <a:xfrm rot="-10800000">
            <a:off x="10392303" y="0"/>
            <a:ext cx="7895697" cy="10287000"/>
            <a:chOff x="0" y="0"/>
            <a:chExt cx="2079525" cy="2709333"/>
          </a:xfrm>
        </p:grpSpPr>
        <p:sp>
          <p:nvSpPr>
            <p:cNvPr id="4" name="Freeform 4">
              <a:extLst>
                <a:ext uri="{FF2B5EF4-FFF2-40B4-BE49-F238E27FC236}">
                  <a16:creationId xmlns:a16="http://schemas.microsoft.com/office/drawing/2014/main" id="{37C37EC5-4DBE-C038-687C-EA1BCCE606FC}"/>
                </a:ext>
              </a:extLst>
            </p:cNvPr>
            <p:cNvSpPr/>
            <p:nvPr/>
          </p:nvSpPr>
          <p:spPr>
            <a:xfrm>
              <a:off x="0" y="0"/>
              <a:ext cx="2079525" cy="2709333"/>
            </a:xfrm>
            <a:custGeom>
              <a:avLst/>
              <a:gdLst/>
              <a:ahLst/>
              <a:cxnLst/>
              <a:rect l="l" t="t" r="r" b="b"/>
              <a:pathLst>
                <a:path w="2079525" h="2709333">
                  <a:moveTo>
                    <a:pt x="0" y="0"/>
                  </a:moveTo>
                  <a:lnTo>
                    <a:pt x="2079525" y="0"/>
                  </a:lnTo>
                  <a:lnTo>
                    <a:pt x="2079525"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5" name="TextBox 5">
              <a:extLst>
                <a:ext uri="{FF2B5EF4-FFF2-40B4-BE49-F238E27FC236}">
                  <a16:creationId xmlns:a16="http://schemas.microsoft.com/office/drawing/2014/main" id="{C888540F-DD81-7133-6CEC-967EF869A228}"/>
                </a:ext>
              </a:extLst>
            </p:cNvPr>
            <p:cNvSpPr txBox="1"/>
            <p:nvPr/>
          </p:nvSpPr>
          <p:spPr>
            <a:xfrm>
              <a:off x="0" y="-38100"/>
              <a:ext cx="20795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a:extLst>
              <a:ext uri="{FF2B5EF4-FFF2-40B4-BE49-F238E27FC236}">
                <a16:creationId xmlns:a16="http://schemas.microsoft.com/office/drawing/2014/main" id="{2BEB1C73-F2CD-3FED-C127-119FAD498B21}"/>
              </a:ext>
            </a:extLst>
          </p:cNvPr>
          <p:cNvSpPr/>
          <p:nvPr/>
        </p:nvSpPr>
        <p:spPr>
          <a:xfrm>
            <a:off x="9562641" y="4953536"/>
            <a:ext cx="4777510" cy="4687932"/>
          </a:xfrm>
          <a:custGeom>
            <a:avLst/>
            <a:gdLst/>
            <a:ahLst/>
            <a:cxnLst/>
            <a:rect l="l" t="t" r="r" b="b"/>
            <a:pathLst>
              <a:path w="4777510" h="4687932">
                <a:moveTo>
                  <a:pt x="0" y="0"/>
                </a:moveTo>
                <a:lnTo>
                  <a:pt x="4777511" y="0"/>
                </a:lnTo>
                <a:lnTo>
                  <a:pt x="4777511"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a:extLst>
              <a:ext uri="{FF2B5EF4-FFF2-40B4-BE49-F238E27FC236}">
                <a16:creationId xmlns:a16="http://schemas.microsoft.com/office/drawing/2014/main" id="{1F943575-7AD4-99D8-6E86-415E537F5C32}"/>
              </a:ext>
            </a:extLst>
          </p:cNvPr>
          <p:cNvSpPr/>
          <p:nvPr/>
        </p:nvSpPr>
        <p:spPr>
          <a:xfrm rot="-10800000">
            <a:off x="14340152" y="455568"/>
            <a:ext cx="4777510" cy="4687932"/>
          </a:xfrm>
          <a:custGeom>
            <a:avLst/>
            <a:gdLst/>
            <a:ahLst/>
            <a:cxnLst/>
            <a:rect l="l" t="t" r="r" b="b"/>
            <a:pathLst>
              <a:path w="4777510" h="4687932">
                <a:moveTo>
                  <a:pt x="0" y="0"/>
                </a:moveTo>
                <a:lnTo>
                  <a:pt x="4777510" y="0"/>
                </a:lnTo>
                <a:lnTo>
                  <a:pt x="4777510"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grpSp>
        <p:nvGrpSpPr>
          <p:cNvPr id="8" name="Group 8">
            <a:extLst>
              <a:ext uri="{FF2B5EF4-FFF2-40B4-BE49-F238E27FC236}">
                <a16:creationId xmlns:a16="http://schemas.microsoft.com/office/drawing/2014/main" id="{162C02E5-B591-4374-2DE4-A71620F44320}"/>
              </a:ext>
            </a:extLst>
          </p:cNvPr>
          <p:cNvGrpSpPr/>
          <p:nvPr/>
        </p:nvGrpSpPr>
        <p:grpSpPr>
          <a:xfrm rot="1460314">
            <a:off x="10661875" y="4518938"/>
            <a:ext cx="7356554" cy="1249125"/>
            <a:chOff x="0" y="0"/>
            <a:chExt cx="1937529" cy="328988"/>
          </a:xfrm>
        </p:grpSpPr>
        <p:sp>
          <p:nvSpPr>
            <p:cNvPr id="9" name="Freeform 9">
              <a:extLst>
                <a:ext uri="{FF2B5EF4-FFF2-40B4-BE49-F238E27FC236}">
                  <a16:creationId xmlns:a16="http://schemas.microsoft.com/office/drawing/2014/main" id="{E88016C9-BD37-B9B6-A7BC-6C01D067FA32}"/>
                </a:ext>
              </a:extLst>
            </p:cNvPr>
            <p:cNvSpPr/>
            <p:nvPr/>
          </p:nvSpPr>
          <p:spPr>
            <a:xfrm>
              <a:off x="0" y="0"/>
              <a:ext cx="1937528" cy="328988"/>
            </a:xfrm>
            <a:custGeom>
              <a:avLst/>
              <a:gdLst/>
              <a:ahLst/>
              <a:cxnLst/>
              <a:rect l="l" t="t" r="r" b="b"/>
              <a:pathLst>
                <a:path w="1937528" h="328988">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p:spPr>
          <p:txBody>
            <a:bodyPr/>
            <a:lstStyle/>
            <a:p>
              <a:endParaRPr lang="es-CO"/>
            </a:p>
          </p:txBody>
        </p:sp>
        <p:sp>
          <p:nvSpPr>
            <p:cNvPr id="10" name="TextBox 10">
              <a:extLst>
                <a:ext uri="{FF2B5EF4-FFF2-40B4-BE49-F238E27FC236}">
                  <a16:creationId xmlns:a16="http://schemas.microsoft.com/office/drawing/2014/main" id="{E67AD847-B348-D796-87D4-A44738E6FFA4}"/>
                </a:ext>
              </a:extLst>
            </p:cNvPr>
            <p:cNvSpPr txBox="1"/>
            <p:nvPr/>
          </p:nvSpPr>
          <p:spPr>
            <a:xfrm>
              <a:off x="0" y="-38100"/>
              <a:ext cx="1937529" cy="367088"/>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025A555E-51E2-CE47-1411-ADDB43D8B469}"/>
              </a:ext>
            </a:extLst>
          </p:cNvPr>
          <p:cNvGrpSpPr/>
          <p:nvPr/>
        </p:nvGrpSpPr>
        <p:grpSpPr>
          <a:xfrm rot="-10800000">
            <a:off x="-536257" y="9574006"/>
            <a:ext cx="8704391" cy="134923"/>
            <a:chOff x="0" y="0"/>
            <a:chExt cx="2292514" cy="35535"/>
          </a:xfrm>
        </p:grpSpPr>
        <p:sp>
          <p:nvSpPr>
            <p:cNvPr id="12" name="Freeform 12">
              <a:extLst>
                <a:ext uri="{FF2B5EF4-FFF2-40B4-BE49-F238E27FC236}">
                  <a16:creationId xmlns:a16="http://schemas.microsoft.com/office/drawing/2014/main" id="{9FE535F1-CB35-664C-484F-C518D5BA12C0}"/>
                </a:ext>
              </a:extLst>
            </p:cNvPr>
            <p:cNvSpPr/>
            <p:nvPr/>
          </p:nvSpPr>
          <p:spPr>
            <a:xfrm>
              <a:off x="0" y="0"/>
              <a:ext cx="2292515" cy="35535"/>
            </a:xfrm>
            <a:custGeom>
              <a:avLst/>
              <a:gdLst/>
              <a:ahLst/>
              <a:cxnLst/>
              <a:rect l="l" t="t" r="r" b="b"/>
              <a:pathLst>
                <a:path w="2292515" h="35535">
                  <a:moveTo>
                    <a:pt x="17768" y="0"/>
                  </a:moveTo>
                  <a:lnTo>
                    <a:pt x="2274747" y="0"/>
                  </a:lnTo>
                  <a:cubicBezTo>
                    <a:pt x="2284560" y="0"/>
                    <a:pt x="2292515" y="7955"/>
                    <a:pt x="2292515" y="17768"/>
                  </a:cubicBezTo>
                  <a:lnTo>
                    <a:pt x="2292515" y="17768"/>
                  </a:lnTo>
                  <a:cubicBezTo>
                    <a:pt x="2292515" y="22480"/>
                    <a:pt x="2290643" y="26999"/>
                    <a:pt x="2287311" y="30331"/>
                  </a:cubicBezTo>
                  <a:cubicBezTo>
                    <a:pt x="2283978" y="33663"/>
                    <a:pt x="2279459" y="35535"/>
                    <a:pt x="2274747" y="35535"/>
                  </a:cubicBezTo>
                  <a:lnTo>
                    <a:pt x="17768" y="35535"/>
                  </a:lnTo>
                  <a:cubicBezTo>
                    <a:pt x="13055" y="35535"/>
                    <a:pt x="8536" y="33663"/>
                    <a:pt x="5204" y="30331"/>
                  </a:cubicBezTo>
                  <a:cubicBezTo>
                    <a:pt x="1872" y="26999"/>
                    <a:pt x="0" y="22480"/>
                    <a:pt x="0" y="17768"/>
                  </a:cubicBezTo>
                  <a:lnTo>
                    <a:pt x="0" y="17768"/>
                  </a:lnTo>
                  <a:cubicBezTo>
                    <a:pt x="0" y="13055"/>
                    <a:pt x="1872" y="8536"/>
                    <a:pt x="5204" y="5204"/>
                  </a:cubicBezTo>
                  <a:cubicBezTo>
                    <a:pt x="8536" y="1872"/>
                    <a:pt x="13055" y="0"/>
                    <a:pt x="17768" y="0"/>
                  </a:cubicBez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0"/>
            </a:gradFill>
          </p:spPr>
          <p:txBody>
            <a:bodyPr/>
            <a:lstStyle/>
            <a:p>
              <a:endParaRPr lang="es-CO"/>
            </a:p>
          </p:txBody>
        </p:sp>
        <p:sp>
          <p:nvSpPr>
            <p:cNvPr id="13" name="TextBox 13">
              <a:extLst>
                <a:ext uri="{FF2B5EF4-FFF2-40B4-BE49-F238E27FC236}">
                  <a16:creationId xmlns:a16="http://schemas.microsoft.com/office/drawing/2014/main" id="{CD903F14-0D96-9A30-B45B-809B5B11395B}"/>
                </a:ext>
              </a:extLst>
            </p:cNvPr>
            <p:cNvSpPr txBox="1"/>
            <p:nvPr/>
          </p:nvSpPr>
          <p:spPr>
            <a:xfrm>
              <a:off x="0" y="-38100"/>
              <a:ext cx="2292514" cy="73635"/>
            </a:xfrm>
            <a:prstGeom prst="rect">
              <a:avLst/>
            </a:prstGeom>
          </p:spPr>
          <p:txBody>
            <a:bodyPr lIns="50800" tIns="50800" rIns="50800" bIns="50800" rtlCol="0" anchor="ctr"/>
            <a:lstStyle/>
            <a:p>
              <a:pPr algn="ctr">
                <a:lnSpc>
                  <a:spcPts val="2659"/>
                </a:lnSpc>
              </a:pPr>
              <a:endParaRPr/>
            </a:p>
          </p:txBody>
        </p:sp>
      </p:grpSp>
      <p:sp>
        <p:nvSpPr>
          <p:cNvPr id="15" name="TextBox 15">
            <a:extLst>
              <a:ext uri="{FF2B5EF4-FFF2-40B4-BE49-F238E27FC236}">
                <a16:creationId xmlns:a16="http://schemas.microsoft.com/office/drawing/2014/main" id="{0BF4EB19-7301-5B70-69E5-AE2B40BDCC42}"/>
              </a:ext>
            </a:extLst>
          </p:cNvPr>
          <p:cNvSpPr txBox="1"/>
          <p:nvPr/>
        </p:nvSpPr>
        <p:spPr>
          <a:xfrm>
            <a:off x="822279" y="1616322"/>
            <a:ext cx="8321721" cy="752514"/>
          </a:xfrm>
          <a:prstGeom prst="rect">
            <a:avLst/>
          </a:prstGeom>
        </p:spPr>
        <p:txBody>
          <a:bodyPr wrap="square" lIns="0" tIns="0" rIns="0" bIns="0" rtlCol="0" anchor="t">
            <a:spAutoFit/>
          </a:bodyPr>
          <a:lstStyle/>
          <a:p>
            <a:pPr algn="ctr">
              <a:lnSpc>
                <a:spcPts val="6159"/>
              </a:lnSpc>
              <a:spcBef>
                <a:spcPct val="0"/>
              </a:spcBef>
            </a:pPr>
            <a:r>
              <a:rPr lang="es-CO" sz="4350" b="1" dirty="0">
                <a:solidFill>
                  <a:srgbClr val="700A89"/>
                </a:solidFill>
                <a:latin typeface="Poppins" panose="00000500000000000000" pitchFamily="2" charset="0"/>
                <a:cs typeface="Poppins" panose="00000500000000000000" pitchFamily="2" charset="0"/>
                <a:sym typeface="Poppins 1 Bold"/>
              </a:rPr>
              <a:t>Actividad</a:t>
            </a:r>
            <a:endParaRPr lang="es-CO" sz="4350" b="1" noProof="0" dirty="0">
              <a:solidFill>
                <a:srgbClr val="700A89"/>
              </a:solidFill>
              <a:latin typeface="Poppins 1 Bold"/>
              <a:cs typeface="Poppins 1 Bold"/>
              <a:sym typeface="Poppins 1 Bold"/>
            </a:endParaRPr>
          </a:p>
        </p:txBody>
      </p:sp>
      <p:grpSp>
        <p:nvGrpSpPr>
          <p:cNvPr id="14" name="Group 11">
            <a:extLst>
              <a:ext uri="{FF2B5EF4-FFF2-40B4-BE49-F238E27FC236}">
                <a16:creationId xmlns:a16="http://schemas.microsoft.com/office/drawing/2014/main" id="{AB731042-EC7C-4CB2-73BA-A6F6F1067557}"/>
              </a:ext>
            </a:extLst>
          </p:cNvPr>
          <p:cNvGrpSpPr/>
          <p:nvPr/>
        </p:nvGrpSpPr>
        <p:grpSpPr>
          <a:xfrm>
            <a:off x="2058780" y="2289744"/>
            <a:ext cx="6529135" cy="5279975"/>
            <a:chOff x="-126535" y="-560842"/>
            <a:chExt cx="8705514" cy="7583683"/>
          </a:xfrm>
        </p:grpSpPr>
        <p:grpSp>
          <p:nvGrpSpPr>
            <p:cNvPr id="16" name="Group 12">
              <a:extLst>
                <a:ext uri="{FF2B5EF4-FFF2-40B4-BE49-F238E27FC236}">
                  <a16:creationId xmlns:a16="http://schemas.microsoft.com/office/drawing/2014/main" id="{56184086-BB31-4E1D-2835-CC063FCD85D4}"/>
                </a:ext>
              </a:extLst>
            </p:cNvPr>
            <p:cNvGrpSpPr/>
            <p:nvPr/>
          </p:nvGrpSpPr>
          <p:grpSpPr>
            <a:xfrm>
              <a:off x="-126535" y="-560842"/>
              <a:ext cx="8705514" cy="7583683"/>
              <a:chOff x="-8596" y="-38100"/>
              <a:chExt cx="591397" cy="515187"/>
            </a:xfrm>
          </p:grpSpPr>
          <p:sp>
            <p:nvSpPr>
              <p:cNvPr id="19" name="Freeform 13">
                <a:extLst>
                  <a:ext uri="{FF2B5EF4-FFF2-40B4-BE49-F238E27FC236}">
                    <a16:creationId xmlns:a16="http://schemas.microsoft.com/office/drawing/2014/main" id="{C058F019-A24A-57AB-9A71-675AEC87D587}"/>
                  </a:ext>
                </a:extLst>
              </p:cNvPr>
              <p:cNvSpPr/>
              <p:nvPr/>
            </p:nvSpPr>
            <p:spPr>
              <a:xfrm>
                <a:off x="-8596" y="-64"/>
                <a:ext cx="582801" cy="477151"/>
              </a:xfrm>
              <a:custGeom>
                <a:avLst/>
                <a:gdLst/>
                <a:ahLst/>
                <a:cxnLst/>
                <a:rect l="l" t="t" r="r" b="b"/>
                <a:pathLst>
                  <a:path w="582801" h="228266">
                    <a:moveTo>
                      <a:pt x="87467" y="0"/>
                    </a:moveTo>
                    <a:lnTo>
                      <a:pt x="495335" y="0"/>
                    </a:lnTo>
                    <a:cubicBezTo>
                      <a:pt x="543641" y="0"/>
                      <a:pt x="582801" y="39160"/>
                      <a:pt x="582801" y="87467"/>
                    </a:cubicBezTo>
                    <a:lnTo>
                      <a:pt x="582801" y="140800"/>
                    </a:lnTo>
                    <a:cubicBezTo>
                      <a:pt x="582801" y="189106"/>
                      <a:pt x="543641" y="228266"/>
                      <a:pt x="495335" y="228266"/>
                    </a:cubicBezTo>
                    <a:lnTo>
                      <a:pt x="87467" y="228266"/>
                    </a:lnTo>
                    <a:cubicBezTo>
                      <a:pt x="39160" y="228266"/>
                      <a:pt x="0" y="189106"/>
                      <a:pt x="0" y="140800"/>
                    </a:cubicBezTo>
                    <a:lnTo>
                      <a:pt x="0" y="87467"/>
                    </a:lnTo>
                    <a:cubicBezTo>
                      <a:pt x="0" y="39160"/>
                      <a:pt x="39160" y="0"/>
                      <a:pt x="87467" y="0"/>
                    </a:cubicBezTo>
                    <a:close/>
                  </a:path>
                </a:pathLst>
              </a:custGeom>
              <a:solidFill>
                <a:srgbClr val="000000">
                  <a:alpha val="0"/>
                </a:srgbClr>
              </a:solidFill>
              <a:ln w="38100" cap="rnd">
                <a:gradFill>
                  <a:gsLst>
                    <a:gs pos="0">
                      <a:srgbClr val="6B1374">
                        <a:alpha val="100000"/>
                      </a:srgbClr>
                    </a:gs>
                    <a:gs pos="33333">
                      <a:srgbClr val="700A89">
                        <a:alpha val="100000"/>
                      </a:srgbClr>
                    </a:gs>
                    <a:gs pos="66667">
                      <a:srgbClr val="C20052">
                        <a:alpha val="100000"/>
                      </a:srgbClr>
                    </a:gs>
                    <a:gs pos="100000">
                      <a:srgbClr val="FF0055">
                        <a:alpha val="100000"/>
                      </a:srgbClr>
                    </a:gs>
                  </a:gsLst>
                  <a:lin ang="2700000"/>
                </a:gradFill>
                <a:prstDash val="solid"/>
                <a:round/>
              </a:ln>
            </p:spPr>
            <p:txBody>
              <a:bodyPr/>
              <a:lstStyle/>
              <a:p>
                <a:endParaRPr lang="es-CO"/>
              </a:p>
            </p:txBody>
          </p:sp>
          <p:sp>
            <p:nvSpPr>
              <p:cNvPr id="20" name="TextBox 14">
                <a:extLst>
                  <a:ext uri="{FF2B5EF4-FFF2-40B4-BE49-F238E27FC236}">
                    <a16:creationId xmlns:a16="http://schemas.microsoft.com/office/drawing/2014/main" id="{7512B3C1-15EC-598F-A099-3E877B3042D8}"/>
                  </a:ext>
                </a:extLst>
              </p:cNvPr>
              <p:cNvSpPr txBox="1"/>
              <p:nvPr/>
            </p:nvSpPr>
            <p:spPr>
              <a:xfrm>
                <a:off x="0" y="-38100"/>
                <a:ext cx="582801" cy="266366"/>
              </a:xfrm>
              <a:prstGeom prst="rect">
                <a:avLst/>
              </a:prstGeom>
            </p:spPr>
            <p:txBody>
              <a:bodyPr lIns="50800" tIns="50800" rIns="50800" bIns="50800" rtlCol="0" anchor="ctr"/>
              <a:lstStyle/>
              <a:p>
                <a:pPr algn="ctr">
                  <a:lnSpc>
                    <a:spcPts val="2660"/>
                  </a:lnSpc>
                </a:pPr>
                <a:endParaRPr/>
              </a:p>
            </p:txBody>
          </p:sp>
        </p:grpSp>
        <p:sp>
          <p:nvSpPr>
            <p:cNvPr id="17" name="TextBox 15">
              <a:extLst>
                <a:ext uri="{FF2B5EF4-FFF2-40B4-BE49-F238E27FC236}">
                  <a16:creationId xmlns:a16="http://schemas.microsoft.com/office/drawing/2014/main" id="{615F1866-E3E7-97AF-B6CF-4F9D615F83AA}"/>
                </a:ext>
              </a:extLst>
            </p:cNvPr>
            <p:cNvSpPr txBox="1"/>
            <p:nvPr/>
          </p:nvSpPr>
          <p:spPr>
            <a:xfrm>
              <a:off x="355297" y="1180058"/>
              <a:ext cx="7868385" cy="3182851"/>
            </a:xfrm>
            <a:prstGeom prst="rect">
              <a:avLst/>
            </a:prstGeom>
          </p:spPr>
          <p:txBody>
            <a:bodyPr lIns="0" tIns="0" rIns="0" bIns="0" rtlCol="0" anchor="t">
              <a:spAutoFit/>
            </a:bodyPr>
            <a:lstStyle/>
            <a:p>
              <a:r>
                <a:rPr lang="es-CO" sz="2400" dirty="0"/>
                <a:t>En Grupos y por cada caso de estudio</a:t>
              </a:r>
            </a:p>
            <a:p>
              <a:endParaRPr lang="es-CO" sz="2400" dirty="0"/>
            </a:p>
            <a:p>
              <a:pPr algn="ctr"/>
              <a:r>
                <a:rPr lang="es-CO" sz="2400" b="1" dirty="0"/>
                <a:t>Paso 3: </a:t>
              </a:r>
            </a:p>
            <a:p>
              <a:pPr algn="ctr"/>
              <a:r>
                <a:rPr lang="es-CO" sz="2400" b="1" dirty="0"/>
                <a:t>Crear un diagrama de entidad-relación simplificado</a:t>
              </a:r>
            </a:p>
            <a:p>
              <a:endParaRPr lang="es-CO" sz="2400" dirty="0"/>
            </a:p>
          </p:txBody>
        </p:sp>
      </p:grpSp>
    </p:spTree>
    <p:extLst>
      <p:ext uri="{BB962C8B-B14F-4D97-AF65-F5344CB8AC3E}">
        <p14:creationId xmlns:p14="http://schemas.microsoft.com/office/powerpoint/2010/main" val="2741502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77383-CC1A-E23F-9FD8-D257982E63F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8D175A2-E660-E913-8EF2-E7CE017AE772}"/>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2E90512-13E6-59CD-6D53-31AD29A95FC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6BD956D-D448-A519-C632-784B72B76F5F}"/>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FE3712F-52A4-4CEE-085A-7C949DF8A874}"/>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D25B3B1F-333C-9079-333C-63315B9B080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D06613B1-D8A4-FF03-12EB-BFDD1C8FF66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0AF57D9-BE87-2A8A-7A65-BF59E774C08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5D79892E-6F5B-9C87-0D04-F62D6F9400D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A1452C0-6737-96A4-28E4-4B015F6CF1E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61F3D85-4169-0FBC-ADFF-F68E786B4C29}"/>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E10B2CFB-01D0-A45F-C910-988D86D28D5C}"/>
              </a:ext>
            </a:extLst>
          </p:cNvPr>
          <p:cNvSpPr txBox="1"/>
          <p:nvPr/>
        </p:nvSpPr>
        <p:spPr>
          <a:xfrm>
            <a:off x="3048972" y="8196408"/>
            <a:ext cx="12525866" cy="707886"/>
          </a:xfrm>
          <a:prstGeom prst="rect">
            <a:avLst/>
          </a:prstGeom>
          <a:noFill/>
        </p:spPr>
        <p:txBody>
          <a:bodyPr wrap="square">
            <a:spAutoFit/>
          </a:bodyPr>
          <a:lstStyle/>
          <a:p>
            <a:r>
              <a:rPr lang="es-CO" sz="2000" dirty="0">
                <a:hlinkClick r:id="rId5"/>
              </a:rPr>
              <a:t>https://drive.google.com/file/d/1HIq7TgyTC39MFYDWEfhXrwqwkl-YwvKt/view?usp=sharing</a:t>
            </a:r>
            <a:endParaRPr lang="es-CO" sz="2000" dirty="0"/>
          </a:p>
          <a:p>
            <a:endParaRPr lang="es-CO" sz="2000" dirty="0"/>
          </a:p>
        </p:txBody>
      </p:sp>
      <p:sp>
        <p:nvSpPr>
          <p:cNvPr id="14" name="TextBox 15">
            <a:extLst>
              <a:ext uri="{FF2B5EF4-FFF2-40B4-BE49-F238E27FC236}">
                <a16:creationId xmlns:a16="http://schemas.microsoft.com/office/drawing/2014/main" id="{1DA277C9-4F8C-5C09-95B4-A6A0FC78ACA7}"/>
              </a:ext>
            </a:extLst>
          </p:cNvPr>
          <p:cNvSpPr txBox="1"/>
          <p:nvPr/>
        </p:nvSpPr>
        <p:spPr>
          <a:xfrm>
            <a:off x="2297606" y="2090592"/>
            <a:ext cx="10645396" cy="3693319"/>
          </a:xfrm>
          <a:prstGeom prst="rect">
            <a:avLst/>
          </a:prstGeom>
        </p:spPr>
        <p:txBody>
          <a:bodyPr wrap="square" lIns="0" tIns="0" rIns="0" bIns="0" rtlCol="0" anchor="t">
            <a:spAutoFit/>
          </a:bodyPr>
          <a:lstStyle/>
          <a:p>
            <a:endParaRPr lang="es-CO" sz="2400" dirty="0"/>
          </a:p>
          <a:p>
            <a:pPr algn="ctr"/>
            <a:endParaRPr lang="es-CO" sz="2400" b="1" dirty="0"/>
          </a:p>
          <a:p>
            <a:pPr algn="ctr"/>
            <a:r>
              <a:rPr lang="es-CO" sz="2400" b="1" dirty="0"/>
              <a:t>Paso 3: </a:t>
            </a:r>
          </a:p>
          <a:p>
            <a:pPr algn="ctr"/>
            <a:r>
              <a:rPr lang="es-CO" sz="2400" b="1" dirty="0"/>
              <a:t>Crear un diagrama de entidad-relación simplificado</a:t>
            </a:r>
          </a:p>
          <a:p>
            <a:pPr algn="ctr"/>
            <a:endParaRPr lang="es-CO" sz="2400" b="1" dirty="0"/>
          </a:p>
          <a:p>
            <a:r>
              <a:rPr lang="es-CO" sz="2400" b="1" dirty="0"/>
              <a:t>3.1 Listar las entidades</a:t>
            </a:r>
          </a:p>
          <a:p>
            <a:r>
              <a:rPr lang="es-CO" sz="2400" b="1" dirty="0"/>
              <a:t>3.2 Agregar las relación de las entidades</a:t>
            </a:r>
          </a:p>
          <a:p>
            <a:endParaRPr lang="es-CO" sz="2400" b="1" dirty="0"/>
          </a:p>
          <a:p>
            <a:r>
              <a:rPr lang="es-CO" sz="2400" b="1" dirty="0" err="1"/>
              <a:t>Ej</a:t>
            </a:r>
            <a:r>
              <a:rPr lang="es-CO" sz="2400" b="1" dirty="0"/>
              <a:t>:</a:t>
            </a:r>
          </a:p>
          <a:p>
            <a:endParaRPr lang="es-CO" sz="2400" dirty="0"/>
          </a:p>
        </p:txBody>
      </p:sp>
      <p:pic>
        <p:nvPicPr>
          <p:cNvPr id="16" name="Imagen 15">
            <a:extLst>
              <a:ext uri="{FF2B5EF4-FFF2-40B4-BE49-F238E27FC236}">
                <a16:creationId xmlns:a16="http://schemas.microsoft.com/office/drawing/2014/main" id="{AE2C19A4-8EF7-94CA-8CBC-47AF93F6881C}"/>
              </a:ext>
            </a:extLst>
          </p:cNvPr>
          <p:cNvPicPr>
            <a:picLocks noChangeAspect="1"/>
          </p:cNvPicPr>
          <p:nvPr/>
        </p:nvPicPr>
        <p:blipFill>
          <a:blip r:embed="rId6"/>
          <a:stretch>
            <a:fillRect/>
          </a:stretch>
        </p:blipFill>
        <p:spPr>
          <a:xfrm>
            <a:off x="10737130" y="4466594"/>
            <a:ext cx="7094272" cy="3089441"/>
          </a:xfrm>
          <a:prstGeom prst="rect">
            <a:avLst/>
          </a:prstGeom>
        </p:spPr>
      </p:pic>
    </p:spTree>
    <p:extLst>
      <p:ext uri="{BB962C8B-B14F-4D97-AF65-F5344CB8AC3E}">
        <p14:creationId xmlns:p14="http://schemas.microsoft.com/office/powerpoint/2010/main" val="25106422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A56B3-424E-8585-ED8D-F2988B908F9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56C8827-A3B5-6216-7C26-6403707C68B9}"/>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CB76A93-C4DF-1EB5-D466-004C943FA02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53F1B6D-F973-66CE-39C1-EF67469A1D3D}"/>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CC509478-8B34-BF46-138B-CBA562FA0E3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65D0A4B9-A3E7-3F72-A344-A1498652BAA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E0798E8-55F0-7F85-D136-5D2F1919A53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803A777A-C951-FBF1-7C46-93811C6E5C8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52728127-68C2-F9F4-5321-FEEACC07F81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CE4B0E42-F853-EA80-73B7-81A1339C8CDD}"/>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FD94E7B0-C77E-9505-692A-FE66C2CF0F7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E21183D0-FE06-AFEA-8E1A-60BC19796954}"/>
              </a:ext>
            </a:extLst>
          </p:cNvPr>
          <p:cNvSpPr txBox="1"/>
          <p:nvPr/>
        </p:nvSpPr>
        <p:spPr>
          <a:xfrm>
            <a:off x="4640344" y="4436965"/>
            <a:ext cx="9186420" cy="2308324"/>
          </a:xfrm>
          <a:prstGeom prst="rect">
            <a:avLst/>
          </a:prstGeom>
          <a:noFill/>
        </p:spPr>
        <p:txBody>
          <a:bodyPr wrap="square">
            <a:spAutoFit/>
          </a:bodyPr>
          <a:lstStyle/>
          <a:p>
            <a:pPr algn="ctr"/>
            <a:r>
              <a:rPr lang="es-CO" sz="4800" b="1" dirty="0"/>
              <a:t>Paso 4: </a:t>
            </a:r>
          </a:p>
          <a:p>
            <a:pPr algn="ctr"/>
            <a:r>
              <a:rPr lang="es-CO" sz="4800" b="1" dirty="0"/>
              <a:t>Enumerar las aserciones para todas las relaciones</a:t>
            </a:r>
          </a:p>
        </p:txBody>
      </p:sp>
    </p:spTree>
    <p:extLst>
      <p:ext uri="{BB962C8B-B14F-4D97-AF65-F5344CB8AC3E}">
        <p14:creationId xmlns:p14="http://schemas.microsoft.com/office/powerpoint/2010/main" val="14672346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0D44C-1B52-9326-1E97-83EBBD138C9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D70A338-786A-6AC7-931E-36F675CF288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45E4AEA-9945-766F-89A7-8C73F3391048}"/>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217F534-A603-12B6-8677-42481D94BF9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A78F32B-ADEE-FF9B-6566-6F4F24839C9B}"/>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42E8B34-FC1F-83D3-F274-AC0613543DB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63AFA60D-2040-A6E1-A9BA-60FE9CFA0EA8}"/>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922D1E7-6AD8-37A3-F07E-B9E6657EECC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03E4BA83-50E2-FF34-BA68-424C49B77320}"/>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484AF8C6-442E-B494-1E67-99B6178DA4F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1F98FEB9-491C-8F23-BD22-2D696F6BA3B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C0F20182-D7A1-98CC-45C4-071B652ABBA5}"/>
              </a:ext>
            </a:extLst>
          </p:cNvPr>
          <p:cNvSpPr txBox="1"/>
          <p:nvPr/>
        </p:nvSpPr>
        <p:spPr>
          <a:xfrm>
            <a:off x="1529497" y="763222"/>
            <a:ext cx="15401041" cy="8894743"/>
          </a:xfrm>
          <a:prstGeom prst="rect">
            <a:avLst/>
          </a:prstGeom>
          <a:noFill/>
        </p:spPr>
        <p:txBody>
          <a:bodyPr wrap="square">
            <a:spAutoFit/>
          </a:bodyPr>
          <a:lstStyle/>
          <a:p>
            <a:pPr>
              <a:buNone/>
            </a:pPr>
            <a:r>
              <a:rPr lang="es-ES" sz="4400" b="1" dirty="0"/>
              <a:t>Aseveraciones del modelo (</a:t>
            </a:r>
            <a:r>
              <a:rPr lang="es-ES" sz="4400" b="1" dirty="0" err="1"/>
              <a:t>Assertions</a:t>
            </a:r>
            <a:r>
              <a:rPr lang="es-ES" sz="4400" b="1" dirty="0"/>
              <a:t>)</a:t>
            </a:r>
            <a:endParaRPr lang="es-ES" sz="4400" dirty="0"/>
          </a:p>
          <a:p>
            <a:pPr>
              <a:buFont typeface="Arial" panose="020B0604020202020204" pitchFamily="34" charset="0"/>
              <a:buChar char="•"/>
            </a:pPr>
            <a:r>
              <a:rPr lang="es-ES" sz="4400" dirty="0"/>
              <a:t>Objetivo:</a:t>
            </a:r>
          </a:p>
          <a:p>
            <a:pPr marL="742950" lvl="1" indent="-285750">
              <a:buFont typeface="Arial" panose="020B0604020202020204" pitchFamily="34" charset="0"/>
              <a:buChar char="•"/>
            </a:pPr>
            <a:r>
              <a:rPr lang="es-ES" sz="4400" dirty="0"/>
              <a:t>Convertir cada relación del diagrama E-R simplificado en </a:t>
            </a:r>
            <a:r>
              <a:rPr lang="es-ES" sz="4400" b="1" dirty="0"/>
              <a:t>frases claras</a:t>
            </a:r>
            <a:r>
              <a:rPr lang="es-ES" sz="4400" dirty="0"/>
              <a:t> que describan la regla de negocio.</a:t>
            </a:r>
          </a:p>
          <a:p>
            <a:pPr marL="742950" lvl="1" indent="-285750">
              <a:buFont typeface="Arial" panose="020B0604020202020204" pitchFamily="34" charset="0"/>
              <a:buChar char="•"/>
            </a:pPr>
            <a:endParaRPr lang="es-ES" sz="4400" dirty="0"/>
          </a:p>
          <a:p>
            <a:pPr>
              <a:buFont typeface="Arial" panose="020B0604020202020204" pitchFamily="34" charset="0"/>
              <a:buChar char="•"/>
            </a:pPr>
            <a:r>
              <a:rPr lang="es-ES" sz="4400" dirty="0"/>
              <a:t>¿Por qué?</a:t>
            </a:r>
          </a:p>
          <a:p>
            <a:pPr marL="742950" lvl="1" indent="-285750">
              <a:buFont typeface="Arial" panose="020B0604020202020204" pitchFamily="34" charset="0"/>
              <a:buChar char="•"/>
            </a:pPr>
            <a:r>
              <a:rPr lang="es-ES" sz="4400" dirty="0"/>
              <a:t>Para verificar con el cliente que el modelo refleja </a:t>
            </a:r>
            <a:r>
              <a:rPr lang="es-ES" sz="4400" b="1" dirty="0"/>
              <a:t>exactamente</a:t>
            </a:r>
            <a:r>
              <a:rPr lang="es-ES" sz="4400" dirty="0"/>
              <a:t> lo que puede y debe pasar en la base de datos.</a:t>
            </a:r>
          </a:p>
          <a:p>
            <a:pPr marL="742950" lvl="1" indent="-285750">
              <a:buFont typeface="Arial" panose="020B0604020202020204" pitchFamily="34" charset="0"/>
              <a:buChar char="•"/>
            </a:pPr>
            <a:endParaRPr lang="es-ES" sz="4400" dirty="0"/>
          </a:p>
          <a:p>
            <a:pPr>
              <a:buFont typeface="Arial" panose="020B0604020202020204" pitchFamily="34" charset="0"/>
              <a:buChar char="•"/>
            </a:pPr>
            <a:r>
              <a:rPr lang="es-ES" sz="4400" dirty="0"/>
              <a:t>Se usan dos ideas clave:</a:t>
            </a:r>
          </a:p>
          <a:p>
            <a:pPr marL="742950" lvl="1" indent="-285750">
              <a:buFont typeface="Arial" panose="020B0604020202020204" pitchFamily="34" charset="0"/>
              <a:buChar char="•"/>
            </a:pPr>
            <a:r>
              <a:rPr lang="es-ES" sz="4400" b="1" dirty="0" err="1"/>
              <a:t>Optionality</a:t>
            </a:r>
            <a:r>
              <a:rPr lang="es-ES" sz="4400" b="1" dirty="0"/>
              <a:t> (opcionalidad)</a:t>
            </a:r>
            <a:endParaRPr lang="es-ES" sz="4400" dirty="0"/>
          </a:p>
          <a:p>
            <a:pPr marL="742950" lvl="1" indent="-285750">
              <a:buFont typeface="Arial" panose="020B0604020202020204" pitchFamily="34" charset="0"/>
              <a:buChar char="•"/>
            </a:pPr>
            <a:r>
              <a:rPr lang="es-ES" sz="4400" b="1" dirty="0" err="1"/>
              <a:t>Cardinality</a:t>
            </a:r>
            <a:r>
              <a:rPr lang="es-ES" sz="4400" b="1" dirty="0"/>
              <a:t> (cardinalidad)</a:t>
            </a:r>
            <a:endParaRPr lang="es-ES" sz="4400" dirty="0"/>
          </a:p>
        </p:txBody>
      </p:sp>
    </p:spTree>
    <p:extLst>
      <p:ext uri="{BB962C8B-B14F-4D97-AF65-F5344CB8AC3E}">
        <p14:creationId xmlns:p14="http://schemas.microsoft.com/office/powerpoint/2010/main" val="37119679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A06F6-4B36-1582-09EB-A4C4B57F5B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124E842-1D69-6E0D-23AF-F695932551F8}"/>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37FE3C6-D642-5B61-1392-51A64FD4CA7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38E91E5F-90C7-7786-5BA0-C8B1BDA14148}"/>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9B6CE3D2-7A30-067D-1A30-F54F0EB47F1B}"/>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0C1ACEDE-E2E5-C2F4-0BBF-E33001028E4D}"/>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AE3DF3B8-BA33-041B-A2DC-F210DCE011A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B943CDCA-FD30-05AC-47EC-12235B6AA36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6F893E6-823D-BE92-6464-3DD773A5033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530B5DB-C599-92BA-A525-1091617B916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28D43440-9581-0623-2C9A-97962473DE2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ABE4545-52C0-F4AD-16BB-9E1308253D97}"/>
              </a:ext>
            </a:extLst>
          </p:cNvPr>
          <p:cNvSpPr txBox="1"/>
          <p:nvPr/>
        </p:nvSpPr>
        <p:spPr>
          <a:xfrm>
            <a:off x="1718034" y="1331684"/>
            <a:ext cx="15089958" cy="7478970"/>
          </a:xfrm>
          <a:prstGeom prst="rect">
            <a:avLst/>
          </a:prstGeom>
          <a:noFill/>
        </p:spPr>
        <p:txBody>
          <a:bodyPr wrap="square">
            <a:spAutoFit/>
          </a:bodyPr>
          <a:lstStyle/>
          <a:p>
            <a:pPr>
              <a:buNone/>
            </a:pPr>
            <a:r>
              <a:rPr lang="es-ES" sz="3200" b="1" dirty="0" err="1"/>
              <a:t>Optionality</a:t>
            </a:r>
            <a:r>
              <a:rPr lang="es-ES" sz="3200" b="1" dirty="0"/>
              <a:t> (Opcionalidad)</a:t>
            </a:r>
          </a:p>
          <a:p>
            <a:pPr>
              <a:buNone/>
            </a:pPr>
            <a:endParaRPr lang="es-ES" sz="3200" dirty="0"/>
          </a:p>
          <a:p>
            <a:r>
              <a:rPr lang="es-ES" sz="3200" dirty="0"/>
              <a:t>Responde: </a:t>
            </a:r>
            <a:r>
              <a:rPr lang="es-ES" sz="3200" b="1" dirty="0"/>
              <a:t>qué puede</a:t>
            </a:r>
            <a:r>
              <a:rPr lang="es-ES" sz="3200" dirty="0"/>
              <a:t> y </a:t>
            </a:r>
            <a:r>
              <a:rPr lang="es-ES" sz="3200" b="1" dirty="0"/>
              <a:t>qué debe</a:t>
            </a:r>
            <a:r>
              <a:rPr lang="es-ES" sz="3200" dirty="0"/>
              <a:t> pasar en una relación.</a:t>
            </a:r>
          </a:p>
          <a:p>
            <a:r>
              <a:rPr lang="es-ES" sz="3200" dirty="0"/>
              <a:t>Valores posibles:</a:t>
            </a:r>
          </a:p>
          <a:p>
            <a:endParaRPr lang="es-ES" sz="3200" dirty="0"/>
          </a:p>
          <a:p>
            <a:pPr marL="742950" lvl="1" indent="-285750">
              <a:buFont typeface="Arial" panose="020B0604020202020204" pitchFamily="34" charset="0"/>
              <a:buChar char="•"/>
            </a:pPr>
            <a:r>
              <a:rPr lang="es-ES" sz="3200" dirty="0">
                <a:latin typeface="Courier New" panose="02070309020205020404" pitchFamily="49" charset="0"/>
              </a:rPr>
              <a:t>0</a:t>
            </a:r>
            <a:r>
              <a:rPr lang="es-ES" sz="3200" dirty="0"/>
              <a:t> → </a:t>
            </a:r>
            <a:r>
              <a:rPr lang="es-ES" sz="3200" b="1" dirty="0"/>
              <a:t>Puede</a:t>
            </a:r>
            <a:r>
              <a:rPr lang="es-ES" sz="3200" dirty="0"/>
              <a:t> ocurrir o no (relación opcional).</a:t>
            </a:r>
          </a:p>
          <a:p>
            <a:pPr marL="1143000" lvl="2" indent="-228600">
              <a:buFont typeface="Arial" panose="020B0604020202020204" pitchFamily="34" charset="0"/>
              <a:buChar char="•"/>
            </a:pPr>
            <a:r>
              <a:rPr lang="es-ES" sz="3200" dirty="0"/>
              <a:t>Ej.: </a:t>
            </a:r>
            <a:r>
              <a:rPr lang="es-ES" sz="3200" i="1" dirty="0"/>
              <a:t>Un cliente </a:t>
            </a:r>
            <a:r>
              <a:rPr lang="es-ES" sz="3200" b="1" i="1" dirty="0"/>
              <a:t>puede</a:t>
            </a:r>
            <a:r>
              <a:rPr lang="es-ES" sz="3200" i="1" dirty="0"/>
              <a:t> tener cero o más pedidos.</a:t>
            </a:r>
            <a:endParaRPr lang="es-ES" sz="3200" dirty="0"/>
          </a:p>
          <a:p>
            <a:pPr marL="742950" lvl="1" indent="-285750">
              <a:buFont typeface="Arial" panose="020B0604020202020204" pitchFamily="34" charset="0"/>
              <a:buChar char="•"/>
            </a:pPr>
            <a:r>
              <a:rPr lang="es-ES" sz="3200" dirty="0">
                <a:latin typeface="Courier New" panose="02070309020205020404" pitchFamily="49" charset="0"/>
              </a:rPr>
              <a:t>1</a:t>
            </a:r>
            <a:r>
              <a:rPr lang="es-ES" sz="3200" dirty="0"/>
              <a:t> → </a:t>
            </a:r>
            <a:r>
              <a:rPr lang="es-ES" sz="3200" b="1" dirty="0"/>
              <a:t>Debe</a:t>
            </a:r>
            <a:r>
              <a:rPr lang="es-ES" sz="3200" dirty="0"/>
              <a:t> ocurrir (relación obligatoria).</a:t>
            </a:r>
          </a:p>
          <a:p>
            <a:pPr marL="1143000" lvl="2" indent="-228600">
              <a:buFont typeface="Arial" panose="020B0604020202020204" pitchFamily="34" charset="0"/>
              <a:buChar char="•"/>
            </a:pPr>
            <a:r>
              <a:rPr lang="es-ES" sz="3200" dirty="0"/>
              <a:t>Ej.: </a:t>
            </a:r>
            <a:r>
              <a:rPr lang="es-ES" sz="3200" i="1" dirty="0"/>
              <a:t>Cada pedido </a:t>
            </a:r>
            <a:r>
              <a:rPr lang="es-ES" sz="3200" b="1" i="1" dirty="0"/>
              <a:t>debe</a:t>
            </a:r>
            <a:r>
              <a:rPr lang="es-ES" sz="3200" i="1" dirty="0"/>
              <a:t> pertenecer a un cliente.</a:t>
            </a:r>
          </a:p>
          <a:p>
            <a:pPr marL="1143000" lvl="2" indent="-228600">
              <a:buFont typeface="Arial" panose="020B0604020202020204" pitchFamily="34" charset="0"/>
              <a:buChar char="•"/>
            </a:pPr>
            <a:endParaRPr lang="es-ES" sz="3200" dirty="0"/>
          </a:p>
          <a:p>
            <a:r>
              <a:rPr lang="es-ES" sz="3200" dirty="0"/>
              <a:t>Matiz importante:</a:t>
            </a:r>
          </a:p>
          <a:p>
            <a:pPr marL="742950" lvl="1" indent="-285750">
              <a:buFont typeface="Arial" panose="020B0604020202020204" pitchFamily="34" charset="0"/>
              <a:buChar char="•"/>
            </a:pPr>
            <a:r>
              <a:rPr lang="es-ES" sz="3200" dirty="0"/>
              <a:t>Un </a:t>
            </a:r>
            <a:r>
              <a:rPr lang="es-ES" sz="3200" dirty="0">
                <a:latin typeface="Courier New" panose="02070309020205020404" pitchFamily="49" charset="0"/>
              </a:rPr>
              <a:t>0</a:t>
            </a:r>
            <a:r>
              <a:rPr lang="es-ES" sz="3200" dirty="0"/>
              <a:t> implica también la posibilidad de que la relación </a:t>
            </a:r>
            <a:r>
              <a:rPr lang="es-ES" sz="3200" b="1" dirty="0"/>
              <a:t>no ocurra nunca</a:t>
            </a:r>
            <a:r>
              <a:rPr lang="es-ES" sz="3200" dirty="0"/>
              <a:t>.</a:t>
            </a:r>
          </a:p>
          <a:p>
            <a:pPr marL="742950" lvl="1" indent="-285750">
              <a:buFont typeface="Arial" panose="020B0604020202020204" pitchFamily="34" charset="0"/>
              <a:buChar char="•"/>
            </a:pPr>
            <a:r>
              <a:rPr lang="es-ES" sz="3200" dirty="0"/>
              <a:t>Siempre confirmar con el cliente:</a:t>
            </a:r>
          </a:p>
          <a:p>
            <a:pPr marL="1143000" lvl="2" indent="-228600">
              <a:buFont typeface="Arial" panose="020B0604020202020204" pitchFamily="34" charset="0"/>
              <a:buChar char="•"/>
            </a:pPr>
            <a:r>
              <a:rPr lang="es-ES" sz="3200" dirty="0"/>
              <a:t>¿Esto es obligatorio?</a:t>
            </a:r>
          </a:p>
          <a:p>
            <a:pPr marL="1143000" lvl="2" indent="-228600">
              <a:buFont typeface="Arial" panose="020B0604020202020204" pitchFamily="34" charset="0"/>
              <a:buChar char="•"/>
            </a:pPr>
            <a:r>
              <a:rPr lang="es-ES" sz="3200" dirty="0"/>
              <a:t>¿Puede no suceder?</a:t>
            </a:r>
          </a:p>
        </p:txBody>
      </p:sp>
    </p:spTree>
    <p:extLst>
      <p:ext uri="{BB962C8B-B14F-4D97-AF65-F5344CB8AC3E}">
        <p14:creationId xmlns:p14="http://schemas.microsoft.com/office/powerpoint/2010/main" val="2614667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1E7E-118F-2765-8175-C5F3F7186D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FBECD77-86A0-EBDF-EEDC-DE1541C47A92}"/>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A71C6FD-314F-1E44-FF54-E05BEBE2766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720EF82E-BA98-6109-37AC-CE8C664D3DC6}"/>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9D3ABC9-08BD-FD97-52EF-1EF3B93093C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263186B7-F760-4AB0-3DEF-CAE62A74FF6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41A207B-B8DA-2E1A-EC68-71D30C8691E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BE6539EB-3634-31F7-779A-9E14F5F8C001}"/>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B04C28A-4F32-F1AD-FB3C-394128A4AE7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7A9C0F7C-4AD5-C717-A685-9E3388844F0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86010A67-7452-5A8B-456C-BF9B71E3A00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F5CB5710-504B-DEB3-CFBA-BBFC5AAC040B}"/>
              </a:ext>
            </a:extLst>
          </p:cNvPr>
          <p:cNvSpPr txBox="1"/>
          <p:nvPr/>
        </p:nvSpPr>
        <p:spPr>
          <a:xfrm>
            <a:off x="1564849" y="1065308"/>
            <a:ext cx="15158301" cy="7540526"/>
          </a:xfrm>
          <a:prstGeom prst="rect">
            <a:avLst/>
          </a:prstGeom>
          <a:noFill/>
        </p:spPr>
        <p:txBody>
          <a:bodyPr wrap="square">
            <a:spAutoFit/>
          </a:bodyPr>
          <a:lstStyle/>
          <a:p>
            <a:pPr>
              <a:buNone/>
            </a:pPr>
            <a:r>
              <a:rPr lang="es-ES" sz="4400" b="1" dirty="0" err="1"/>
              <a:t>Cardinality</a:t>
            </a:r>
            <a:r>
              <a:rPr lang="es-ES" sz="4400" b="1" dirty="0"/>
              <a:t> (Cardinalidad)</a:t>
            </a:r>
          </a:p>
          <a:p>
            <a:pPr>
              <a:buNone/>
            </a:pPr>
            <a:endParaRPr lang="es-ES" sz="4400" dirty="0"/>
          </a:p>
          <a:p>
            <a:r>
              <a:rPr lang="es-ES" sz="4400" dirty="0"/>
              <a:t>Responde: </a:t>
            </a:r>
            <a:r>
              <a:rPr lang="es-ES" sz="4400" b="1" dirty="0"/>
              <a:t>cuántas ocurrencias</a:t>
            </a:r>
            <a:r>
              <a:rPr lang="es-ES" sz="4400" dirty="0"/>
              <a:t> de una entidad pueden participar en la relación.</a:t>
            </a:r>
          </a:p>
          <a:p>
            <a:endParaRPr lang="es-ES" sz="4400" dirty="0"/>
          </a:p>
          <a:p>
            <a:pPr marL="742950" lvl="1" indent="-285750">
              <a:buFont typeface="Arial" panose="020B0604020202020204" pitchFamily="34" charset="0"/>
              <a:buChar char="•"/>
            </a:pPr>
            <a:r>
              <a:rPr lang="es-ES" sz="4400" dirty="0">
                <a:latin typeface="Courier New" panose="02070309020205020404" pitchFamily="49" charset="0"/>
              </a:rPr>
              <a:t>1</a:t>
            </a:r>
            <a:r>
              <a:rPr lang="es-ES" sz="4400" dirty="0"/>
              <a:t> → </a:t>
            </a:r>
            <a:r>
              <a:rPr lang="es-ES" sz="4400" b="1" dirty="0"/>
              <a:t>Solo una</a:t>
            </a:r>
            <a:r>
              <a:rPr lang="es-ES" sz="4400" dirty="0"/>
              <a:t> ocurrencia.</a:t>
            </a:r>
          </a:p>
          <a:p>
            <a:pPr marL="742950" lvl="1" indent="-285750">
              <a:buFont typeface="Arial" panose="020B0604020202020204" pitchFamily="34" charset="0"/>
              <a:buChar char="•"/>
            </a:pPr>
            <a:r>
              <a:rPr lang="es-ES" sz="4400" dirty="0">
                <a:latin typeface="Courier New" panose="02070309020205020404" pitchFamily="49" charset="0"/>
              </a:rPr>
              <a:t>N</a:t>
            </a:r>
            <a:r>
              <a:rPr lang="es-ES" sz="4400" dirty="0"/>
              <a:t> → </a:t>
            </a:r>
            <a:r>
              <a:rPr lang="es-ES" sz="4400" b="1" dirty="0"/>
              <a:t>Muchas / al menos una</a:t>
            </a:r>
            <a:r>
              <a:rPr lang="es-ES" sz="4400" dirty="0"/>
              <a:t> ocurrencia.</a:t>
            </a:r>
          </a:p>
          <a:p>
            <a:pPr marL="742950" lvl="1" indent="-285750">
              <a:buFont typeface="Arial" panose="020B0604020202020204" pitchFamily="34" charset="0"/>
              <a:buChar char="•"/>
            </a:pPr>
            <a:endParaRPr lang="es-ES" sz="4400" dirty="0"/>
          </a:p>
          <a:p>
            <a:r>
              <a:rPr lang="es-ES" sz="4400" dirty="0"/>
              <a:t>Ejemplos:</a:t>
            </a:r>
          </a:p>
          <a:p>
            <a:pPr marL="742950" lvl="1" indent="-285750">
              <a:buFont typeface="Arial" panose="020B0604020202020204" pitchFamily="34" charset="0"/>
              <a:buChar char="•"/>
            </a:pPr>
            <a:r>
              <a:rPr lang="es-ES" sz="4400" i="1" dirty="0"/>
              <a:t>Un cliente puede hacer N pagos.</a:t>
            </a:r>
            <a:endParaRPr lang="es-ES" sz="4400" dirty="0"/>
          </a:p>
          <a:p>
            <a:pPr marL="742950" lvl="1" indent="-285750">
              <a:buFont typeface="Arial" panose="020B0604020202020204" pitchFamily="34" charset="0"/>
              <a:buChar char="•"/>
            </a:pPr>
            <a:r>
              <a:rPr lang="es-ES" sz="4400" i="1" dirty="0"/>
              <a:t>Cada pago está asociado a 1 cliente.</a:t>
            </a:r>
            <a:endParaRPr lang="es-ES" sz="4400" dirty="0"/>
          </a:p>
        </p:txBody>
      </p:sp>
    </p:spTree>
    <p:extLst>
      <p:ext uri="{BB962C8B-B14F-4D97-AF65-F5344CB8AC3E}">
        <p14:creationId xmlns:p14="http://schemas.microsoft.com/office/powerpoint/2010/main" val="15752241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4137D-1A82-C0FA-AA81-CAAE1904F7A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98023AE-07E4-FD92-C6A6-3615FF83C107}"/>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AF5C84B6-B3CA-3706-6369-147F87C7664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A9D35B46-E353-CC75-B27D-A3B8DD70E56E}"/>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DF2EAA4-C590-D5E3-4263-89C6CB04CFBB}"/>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22B624AB-D7E8-2D7D-40EC-097C17E757C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1B240A76-1BBD-A436-2AAC-7E088D5A095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FC2E0AD-B9F2-2275-D977-B976FA0CE8D3}"/>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FF43AD5-593C-2C33-2E0E-5BF3DF09BB8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69F2E541-0CBA-99B4-766B-1B529CA4F0B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2AB743DA-189C-5D4C-2D9A-68D860F230C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580D020-633E-74C3-7BBA-4E5909CD2D05}"/>
              </a:ext>
            </a:extLst>
          </p:cNvPr>
          <p:cNvSpPr txBox="1"/>
          <p:nvPr/>
        </p:nvSpPr>
        <p:spPr>
          <a:xfrm>
            <a:off x="1284401" y="252974"/>
            <a:ext cx="15570725" cy="9448740"/>
          </a:xfrm>
          <a:prstGeom prst="rect">
            <a:avLst/>
          </a:prstGeom>
          <a:noFill/>
        </p:spPr>
        <p:txBody>
          <a:bodyPr wrap="square">
            <a:spAutoFit/>
          </a:bodyPr>
          <a:lstStyle/>
          <a:p>
            <a:pPr>
              <a:buNone/>
            </a:pPr>
            <a:r>
              <a:rPr lang="es-ES" sz="2400" b="1" dirty="0"/>
              <a:t>Conceptos Clave: Tipos de Relaciones (Cardinalidad)</a:t>
            </a:r>
          </a:p>
          <a:p>
            <a:pPr>
              <a:buNone/>
            </a:pPr>
            <a:endParaRPr lang="es-ES" sz="2400" b="1" dirty="0"/>
          </a:p>
          <a:p>
            <a:pPr>
              <a:buNone/>
            </a:pPr>
            <a:r>
              <a:rPr lang="es-ES" sz="2400" dirty="0"/>
              <a:t>Antes de llenar la matriz, debemos entender los 3 tipos de conexiones posibles:</a:t>
            </a:r>
          </a:p>
          <a:p>
            <a:pPr>
              <a:buNone/>
            </a:pPr>
            <a:endParaRPr lang="es-ES" sz="2400" dirty="0"/>
          </a:p>
          <a:p>
            <a:pPr marL="457200" indent="-457200">
              <a:buAutoNum type="arabicPeriod"/>
            </a:pPr>
            <a:r>
              <a:rPr lang="es-ES" sz="2400" b="1" dirty="0"/>
              <a:t>Uno a Uno (1:1)</a:t>
            </a:r>
          </a:p>
          <a:p>
            <a:pPr marL="457200" indent="-457200">
              <a:buAutoNum type="arabicPeriod"/>
            </a:pPr>
            <a:endParaRPr lang="es-ES" sz="2400" b="1" dirty="0"/>
          </a:p>
          <a:p>
            <a:pPr>
              <a:buFont typeface="Arial" panose="020B0604020202020204" pitchFamily="34" charset="0"/>
              <a:buChar char="•"/>
            </a:pPr>
            <a:r>
              <a:rPr lang="es-ES" sz="2400" b="1" dirty="0"/>
              <a:t>Definición:</a:t>
            </a:r>
            <a:r>
              <a:rPr lang="es-ES" sz="2400" dirty="0"/>
              <a:t> Una instancia de A se relaciona con </a:t>
            </a:r>
            <a:r>
              <a:rPr lang="es-ES" sz="2400" i="1" dirty="0"/>
              <a:t>máximo</a:t>
            </a:r>
            <a:r>
              <a:rPr lang="es-ES" sz="2400" dirty="0"/>
              <a:t> una de B.</a:t>
            </a:r>
          </a:p>
          <a:p>
            <a:pPr>
              <a:buFont typeface="Arial" panose="020B0604020202020204" pitchFamily="34" charset="0"/>
              <a:buChar char="•"/>
            </a:pPr>
            <a:r>
              <a:rPr lang="es-ES" sz="2400" b="1" dirty="0"/>
              <a:t>Ejemplo </a:t>
            </a:r>
            <a:r>
              <a:rPr lang="es-ES" sz="2400" b="1" dirty="0" err="1"/>
              <a:t>Olist</a:t>
            </a:r>
            <a:r>
              <a:rPr lang="es-ES" sz="2400" b="1" dirty="0"/>
              <a:t>:</a:t>
            </a:r>
            <a:r>
              <a:rPr lang="es-ES" sz="2400" dirty="0"/>
              <a:t> ¿Una </a:t>
            </a:r>
            <a:r>
              <a:rPr lang="es-ES" sz="2400" i="1" dirty="0"/>
              <a:t>Orden</a:t>
            </a:r>
            <a:r>
              <a:rPr lang="es-ES" sz="2400" dirty="0"/>
              <a:t> tiene una </a:t>
            </a:r>
            <a:r>
              <a:rPr lang="es-ES" sz="2400" i="1" dirty="0"/>
              <a:t>Geolocalización</a:t>
            </a:r>
            <a:r>
              <a:rPr lang="es-ES" sz="2400" dirty="0"/>
              <a:t>? No exactamente (usa Zip </a:t>
            </a:r>
            <a:r>
              <a:rPr lang="es-ES" sz="2400" dirty="0" err="1"/>
              <a:t>Code</a:t>
            </a:r>
            <a:r>
              <a:rPr lang="es-ES" sz="2400" dirty="0"/>
              <a:t>), pero conceptualmente, un envío va a un solo lugar.</a:t>
            </a:r>
          </a:p>
          <a:p>
            <a:pPr>
              <a:buFont typeface="Arial" panose="020B0604020202020204" pitchFamily="34" charset="0"/>
              <a:buChar char="•"/>
            </a:pPr>
            <a:endParaRPr lang="es-ES" sz="2400" dirty="0"/>
          </a:p>
          <a:p>
            <a:pPr>
              <a:buNone/>
            </a:pPr>
            <a:r>
              <a:rPr lang="es-ES" sz="2400" b="1" dirty="0"/>
              <a:t>2. Uno a Muchos (1:N) - </a:t>
            </a:r>
            <a:r>
              <a:rPr lang="es-ES" sz="2800" b="1" i="1" dirty="0"/>
              <a:t>La más común</a:t>
            </a:r>
          </a:p>
          <a:p>
            <a:pPr>
              <a:buNone/>
            </a:pPr>
            <a:endParaRPr lang="es-ES" sz="2800" b="1" dirty="0"/>
          </a:p>
          <a:p>
            <a:pPr>
              <a:buFont typeface="Arial" panose="020B0604020202020204" pitchFamily="34" charset="0"/>
              <a:buChar char="•"/>
            </a:pPr>
            <a:r>
              <a:rPr lang="es-ES" sz="2400" b="1" dirty="0"/>
              <a:t>Definición:</a:t>
            </a:r>
            <a:r>
              <a:rPr lang="es-ES" sz="2400" dirty="0"/>
              <a:t> Una instancia de A se relaciona con muchas de B, pero B solo con una de A.</a:t>
            </a:r>
          </a:p>
          <a:p>
            <a:pPr>
              <a:buFont typeface="Arial" panose="020B0604020202020204" pitchFamily="34" charset="0"/>
              <a:buChar char="•"/>
            </a:pPr>
            <a:r>
              <a:rPr lang="es-ES" sz="2400" b="1" dirty="0"/>
              <a:t>Ejemplo </a:t>
            </a:r>
            <a:r>
              <a:rPr lang="es-ES" sz="2400" b="1" dirty="0" err="1"/>
              <a:t>Olist</a:t>
            </a:r>
            <a:r>
              <a:rPr lang="es-ES" sz="2400" b="1" dirty="0"/>
              <a:t>:</a:t>
            </a:r>
            <a:endParaRPr lang="es-ES" sz="2400" dirty="0"/>
          </a:p>
          <a:p>
            <a:pPr marL="742950" lvl="1" indent="-285750">
              <a:buFont typeface="Arial" panose="020B0604020202020204" pitchFamily="34" charset="0"/>
              <a:buChar char="•"/>
            </a:pPr>
            <a:r>
              <a:rPr lang="es-ES" sz="2400" dirty="0"/>
              <a:t>Un </a:t>
            </a:r>
            <a:r>
              <a:rPr lang="es-ES" sz="2400" b="1" dirty="0"/>
              <a:t>Cliente</a:t>
            </a:r>
            <a:r>
              <a:rPr lang="es-ES" sz="2400" dirty="0"/>
              <a:t> hace muchas </a:t>
            </a:r>
            <a:r>
              <a:rPr lang="es-ES" sz="2400" b="1" dirty="0"/>
              <a:t>Órdenes</a:t>
            </a:r>
            <a:r>
              <a:rPr lang="es-ES" sz="2400" dirty="0"/>
              <a:t>.</a:t>
            </a:r>
          </a:p>
          <a:p>
            <a:pPr marL="742950" lvl="1" indent="-285750">
              <a:buFont typeface="Arial" panose="020B0604020202020204" pitchFamily="34" charset="0"/>
              <a:buChar char="•"/>
            </a:pPr>
            <a:r>
              <a:rPr lang="es-ES" sz="2400" dirty="0"/>
              <a:t>Una </a:t>
            </a:r>
            <a:r>
              <a:rPr lang="es-ES" sz="2400" b="1" dirty="0"/>
              <a:t>Orden</a:t>
            </a:r>
            <a:r>
              <a:rPr lang="es-ES" sz="2400" dirty="0"/>
              <a:t> pertenece a un solo </a:t>
            </a:r>
            <a:r>
              <a:rPr lang="es-ES" sz="2400" b="1" dirty="0"/>
              <a:t>Cliente</a:t>
            </a:r>
            <a:r>
              <a:rPr lang="es-ES" sz="2400" dirty="0"/>
              <a:t>.</a:t>
            </a:r>
          </a:p>
          <a:p>
            <a:pPr marL="742950" lvl="1" indent="-285750">
              <a:buFont typeface="Arial" panose="020B0604020202020204" pitchFamily="34" charset="0"/>
              <a:buChar char="•"/>
            </a:pPr>
            <a:endParaRPr lang="es-ES" sz="2400" dirty="0"/>
          </a:p>
          <a:p>
            <a:pPr>
              <a:buNone/>
            </a:pPr>
            <a:r>
              <a:rPr lang="es-ES" sz="2400" b="1" dirty="0"/>
              <a:t>3. Muchos a Muchos (M:N) - </a:t>
            </a:r>
            <a:r>
              <a:rPr lang="es-ES" sz="2400" b="1" i="1" dirty="0"/>
              <a:t>El problema a resolver</a:t>
            </a:r>
            <a:endParaRPr lang="es-ES" sz="2400" b="1" dirty="0"/>
          </a:p>
          <a:p>
            <a:pPr>
              <a:buFont typeface="Arial" panose="020B0604020202020204" pitchFamily="34" charset="0"/>
              <a:buChar char="•"/>
            </a:pPr>
            <a:r>
              <a:rPr lang="es-ES" sz="2400" b="1" dirty="0"/>
              <a:t>Definición:</a:t>
            </a:r>
            <a:r>
              <a:rPr lang="es-ES" sz="2400" dirty="0"/>
              <a:t> A se relaciona con muchas B, y B con muchas A.</a:t>
            </a:r>
          </a:p>
          <a:p>
            <a:pPr>
              <a:buFont typeface="Arial" panose="020B0604020202020204" pitchFamily="34" charset="0"/>
              <a:buChar char="•"/>
            </a:pPr>
            <a:r>
              <a:rPr lang="es-ES" sz="2400" b="1" dirty="0"/>
              <a:t>Ejemplo </a:t>
            </a:r>
            <a:r>
              <a:rPr lang="es-ES" sz="2400" b="1" dirty="0" err="1"/>
              <a:t>Olist</a:t>
            </a:r>
            <a:r>
              <a:rPr lang="es-ES" sz="2400" b="1" dirty="0"/>
              <a:t>:</a:t>
            </a:r>
            <a:endParaRPr lang="es-ES" sz="2400" dirty="0"/>
          </a:p>
          <a:p>
            <a:pPr marL="742950" lvl="1" indent="-285750">
              <a:buFont typeface="Arial" panose="020B0604020202020204" pitchFamily="34" charset="0"/>
              <a:buChar char="•"/>
            </a:pPr>
            <a:r>
              <a:rPr lang="es-ES" sz="2400" dirty="0"/>
              <a:t>Una </a:t>
            </a:r>
            <a:r>
              <a:rPr lang="es-ES" sz="2400" b="1" dirty="0"/>
              <a:t>Orden</a:t>
            </a:r>
            <a:r>
              <a:rPr lang="es-ES" sz="2400" dirty="0"/>
              <a:t> contiene muchos </a:t>
            </a:r>
            <a:r>
              <a:rPr lang="es-ES" sz="2400" b="1" dirty="0"/>
              <a:t>Productos</a:t>
            </a:r>
            <a:r>
              <a:rPr lang="es-ES" sz="2400" dirty="0"/>
              <a:t>.</a:t>
            </a:r>
          </a:p>
          <a:p>
            <a:pPr marL="742950" lvl="1" indent="-285750">
              <a:buFont typeface="Arial" panose="020B0604020202020204" pitchFamily="34" charset="0"/>
              <a:buChar char="•"/>
            </a:pPr>
            <a:r>
              <a:rPr lang="es-ES" sz="2400" dirty="0"/>
              <a:t>Un </a:t>
            </a:r>
            <a:r>
              <a:rPr lang="es-ES" sz="2400" b="1" dirty="0"/>
              <a:t>Producto</a:t>
            </a:r>
            <a:r>
              <a:rPr lang="es-ES" sz="2400" dirty="0"/>
              <a:t> aparece en muchas </a:t>
            </a:r>
            <a:r>
              <a:rPr lang="es-ES" sz="2400" b="1" dirty="0"/>
              <a:t>Órdenes</a:t>
            </a:r>
            <a:r>
              <a:rPr lang="es-ES" sz="2400" dirty="0"/>
              <a:t>.</a:t>
            </a:r>
          </a:p>
          <a:p>
            <a:pPr marL="742950" lvl="1" indent="-285750">
              <a:buFont typeface="Arial" panose="020B0604020202020204" pitchFamily="34" charset="0"/>
              <a:buChar char="•"/>
            </a:pPr>
            <a:endParaRPr lang="es-ES" sz="2400" dirty="0"/>
          </a:p>
          <a:p>
            <a:r>
              <a:rPr lang="es-ES" sz="2400" b="1" i="1" u="sng" dirty="0"/>
              <a:t>Nota Técnica:</a:t>
            </a:r>
            <a:r>
              <a:rPr lang="es-ES" sz="2400" i="1" u="sng" dirty="0"/>
              <a:t> Las bases de datos relacionales NO soportan esto directamente. Necesitaremos una "Tabla Puente" más adelante.</a:t>
            </a:r>
          </a:p>
        </p:txBody>
      </p:sp>
    </p:spTree>
    <p:extLst>
      <p:ext uri="{BB962C8B-B14F-4D97-AF65-F5344CB8AC3E}">
        <p14:creationId xmlns:p14="http://schemas.microsoft.com/office/powerpoint/2010/main" val="19091823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8104A-B11A-2EEC-BC8D-4AE4EB78963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4F59759-6845-5033-00AD-7DF642271ED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1DFA977-D45E-7A72-63AA-56D349D4D1C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A417BB8-2E94-01CE-2DD3-86E15A2A611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C7B6DF93-BA83-3C01-4937-0B668C28EFF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87E824C-4965-C8DF-A08F-14F3258C520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2D07401-B4B9-6171-AC1F-D37BC14828A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5CCE3CB9-63ED-2A69-A1F8-67EB7FC4250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BBFE20D5-A5F7-82C5-6F42-5157FD97E216}"/>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D33F88CA-A4CC-B405-8543-5EA9C08BFE0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A5E52770-4012-92C9-A1C5-54583890BA6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6738DE51-CC63-753B-4632-BB609B42869B}"/>
              </a:ext>
            </a:extLst>
          </p:cNvPr>
          <p:cNvSpPr txBox="1"/>
          <p:nvPr/>
        </p:nvSpPr>
        <p:spPr>
          <a:xfrm>
            <a:off x="1418734" y="968983"/>
            <a:ext cx="15450532" cy="6494085"/>
          </a:xfrm>
          <a:prstGeom prst="rect">
            <a:avLst/>
          </a:prstGeom>
          <a:noFill/>
        </p:spPr>
        <p:txBody>
          <a:bodyPr wrap="square">
            <a:spAutoFit/>
          </a:bodyPr>
          <a:lstStyle/>
          <a:p>
            <a:pPr>
              <a:buNone/>
            </a:pPr>
            <a:r>
              <a:rPr lang="es-ES" sz="3200" b="1" dirty="0"/>
              <a:t>Estructura de una </a:t>
            </a:r>
            <a:r>
              <a:rPr lang="es-ES" sz="3200" b="1" dirty="0" err="1"/>
              <a:t>Assertion</a:t>
            </a:r>
            <a:endParaRPr lang="es-ES" sz="3200" b="1" dirty="0"/>
          </a:p>
          <a:p>
            <a:pPr>
              <a:buNone/>
            </a:pPr>
            <a:endParaRPr lang="es-ES" sz="3200" b="1" dirty="0"/>
          </a:p>
          <a:p>
            <a:pPr>
              <a:buNone/>
            </a:pPr>
            <a:endParaRPr lang="es-ES" sz="3200" dirty="0"/>
          </a:p>
          <a:p>
            <a:pPr>
              <a:buNone/>
            </a:pPr>
            <a:r>
              <a:rPr lang="es-ES" sz="3200" dirty="0"/>
              <a:t>Las </a:t>
            </a:r>
            <a:r>
              <a:rPr lang="es-ES" sz="3200" dirty="0" err="1"/>
              <a:t>assertions</a:t>
            </a:r>
            <a:r>
              <a:rPr lang="es-ES" sz="3200" dirty="0"/>
              <a:t> se escriben como una frase en lenguaje natural:</a:t>
            </a:r>
          </a:p>
          <a:p>
            <a:pPr>
              <a:buNone/>
            </a:pPr>
            <a:endParaRPr lang="es-ES" sz="3200" dirty="0"/>
          </a:p>
          <a:p>
            <a:pPr>
              <a:buNone/>
            </a:pPr>
            <a:r>
              <a:rPr lang="es-ES" sz="3200" b="1" dirty="0"/>
              <a:t>Entidad (A)</a:t>
            </a:r>
            <a:r>
              <a:rPr lang="es-ES" sz="3200" dirty="0"/>
              <a:t> + </a:t>
            </a:r>
            <a:r>
              <a:rPr lang="es-ES" sz="3200" i="1" dirty="0"/>
              <a:t>opcionalidad</a:t>
            </a:r>
            <a:r>
              <a:rPr lang="es-ES" sz="3200" dirty="0"/>
              <a:t> + </a:t>
            </a:r>
            <a:r>
              <a:rPr lang="es-ES" sz="3200" b="1" dirty="0"/>
              <a:t>verbo de la relación</a:t>
            </a:r>
            <a:r>
              <a:rPr lang="es-ES" sz="3200" dirty="0"/>
              <a:t> + </a:t>
            </a:r>
            <a:r>
              <a:rPr lang="es-ES" sz="3200" i="1" dirty="0"/>
              <a:t>cardinalidad</a:t>
            </a:r>
            <a:r>
              <a:rPr lang="es-ES" sz="3200" dirty="0"/>
              <a:t> + </a:t>
            </a:r>
            <a:r>
              <a:rPr lang="es-ES" sz="3200" b="1" dirty="0"/>
              <a:t>Entidad (B)</a:t>
            </a:r>
          </a:p>
          <a:p>
            <a:pPr>
              <a:buNone/>
            </a:pPr>
            <a:endParaRPr lang="es-ES" sz="3200" dirty="0"/>
          </a:p>
          <a:p>
            <a:pPr marL="457200" indent="-457200">
              <a:buFont typeface="Arial" panose="020B0604020202020204" pitchFamily="34" charset="0"/>
              <a:buChar char="•"/>
            </a:pPr>
            <a:r>
              <a:rPr lang="es-ES" sz="3200" dirty="0"/>
              <a:t>La relación (verbo) va en el medio.</a:t>
            </a:r>
          </a:p>
          <a:p>
            <a:pPr marL="457200" indent="-457200">
              <a:buFont typeface="Arial" panose="020B0604020202020204" pitchFamily="34" charset="0"/>
              <a:buChar char="•"/>
            </a:pPr>
            <a:r>
              <a:rPr lang="es-ES" sz="3200" dirty="0"/>
              <a:t>La opcionalidad se indica con “puede / debe”.</a:t>
            </a:r>
          </a:p>
          <a:p>
            <a:pPr marL="457200" indent="-457200">
              <a:buFont typeface="Arial" panose="020B0604020202020204" pitchFamily="34" charset="0"/>
              <a:buChar char="•"/>
            </a:pPr>
            <a:r>
              <a:rPr lang="es-ES" sz="3200" dirty="0"/>
              <a:t>La cardinalidad se indica con “uno / muchos”.</a:t>
            </a:r>
          </a:p>
          <a:p>
            <a:pPr marL="457200" indent="-457200">
              <a:buFont typeface="Arial" panose="020B0604020202020204" pitchFamily="34" charset="0"/>
              <a:buChar char="•"/>
            </a:pPr>
            <a:endParaRPr lang="es-ES" sz="3200" dirty="0"/>
          </a:p>
          <a:p>
            <a:r>
              <a:rPr lang="es-ES" sz="3200" dirty="0"/>
              <a:t>Ejemplo patrón:</a:t>
            </a:r>
          </a:p>
          <a:p>
            <a:pPr marL="457200" indent="-457200">
              <a:buFont typeface="Arial" panose="020B0604020202020204" pitchFamily="34" charset="0"/>
              <a:buChar char="•"/>
            </a:pPr>
            <a:r>
              <a:rPr lang="es-ES" sz="3200" i="1" dirty="0"/>
              <a:t>Un Cliente </a:t>
            </a:r>
            <a:r>
              <a:rPr lang="es-ES" sz="3200" b="1" i="1" dirty="0"/>
              <a:t>puede</a:t>
            </a:r>
            <a:r>
              <a:rPr lang="es-ES" sz="3200" i="1" dirty="0"/>
              <a:t> hacer </a:t>
            </a:r>
            <a:r>
              <a:rPr lang="es-ES" sz="3200" b="1" i="1" dirty="0"/>
              <a:t>muchos</a:t>
            </a:r>
            <a:r>
              <a:rPr lang="es-ES" sz="3200" i="1" dirty="0"/>
              <a:t> Pagos.</a:t>
            </a:r>
            <a:endParaRPr lang="es-ES" sz="3200" dirty="0"/>
          </a:p>
        </p:txBody>
      </p:sp>
    </p:spTree>
    <p:extLst>
      <p:ext uri="{BB962C8B-B14F-4D97-AF65-F5344CB8AC3E}">
        <p14:creationId xmlns:p14="http://schemas.microsoft.com/office/powerpoint/2010/main" val="18528861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56921-B9EF-D704-1236-9D8CF5D42C8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35D1AE5-5580-C10E-5360-A4931AD7745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8517A164-57C1-8668-27FD-C0F90CD362A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41EED085-641C-D2FB-A5C8-4A9230EFA297}"/>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CA275B9-A219-C999-84A1-7F53A27E234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0C21F8D7-B1E5-BCFB-0EF4-420629D3390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1C8B66F-0CAD-435A-54C6-0D921DDA13C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EDC3B197-B22F-5E03-6ECD-F6AA1AA029A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669EBF1E-1B8B-9D8D-B2C7-8E76374F382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A765DA1B-2F33-878A-C726-7F890A8398D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F75FEBA-D3FF-8D70-35BA-E4075C754D7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336F59A6-E8CE-AB2F-4241-AA1AA9000606}"/>
              </a:ext>
            </a:extLst>
          </p:cNvPr>
          <p:cNvSpPr txBox="1"/>
          <p:nvPr/>
        </p:nvSpPr>
        <p:spPr>
          <a:xfrm>
            <a:off x="1127681" y="1591152"/>
            <a:ext cx="16032637" cy="7294305"/>
          </a:xfrm>
          <a:prstGeom prst="rect">
            <a:avLst/>
          </a:prstGeom>
          <a:noFill/>
        </p:spPr>
        <p:txBody>
          <a:bodyPr wrap="square">
            <a:spAutoFit/>
          </a:bodyPr>
          <a:lstStyle/>
          <a:p>
            <a:pPr>
              <a:buNone/>
            </a:pPr>
            <a:r>
              <a:rPr lang="es-ES" sz="3600" b="1" dirty="0"/>
              <a:t>Paso 4-1 (A -&gt; B): Listar </a:t>
            </a:r>
            <a:r>
              <a:rPr lang="es-ES" sz="3600" b="1" dirty="0" err="1"/>
              <a:t>assertions</a:t>
            </a:r>
            <a:r>
              <a:rPr lang="es-ES" sz="3600" b="1" dirty="0"/>
              <a:t> (dirección 1)</a:t>
            </a:r>
          </a:p>
          <a:p>
            <a:pPr>
              <a:buNone/>
            </a:pPr>
            <a:endParaRPr lang="es-ES" sz="3600" dirty="0"/>
          </a:p>
          <a:p>
            <a:r>
              <a:rPr lang="es-ES" sz="3600" dirty="0"/>
              <a:t>Tomar una relación del E-R simplificado entre </a:t>
            </a:r>
            <a:r>
              <a:rPr lang="es-ES" sz="3600" b="1" dirty="0"/>
              <a:t>Entidad A</a:t>
            </a:r>
            <a:r>
              <a:rPr lang="es-ES" sz="3600" dirty="0"/>
              <a:t> y </a:t>
            </a:r>
            <a:r>
              <a:rPr lang="es-ES" sz="3600" b="1" dirty="0"/>
              <a:t>Entidad B</a:t>
            </a:r>
            <a:r>
              <a:rPr lang="es-ES" sz="3600" dirty="0"/>
              <a:t>.</a:t>
            </a:r>
          </a:p>
          <a:p>
            <a:endParaRPr lang="es-ES" sz="3600" dirty="0"/>
          </a:p>
          <a:p>
            <a:r>
              <a:rPr lang="es-ES" sz="3600" dirty="0"/>
              <a:t>Escribir la frase desde A hacia B:</a:t>
            </a:r>
          </a:p>
          <a:p>
            <a:endParaRPr lang="es-ES" sz="3600" dirty="0"/>
          </a:p>
          <a:p>
            <a:pPr marL="742950" lvl="1" indent="-285750">
              <a:buFont typeface="+mj-lt"/>
              <a:buAutoNum type="arabicPeriod"/>
            </a:pPr>
            <a:r>
              <a:rPr lang="es-ES" sz="3600" dirty="0"/>
              <a:t>Empezar con </a:t>
            </a:r>
            <a:r>
              <a:rPr lang="es-ES" sz="3600" b="1" dirty="0"/>
              <a:t>“Un/Una [A] …”</a:t>
            </a:r>
            <a:endParaRPr lang="es-ES" sz="3600" dirty="0"/>
          </a:p>
          <a:p>
            <a:pPr marL="742950" lvl="1" indent="-285750">
              <a:buFont typeface="+mj-lt"/>
              <a:buAutoNum type="arabicPeriod"/>
            </a:pPr>
            <a:r>
              <a:rPr lang="es-ES" sz="3600" dirty="0"/>
              <a:t>Indicar </a:t>
            </a:r>
            <a:r>
              <a:rPr lang="es-ES" sz="3600" b="1" dirty="0" err="1"/>
              <a:t>optionalidad</a:t>
            </a:r>
            <a:r>
              <a:rPr lang="es-ES" sz="3600" dirty="0"/>
              <a:t> (puede / debe).</a:t>
            </a:r>
          </a:p>
          <a:p>
            <a:pPr marL="742950" lvl="1" indent="-285750">
              <a:buFont typeface="+mj-lt"/>
              <a:buAutoNum type="arabicPeriod"/>
            </a:pPr>
            <a:r>
              <a:rPr lang="es-ES" sz="3600" dirty="0"/>
              <a:t>Usar el </a:t>
            </a:r>
            <a:r>
              <a:rPr lang="es-ES" sz="3600" b="1" dirty="0"/>
              <a:t>verbo de la relación</a:t>
            </a:r>
            <a:r>
              <a:rPr lang="es-ES" sz="3600" dirty="0"/>
              <a:t> (hacer, tener, realizar, etc.).</a:t>
            </a:r>
          </a:p>
          <a:p>
            <a:pPr marL="742950" lvl="1" indent="-285750">
              <a:buFont typeface="+mj-lt"/>
              <a:buAutoNum type="arabicPeriod"/>
            </a:pPr>
            <a:r>
              <a:rPr lang="es-ES" sz="3600" dirty="0"/>
              <a:t>Indicar la </a:t>
            </a:r>
            <a:r>
              <a:rPr lang="es-ES" sz="3600" b="1" dirty="0"/>
              <a:t>cardinalidad</a:t>
            </a:r>
            <a:r>
              <a:rPr lang="es-ES" sz="3600" dirty="0"/>
              <a:t> hacia B (uno / muchos).</a:t>
            </a:r>
          </a:p>
          <a:p>
            <a:pPr marL="742950" lvl="1" indent="-285750">
              <a:buFont typeface="+mj-lt"/>
              <a:buAutoNum type="arabicPeriod"/>
            </a:pPr>
            <a:endParaRPr lang="es-ES" sz="3600" dirty="0"/>
          </a:p>
          <a:p>
            <a:r>
              <a:rPr lang="es-ES" sz="3600" dirty="0"/>
              <a:t>Ejemplo:</a:t>
            </a:r>
          </a:p>
          <a:p>
            <a:pPr marL="742950" lvl="1" indent="-285750">
              <a:buFont typeface="+mj-lt"/>
              <a:buAutoNum type="arabicPeriod"/>
            </a:pPr>
            <a:r>
              <a:rPr lang="es-ES" sz="3600" i="1" dirty="0"/>
              <a:t>Un Cliente </a:t>
            </a:r>
            <a:r>
              <a:rPr lang="es-ES" sz="3600" b="1" i="1" dirty="0"/>
              <a:t>puede</a:t>
            </a:r>
            <a:r>
              <a:rPr lang="es-ES" sz="3600" i="1" dirty="0"/>
              <a:t> hacer </a:t>
            </a:r>
            <a:r>
              <a:rPr lang="es-ES" sz="3600" b="1" i="1" dirty="0"/>
              <a:t>muchos</a:t>
            </a:r>
            <a:r>
              <a:rPr lang="es-ES" sz="3600" i="1" dirty="0"/>
              <a:t> Pagos.</a:t>
            </a:r>
            <a:endParaRPr lang="es-ES" sz="3600" dirty="0"/>
          </a:p>
        </p:txBody>
      </p:sp>
    </p:spTree>
    <p:extLst>
      <p:ext uri="{BB962C8B-B14F-4D97-AF65-F5344CB8AC3E}">
        <p14:creationId xmlns:p14="http://schemas.microsoft.com/office/powerpoint/2010/main" val="35454234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0218F-3D52-128E-6F8C-E5A941E5647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1CAF604-5743-3533-3FF7-7EBF49E68EDB}"/>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D9E06CC-20A7-8C2C-9F56-F7A095062CF9}"/>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6019B37-AE68-7761-03EC-62CB9AA79435}"/>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2EB43BA-6BEB-2B14-20F2-40EF7D788DF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55B64A7-5EDE-DF60-AF29-7ECA8CEEEC3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E2810D9D-5573-1EAD-992B-79833BFB1BF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0991392-8313-EB34-57A3-5DDA61DD9A4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FEE5C2D-E705-A808-F222-9714D568CD4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F95E709-0BD3-0A92-A00E-64D345686D2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6D86DD1-47E1-A0F5-25BC-AF520D83CEA9}"/>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D51C19A8-FF7F-330C-65C3-9E78898027C3}"/>
              </a:ext>
            </a:extLst>
          </p:cNvPr>
          <p:cNvSpPr txBox="1"/>
          <p:nvPr/>
        </p:nvSpPr>
        <p:spPr>
          <a:xfrm>
            <a:off x="1740423" y="968983"/>
            <a:ext cx="14807153" cy="7848302"/>
          </a:xfrm>
          <a:prstGeom prst="rect">
            <a:avLst/>
          </a:prstGeom>
          <a:noFill/>
        </p:spPr>
        <p:txBody>
          <a:bodyPr wrap="square">
            <a:spAutoFit/>
          </a:bodyPr>
          <a:lstStyle/>
          <a:p>
            <a:pPr>
              <a:buNone/>
            </a:pPr>
            <a:r>
              <a:rPr lang="es-ES" sz="3600" b="1" dirty="0"/>
              <a:t>Paso 4-1 (B → A): Listar </a:t>
            </a:r>
            <a:r>
              <a:rPr lang="es-ES" sz="3600" b="1" dirty="0" err="1"/>
              <a:t>assertions</a:t>
            </a:r>
            <a:r>
              <a:rPr lang="es-ES" sz="3600" b="1" dirty="0"/>
              <a:t> (dirección 2)</a:t>
            </a:r>
          </a:p>
          <a:p>
            <a:pPr>
              <a:buNone/>
            </a:pPr>
            <a:endParaRPr lang="es-ES" sz="3600" dirty="0"/>
          </a:p>
          <a:p>
            <a:r>
              <a:rPr lang="es-ES" sz="3600" dirty="0"/>
              <a:t>Tomar la misma relación, pero ahora desde </a:t>
            </a:r>
            <a:r>
              <a:rPr lang="es-ES" sz="3600" b="1" dirty="0"/>
              <a:t>Entidad B</a:t>
            </a:r>
            <a:r>
              <a:rPr lang="es-ES" sz="3600" dirty="0"/>
              <a:t> hacia </a:t>
            </a:r>
            <a:r>
              <a:rPr lang="es-ES" sz="3600" b="1" dirty="0"/>
              <a:t>Entidad A</a:t>
            </a:r>
            <a:r>
              <a:rPr lang="es-ES" sz="3600" dirty="0"/>
              <a:t>.</a:t>
            </a:r>
          </a:p>
          <a:p>
            <a:endParaRPr lang="es-ES" sz="3600" dirty="0"/>
          </a:p>
          <a:p>
            <a:r>
              <a:rPr lang="es-ES" sz="3600" dirty="0"/>
              <a:t>Escribir la frase en sentido inverso:</a:t>
            </a:r>
          </a:p>
          <a:p>
            <a:endParaRPr lang="es-ES" sz="3600" dirty="0"/>
          </a:p>
          <a:p>
            <a:pPr marL="742950" lvl="1" indent="-285750">
              <a:buFont typeface="+mj-lt"/>
              <a:buAutoNum type="arabicPeriod"/>
            </a:pPr>
            <a:r>
              <a:rPr lang="es-ES" sz="3600" dirty="0"/>
              <a:t>Empezar con </a:t>
            </a:r>
            <a:r>
              <a:rPr lang="es-ES" sz="3600" b="1" dirty="0"/>
              <a:t>“Cada [B] …”</a:t>
            </a:r>
            <a:r>
              <a:rPr lang="es-ES" sz="3600" dirty="0"/>
              <a:t> para dejar claro que se habla de la ocurrencia.</a:t>
            </a:r>
          </a:p>
          <a:p>
            <a:pPr marL="742950" lvl="1" indent="-285750">
              <a:buFont typeface="+mj-lt"/>
              <a:buAutoNum type="arabicPeriod"/>
            </a:pPr>
            <a:r>
              <a:rPr lang="es-ES" sz="3600" dirty="0"/>
              <a:t>Indicar si </a:t>
            </a:r>
            <a:r>
              <a:rPr lang="es-ES" sz="3600" b="1" dirty="0"/>
              <a:t>debe</a:t>
            </a:r>
            <a:r>
              <a:rPr lang="es-ES" sz="3600" dirty="0"/>
              <a:t> o </a:t>
            </a:r>
            <a:r>
              <a:rPr lang="es-ES" sz="3600" b="1" dirty="0"/>
              <a:t>puede</a:t>
            </a:r>
            <a:r>
              <a:rPr lang="es-ES" sz="3600" dirty="0"/>
              <a:t> existir la relación.</a:t>
            </a:r>
          </a:p>
          <a:p>
            <a:pPr marL="742950" lvl="1" indent="-285750">
              <a:buFont typeface="+mj-lt"/>
              <a:buAutoNum type="arabicPeriod"/>
            </a:pPr>
            <a:r>
              <a:rPr lang="es-ES" sz="3600" dirty="0"/>
              <a:t>Indicar la </a:t>
            </a:r>
            <a:r>
              <a:rPr lang="es-ES" sz="3600" b="1" dirty="0"/>
              <a:t>cardinalidad</a:t>
            </a:r>
            <a:r>
              <a:rPr lang="es-ES" sz="3600" dirty="0"/>
              <a:t> hacia A.</a:t>
            </a:r>
          </a:p>
          <a:p>
            <a:pPr marL="742950" lvl="1" indent="-285750">
              <a:buFont typeface="+mj-lt"/>
              <a:buAutoNum type="arabicPeriod"/>
            </a:pPr>
            <a:endParaRPr lang="es-ES" sz="3600" dirty="0"/>
          </a:p>
          <a:p>
            <a:r>
              <a:rPr lang="es-ES" sz="3600" dirty="0"/>
              <a:t>Mismo ejemplo en reversa:</a:t>
            </a:r>
          </a:p>
          <a:p>
            <a:pPr marL="742950" lvl="1" indent="-285750">
              <a:buFont typeface="+mj-lt"/>
              <a:buAutoNum type="arabicPeriod"/>
            </a:pPr>
            <a:r>
              <a:rPr lang="es-ES" sz="3600" i="1" dirty="0"/>
              <a:t>Cada Pago </a:t>
            </a:r>
            <a:r>
              <a:rPr lang="es-ES" sz="3600" b="1" i="1" dirty="0"/>
              <a:t>debe</a:t>
            </a:r>
            <a:r>
              <a:rPr lang="es-ES" sz="3600" i="1" dirty="0"/>
              <a:t> ser realizado por </a:t>
            </a:r>
            <a:r>
              <a:rPr lang="es-ES" sz="3600" b="1" i="1" dirty="0"/>
              <a:t>un solo</a:t>
            </a:r>
            <a:r>
              <a:rPr lang="es-ES" sz="3600" i="1" dirty="0"/>
              <a:t> Cliente.</a:t>
            </a:r>
            <a:endParaRPr lang="es-ES" sz="3600" dirty="0"/>
          </a:p>
        </p:txBody>
      </p:sp>
    </p:spTree>
    <p:extLst>
      <p:ext uri="{BB962C8B-B14F-4D97-AF65-F5344CB8AC3E}">
        <p14:creationId xmlns:p14="http://schemas.microsoft.com/office/powerpoint/2010/main" val="12152311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2842-FAE3-10BA-F86A-545EE96CD02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F85DC28-C9E9-C3C4-9F40-869B87705F0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EFE525BA-1BC7-ADB5-D5F4-126EB7E15D8A}"/>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F2DD5A9-4FD8-5974-3F33-A978F5B7F36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4E3F873A-86DD-69A9-DBBB-DAF1D2EA577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5BADEB3-3C3D-F8B8-4CDA-3D75456CF09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46661201-1F1D-7992-243B-7FD43EEF1B7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5EF1268A-607B-1598-BBDF-D04223E5380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6A98439-CA48-8FFA-943A-11FA8601755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4AA2DBE-FC67-E2B7-4013-C1B0667CEAC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651D5E3-56E5-3118-7EC0-AB926B3A3AC3}"/>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5D5C2955-E212-2B5D-8742-F6A4057A9610}"/>
              </a:ext>
            </a:extLst>
          </p:cNvPr>
          <p:cNvSpPr txBox="1"/>
          <p:nvPr/>
        </p:nvSpPr>
        <p:spPr>
          <a:xfrm>
            <a:off x="1039789" y="1304393"/>
            <a:ext cx="7381188" cy="7971413"/>
          </a:xfrm>
          <a:prstGeom prst="rect">
            <a:avLst/>
          </a:prstGeom>
          <a:noFill/>
        </p:spPr>
        <p:txBody>
          <a:bodyPr wrap="square">
            <a:spAutoFit/>
          </a:bodyPr>
          <a:lstStyle/>
          <a:p>
            <a:pPr>
              <a:buNone/>
            </a:pPr>
            <a:r>
              <a:rPr lang="es-ES" sz="3200" b="1" dirty="0"/>
              <a:t>Ejemplo completo: Cliente – Pago</a:t>
            </a:r>
          </a:p>
          <a:p>
            <a:pPr>
              <a:buNone/>
            </a:pPr>
            <a:endParaRPr lang="es-ES" sz="3200" dirty="0"/>
          </a:p>
          <a:p>
            <a:r>
              <a:rPr lang="es-ES" sz="3200" dirty="0"/>
              <a:t>Desde Cliente a Pago:</a:t>
            </a:r>
          </a:p>
          <a:p>
            <a:pPr marL="742950" lvl="1" indent="-285750">
              <a:buFont typeface="Arial" panose="020B0604020202020204" pitchFamily="34" charset="0"/>
              <a:buChar char="•"/>
            </a:pPr>
            <a:r>
              <a:rPr lang="es-ES" sz="3200" i="1" dirty="0"/>
              <a:t>Un Cliente </a:t>
            </a:r>
            <a:r>
              <a:rPr lang="es-ES" sz="3200" b="1" i="1" dirty="0"/>
              <a:t>puede</a:t>
            </a:r>
            <a:r>
              <a:rPr lang="es-ES" sz="3200" i="1" dirty="0"/>
              <a:t> hacer </a:t>
            </a:r>
            <a:r>
              <a:rPr lang="es-ES" sz="3200" b="1" i="1" dirty="0"/>
              <a:t>muchos</a:t>
            </a:r>
            <a:r>
              <a:rPr lang="es-ES" sz="3200" i="1" dirty="0"/>
              <a:t> Pagos.</a:t>
            </a:r>
            <a:endParaRPr lang="es-ES" sz="3200" dirty="0"/>
          </a:p>
          <a:p>
            <a:pPr marL="742950" lvl="1" indent="-285750">
              <a:buFont typeface="Arial" panose="020B0604020202020204" pitchFamily="34" charset="0"/>
              <a:buChar char="•"/>
            </a:pPr>
            <a:r>
              <a:rPr lang="es-ES" sz="3200" dirty="0" err="1"/>
              <a:t>Optionality</a:t>
            </a:r>
            <a:r>
              <a:rPr lang="es-ES" sz="3200" dirty="0"/>
              <a:t>: 0 (puede no hacer pagos).</a:t>
            </a:r>
          </a:p>
          <a:p>
            <a:pPr marL="742950" lvl="1" indent="-285750">
              <a:buFont typeface="Arial" panose="020B0604020202020204" pitchFamily="34" charset="0"/>
              <a:buChar char="•"/>
            </a:pPr>
            <a:r>
              <a:rPr lang="es-ES" sz="3200" dirty="0"/>
              <a:t>Cardinalidad: N (muchos pagos).</a:t>
            </a:r>
          </a:p>
          <a:p>
            <a:pPr marL="742950" lvl="1" indent="-285750">
              <a:buFont typeface="Arial" panose="020B0604020202020204" pitchFamily="34" charset="0"/>
              <a:buChar char="•"/>
            </a:pPr>
            <a:endParaRPr lang="es-ES" sz="3200" dirty="0"/>
          </a:p>
          <a:p>
            <a:r>
              <a:rPr lang="es-ES" sz="3200" dirty="0"/>
              <a:t>Desde Pago a Cliente:</a:t>
            </a:r>
          </a:p>
          <a:p>
            <a:pPr marL="742950" lvl="1" indent="-285750">
              <a:buFont typeface="Arial" panose="020B0604020202020204" pitchFamily="34" charset="0"/>
              <a:buChar char="•"/>
            </a:pPr>
            <a:r>
              <a:rPr lang="es-ES" sz="3200" i="1" dirty="0"/>
              <a:t>Cada Pago </a:t>
            </a:r>
            <a:r>
              <a:rPr lang="es-ES" sz="3200" b="1" i="1" dirty="0"/>
              <a:t>debe</a:t>
            </a:r>
            <a:r>
              <a:rPr lang="es-ES" sz="3200" i="1" dirty="0"/>
              <a:t> ser realizado por </a:t>
            </a:r>
            <a:r>
              <a:rPr lang="es-ES" sz="3200" b="1" i="1" dirty="0"/>
              <a:t>un solo</a:t>
            </a:r>
            <a:r>
              <a:rPr lang="es-ES" sz="3200" i="1" dirty="0"/>
              <a:t> Cliente.</a:t>
            </a:r>
            <a:endParaRPr lang="es-ES" sz="3200" dirty="0"/>
          </a:p>
          <a:p>
            <a:pPr marL="742950" lvl="1" indent="-285750">
              <a:buFont typeface="Arial" panose="020B0604020202020204" pitchFamily="34" charset="0"/>
              <a:buChar char="•"/>
            </a:pPr>
            <a:r>
              <a:rPr lang="es-ES" sz="3200" dirty="0" err="1"/>
              <a:t>Optionality</a:t>
            </a:r>
            <a:r>
              <a:rPr lang="es-ES" sz="3200" dirty="0"/>
              <a:t>: 1 (obligatorio que tenga cliente).</a:t>
            </a:r>
          </a:p>
          <a:p>
            <a:pPr marL="742950" lvl="1" indent="-285750">
              <a:buFont typeface="Arial" panose="020B0604020202020204" pitchFamily="34" charset="0"/>
              <a:buChar char="•"/>
            </a:pPr>
            <a:r>
              <a:rPr lang="es-ES" sz="3200" dirty="0"/>
              <a:t>Cardinalidad: 1 (solo un cliente por pago).</a:t>
            </a:r>
          </a:p>
        </p:txBody>
      </p:sp>
      <p:sp>
        <p:nvSpPr>
          <p:cNvPr id="15" name="CuadroTexto 14">
            <a:extLst>
              <a:ext uri="{FF2B5EF4-FFF2-40B4-BE49-F238E27FC236}">
                <a16:creationId xmlns:a16="http://schemas.microsoft.com/office/drawing/2014/main" id="{DDE45744-FE41-F315-49C4-7CDE404C5F20}"/>
              </a:ext>
            </a:extLst>
          </p:cNvPr>
          <p:cNvSpPr txBox="1"/>
          <p:nvPr/>
        </p:nvSpPr>
        <p:spPr>
          <a:xfrm>
            <a:off x="9775595" y="1389234"/>
            <a:ext cx="7871381" cy="6986528"/>
          </a:xfrm>
          <a:prstGeom prst="rect">
            <a:avLst/>
          </a:prstGeom>
          <a:noFill/>
        </p:spPr>
        <p:txBody>
          <a:bodyPr wrap="square">
            <a:spAutoFit/>
          </a:bodyPr>
          <a:lstStyle/>
          <a:p>
            <a:pPr>
              <a:buNone/>
            </a:pPr>
            <a:r>
              <a:rPr lang="es-ES" sz="3200" b="1" dirty="0"/>
              <a:t>Validación con el cliente</a:t>
            </a:r>
          </a:p>
          <a:p>
            <a:pPr>
              <a:buNone/>
            </a:pPr>
            <a:endParaRPr lang="es-ES" sz="3200" dirty="0"/>
          </a:p>
          <a:p>
            <a:r>
              <a:rPr lang="es-ES" sz="3200" dirty="0"/>
              <a:t>Para </a:t>
            </a:r>
            <a:r>
              <a:rPr lang="es-ES" sz="3200" b="1" dirty="0"/>
              <a:t>cada relación</a:t>
            </a:r>
            <a:r>
              <a:rPr lang="es-ES" sz="3200" dirty="0"/>
              <a:t> habrá </a:t>
            </a:r>
            <a:r>
              <a:rPr lang="es-ES" sz="3200" b="1" dirty="0"/>
              <a:t>dos </a:t>
            </a:r>
            <a:r>
              <a:rPr lang="es-ES" sz="3200" b="1" dirty="0" err="1"/>
              <a:t>assertions</a:t>
            </a:r>
            <a:r>
              <a:rPr lang="es-ES" sz="3200" dirty="0"/>
              <a:t> (A → B y B → A).</a:t>
            </a:r>
          </a:p>
          <a:p>
            <a:endParaRPr lang="es-ES" sz="3200" dirty="0"/>
          </a:p>
          <a:p>
            <a:r>
              <a:rPr lang="es-ES" sz="3200" dirty="0"/>
              <a:t>Revisar la lista completa con el cliente:</a:t>
            </a:r>
          </a:p>
          <a:p>
            <a:endParaRPr lang="es-ES" sz="3200" dirty="0"/>
          </a:p>
          <a:p>
            <a:pPr marL="742950" lvl="1" indent="-285750">
              <a:buFont typeface="Arial" panose="020B0604020202020204" pitchFamily="34" charset="0"/>
              <a:buChar char="•"/>
            </a:pPr>
            <a:r>
              <a:rPr lang="es-ES" sz="3200" dirty="0"/>
              <a:t>¿Alguna frase es falsa o incompleta?</a:t>
            </a:r>
          </a:p>
          <a:p>
            <a:pPr marL="742950" lvl="1" indent="-285750">
              <a:buFont typeface="Arial" panose="020B0604020202020204" pitchFamily="34" charset="0"/>
              <a:buChar char="•"/>
            </a:pPr>
            <a:r>
              <a:rPr lang="es-ES" sz="3200" dirty="0"/>
              <a:t>¿Faltan casos de negocio?</a:t>
            </a:r>
          </a:p>
          <a:p>
            <a:pPr marL="457200" lvl="1"/>
            <a:endParaRPr lang="es-ES" sz="3200" dirty="0"/>
          </a:p>
          <a:p>
            <a:r>
              <a:rPr lang="es-ES" sz="3200" dirty="0"/>
              <a:t>Solo después de que todas las </a:t>
            </a:r>
            <a:r>
              <a:rPr lang="es-ES" sz="3200" dirty="0" err="1"/>
              <a:t>assertions</a:t>
            </a:r>
            <a:r>
              <a:rPr lang="es-ES" sz="3200" dirty="0"/>
              <a:t> sean correctas:</a:t>
            </a:r>
          </a:p>
          <a:p>
            <a:pPr marL="742950" lvl="1" indent="-285750">
              <a:buFont typeface="Arial" panose="020B0604020202020204" pitchFamily="34" charset="0"/>
              <a:buChar char="•"/>
            </a:pPr>
            <a:r>
              <a:rPr lang="es-ES" sz="3200" dirty="0"/>
              <a:t>El modelo conceptual está listo para avanzar a los siguientes pasos.</a:t>
            </a:r>
          </a:p>
        </p:txBody>
      </p:sp>
    </p:spTree>
    <p:extLst>
      <p:ext uri="{BB962C8B-B14F-4D97-AF65-F5344CB8AC3E}">
        <p14:creationId xmlns:p14="http://schemas.microsoft.com/office/powerpoint/2010/main" val="41472903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99BF2-E3D0-EC73-8FDE-233713C62F8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5A916AF-84A0-BF7C-22E0-95FA24BF367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86AF18E-CA80-67A7-44B8-FD7FAAB67B5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1F1E92C1-E459-AF68-DFFE-1505CEFAF373}"/>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7A31736-8BD5-68AB-DB48-F29A60AEC9E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33AB241F-276D-55FB-FA1B-29182548615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4EE26308-CC9F-92AA-1793-38D1DE9EA7B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0996A92-5293-F3B9-6926-B81F6B2B0D4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B90670E-8519-05BC-9E5B-1C40EA2D5CCA}"/>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8D831B74-73B0-3A4C-15A9-A5B56B27E5C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29160EEF-504B-8788-FD7A-47801C6D146F}"/>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pic>
        <p:nvPicPr>
          <p:cNvPr id="16" name="Imagen 15">
            <a:extLst>
              <a:ext uri="{FF2B5EF4-FFF2-40B4-BE49-F238E27FC236}">
                <a16:creationId xmlns:a16="http://schemas.microsoft.com/office/drawing/2014/main" id="{E325F0DB-37DC-3A70-DDA9-79093C8207BD}"/>
              </a:ext>
            </a:extLst>
          </p:cNvPr>
          <p:cNvPicPr>
            <a:picLocks noChangeAspect="1"/>
          </p:cNvPicPr>
          <p:nvPr/>
        </p:nvPicPr>
        <p:blipFill>
          <a:blip r:embed="rId5"/>
          <a:stretch>
            <a:fillRect/>
          </a:stretch>
        </p:blipFill>
        <p:spPr>
          <a:xfrm>
            <a:off x="6165129" y="791452"/>
            <a:ext cx="6720741" cy="2325488"/>
          </a:xfrm>
          <a:prstGeom prst="rect">
            <a:avLst/>
          </a:prstGeom>
        </p:spPr>
      </p:pic>
      <p:pic>
        <p:nvPicPr>
          <p:cNvPr id="18" name="Imagen 17">
            <a:extLst>
              <a:ext uri="{FF2B5EF4-FFF2-40B4-BE49-F238E27FC236}">
                <a16:creationId xmlns:a16="http://schemas.microsoft.com/office/drawing/2014/main" id="{8C4D4D3F-9633-709D-F320-C412EE08066D}"/>
              </a:ext>
            </a:extLst>
          </p:cNvPr>
          <p:cNvPicPr>
            <a:picLocks noChangeAspect="1"/>
          </p:cNvPicPr>
          <p:nvPr/>
        </p:nvPicPr>
        <p:blipFill>
          <a:blip r:embed="rId5"/>
          <a:stretch>
            <a:fillRect/>
          </a:stretch>
        </p:blipFill>
        <p:spPr>
          <a:xfrm>
            <a:off x="1952918" y="5829786"/>
            <a:ext cx="6720741" cy="2325488"/>
          </a:xfrm>
          <a:prstGeom prst="rect">
            <a:avLst/>
          </a:prstGeom>
        </p:spPr>
      </p:pic>
      <p:pic>
        <p:nvPicPr>
          <p:cNvPr id="19" name="Imagen 18">
            <a:extLst>
              <a:ext uri="{FF2B5EF4-FFF2-40B4-BE49-F238E27FC236}">
                <a16:creationId xmlns:a16="http://schemas.microsoft.com/office/drawing/2014/main" id="{702203CF-297E-1DA9-96A6-E0A0BFFCD38A}"/>
              </a:ext>
            </a:extLst>
          </p:cNvPr>
          <p:cNvPicPr>
            <a:picLocks noChangeAspect="1"/>
          </p:cNvPicPr>
          <p:nvPr/>
        </p:nvPicPr>
        <p:blipFill>
          <a:blip r:embed="rId5"/>
          <a:stretch>
            <a:fillRect/>
          </a:stretch>
        </p:blipFill>
        <p:spPr>
          <a:xfrm>
            <a:off x="11012549" y="5679038"/>
            <a:ext cx="6720741" cy="2325488"/>
          </a:xfrm>
          <a:prstGeom prst="rect">
            <a:avLst/>
          </a:prstGeom>
        </p:spPr>
      </p:pic>
      <p:sp>
        <p:nvSpPr>
          <p:cNvPr id="20" name="Flecha: a la derecha 19">
            <a:extLst>
              <a:ext uri="{FF2B5EF4-FFF2-40B4-BE49-F238E27FC236}">
                <a16:creationId xmlns:a16="http://schemas.microsoft.com/office/drawing/2014/main" id="{CA21C147-F01A-134E-A58D-0FC6F1B85D36}"/>
              </a:ext>
            </a:extLst>
          </p:cNvPr>
          <p:cNvSpPr/>
          <p:nvPr/>
        </p:nvSpPr>
        <p:spPr>
          <a:xfrm>
            <a:off x="3159261" y="4888749"/>
            <a:ext cx="4308049" cy="5094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CuadroTexto 20">
            <a:extLst>
              <a:ext uri="{FF2B5EF4-FFF2-40B4-BE49-F238E27FC236}">
                <a16:creationId xmlns:a16="http://schemas.microsoft.com/office/drawing/2014/main" id="{EABA5271-B049-638E-6006-DB75A7721392}"/>
              </a:ext>
            </a:extLst>
          </p:cNvPr>
          <p:cNvSpPr txBox="1"/>
          <p:nvPr/>
        </p:nvSpPr>
        <p:spPr>
          <a:xfrm>
            <a:off x="2848509" y="4377005"/>
            <a:ext cx="4929555" cy="369332"/>
          </a:xfrm>
          <a:prstGeom prst="rect">
            <a:avLst/>
          </a:prstGeom>
          <a:noFill/>
        </p:spPr>
        <p:txBody>
          <a:bodyPr wrap="none" rtlCol="0">
            <a:spAutoFit/>
          </a:bodyPr>
          <a:lstStyle/>
          <a:p>
            <a:r>
              <a:rPr lang="es-CO" sz="1800" dirty="0"/>
              <a:t>Un Cliente </a:t>
            </a:r>
            <a:r>
              <a:rPr lang="es-CO" sz="1800" b="1" i="1" dirty="0"/>
              <a:t>puede</a:t>
            </a:r>
            <a:r>
              <a:rPr lang="es-CO" sz="1800" dirty="0"/>
              <a:t> hacer </a:t>
            </a:r>
            <a:r>
              <a:rPr lang="es-CO" sz="1800" b="1" i="1" dirty="0"/>
              <a:t>muchos</a:t>
            </a:r>
            <a:r>
              <a:rPr lang="es-CO" sz="1800" dirty="0"/>
              <a:t> pagos </a:t>
            </a:r>
            <a:r>
              <a:rPr lang="es-CO" sz="1800" b="1" i="1" dirty="0"/>
              <a:t>(0:N) </a:t>
            </a:r>
          </a:p>
        </p:txBody>
      </p:sp>
      <p:sp>
        <p:nvSpPr>
          <p:cNvPr id="23" name="CuadroTexto 22">
            <a:extLst>
              <a:ext uri="{FF2B5EF4-FFF2-40B4-BE49-F238E27FC236}">
                <a16:creationId xmlns:a16="http://schemas.microsoft.com/office/drawing/2014/main" id="{D2EE2460-660B-2603-A1E2-911205CF076D}"/>
              </a:ext>
            </a:extLst>
          </p:cNvPr>
          <p:cNvSpPr txBox="1"/>
          <p:nvPr/>
        </p:nvSpPr>
        <p:spPr>
          <a:xfrm>
            <a:off x="4187857" y="6689383"/>
            <a:ext cx="657520" cy="307777"/>
          </a:xfrm>
          <a:prstGeom prst="rect">
            <a:avLst/>
          </a:prstGeom>
          <a:noFill/>
        </p:spPr>
        <p:txBody>
          <a:bodyPr wrap="square">
            <a:spAutoFit/>
          </a:bodyPr>
          <a:lstStyle/>
          <a:p>
            <a:r>
              <a:rPr lang="es-CO" sz="1400" b="1" i="1" dirty="0"/>
              <a:t>(0:N) </a:t>
            </a:r>
            <a:endParaRPr lang="es-CO" dirty="0"/>
          </a:p>
        </p:txBody>
      </p:sp>
      <p:sp>
        <p:nvSpPr>
          <p:cNvPr id="24" name="Flecha: a la derecha 23">
            <a:extLst>
              <a:ext uri="{FF2B5EF4-FFF2-40B4-BE49-F238E27FC236}">
                <a16:creationId xmlns:a16="http://schemas.microsoft.com/office/drawing/2014/main" id="{40E206AA-DEA3-A684-E06B-D8DC930ECEA6}"/>
              </a:ext>
            </a:extLst>
          </p:cNvPr>
          <p:cNvSpPr/>
          <p:nvPr/>
        </p:nvSpPr>
        <p:spPr>
          <a:xfrm rot="10800000">
            <a:off x="12218896" y="4888750"/>
            <a:ext cx="4308049" cy="5094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CuadroTexto 24">
            <a:extLst>
              <a:ext uri="{FF2B5EF4-FFF2-40B4-BE49-F238E27FC236}">
                <a16:creationId xmlns:a16="http://schemas.microsoft.com/office/drawing/2014/main" id="{85929658-E277-DC84-D4E9-C9B1ECBA1201}"/>
              </a:ext>
            </a:extLst>
          </p:cNvPr>
          <p:cNvSpPr txBox="1"/>
          <p:nvPr/>
        </p:nvSpPr>
        <p:spPr>
          <a:xfrm>
            <a:off x="11908142" y="4324776"/>
            <a:ext cx="5545108" cy="369332"/>
          </a:xfrm>
          <a:prstGeom prst="rect">
            <a:avLst/>
          </a:prstGeom>
          <a:noFill/>
        </p:spPr>
        <p:txBody>
          <a:bodyPr wrap="none" rtlCol="0">
            <a:spAutoFit/>
          </a:bodyPr>
          <a:lstStyle/>
          <a:p>
            <a:r>
              <a:rPr lang="es-CO" sz="1800" dirty="0"/>
              <a:t>Cada pago </a:t>
            </a:r>
            <a:r>
              <a:rPr lang="es-CO" sz="1800" b="1" i="1" dirty="0"/>
              <a:t>debe</a:t>
            </a:r>
            <a:r>
              <a:rPr lang="es-CO" sz="1800" dirty="0"/>
              <a:t> se hecho por </a:t>
            </a:r>
            <a:r>
              <a:rPr lang="es-CO" sz="1800" b="1" i="1" dirty="0"/>
              <a:t>solo un </a:t>
            </a:r>
            <a:r>
              <a:rPr lang="es-CO" sz="1800" dirty="0"/>
              <a:t>cliente </a:t>
            </a:r>
            <a:r>
              <a:rPr lang="es-CO" sz="1800" b="1" i="1" dirty="0"/>
              <a:t>(1:1) </a:t>
            </a:r>
          </a:p>
        </p:txBody>
      </p:sp>
      <p:sp>
        <p:nvSpPr>
          <p:cNvPr id="27" name="CuadroTexto 26">
            <a:extLst>
              <a:ext uri="{FF2B5EF4-FFF2-40B4-BE49-F238E27FC236}">
                <a16:creationId xmlns:a16="http://schemas.microsoft.com/office/drawing/2014/main" id="{E90292BC-A58C-D637-57ED-8FFDC1FA4789}"/>
              </a:ext>
            </a:extLst>
          </p:cNvPr>
          <p:cNvSpPr txBox="1"/>
          <p:nvPr/>
        </p:nvSpPr>
        <p:spPr>
          <a:xfrm>
            <a:off x="10129315" y="1646419"/>
            <a:ext cx="771212" cy="307777"/>
          </a:xfrm>
          <a:prstGeom prst="rect">
            <a:avLst/>
          </a:prstGeom>
          <a:noFill/>
        </p:spPr>
        <p:txBody>
          <a:bodyPr wrap="square">
            <a:spAutoFit/>
          </a:bodyPr>
          <a:lstStyle/>
          <a:p>
            <a:r>
              <a:rPr lang="es-CO" sz="1400" b="1" i="1" dirty="0"/>
              <a:t>(1:1) </a:t>
            </a:r>
            <a:endParaRPr lang="es-CO" dirty="0"/>
          </a:p>
        </p:txBody>
      </p:sp>
      <p:sp>
        <p:nvSpPr>
          <p:cNvPr id="28" name="CuadroTexto 27">
            <a:extLst>
              <a:ext uri="{FF2B5EF4-FFF2-40B4-BE49-F238E27FC236}">
                <a16:creationId xmlns:a16="http://schemas.microsoft.com/office/drawing/2014/main" id="{6EB76349-6E7B-EC7D-F771-F97068899D7F}"/>
              </a:ext>
            </a:extLst>
          </p:cNvPr>
          <p:cNvSpPr txBox="1"/>
          <p:nvPr/>
        </p:nvSpPr>
        <p:spPr>
          <a:xfrm>
            <a:off x="15008472" y="6687894"/>
            <a:ext cx="771212" cy="307777"/>
          </a:xfrm>
          <a:prstGeom prst="rect">
            <a:avLst/>
          </a:prstGeom>
          <a:noFill/>
        </p:spPr>
        <p:txBody>
          <a:bodyPr wrap="square">
            <a:spAutoFit/>
          </a:bodyPr>
          <a:lstStyle/>
          <a:p>
            <a:r>
              <a:rPr lang="es-CO" sz="1400" b="1" i="1" dirty="0"/>
              <a:t>(1:1) </a:t>
            </a:r>
            <a:endParaRPr lang="es-CO" dirty="0"/>
          </a:p>
        </p:txBody>
      </p:sp>
      <p:sp>
        <p:nvSpPr>
          <p:cNvPr id="29" name="CuadroTexto 28">
            <a:extLst>
              <a:ext uri="{FF2B5EF4-FFF2-40B4-BE49-F238E27FC236}">
                <a16:creationId xmlns:a16="http://schemas.microsoft.com/office/drawing/2014/main" id="{31874FD7-F971-4583-7276-E0A593F92FCB}"/>
              </a:ext>
            </a:extLst>
          </p:cNvPr>
          <p:cNvSpPr txBox="1"/>
          <p:nvPr/>
        </p:nvSpPr>
        <p:spPr>
          <a:xfrm>
            <a:off x="8344899" y="1646419"/>
            <a:ext cx="657520" cy="307777"/>
          </a:xfrm>
          <a:prstGeom prst="rect">
            <a:avLst/>
          </a:prstGeom>
          <a:noFill/>
        </p:spPr>
        <p:txBody>
          <a:bodyPr wrap="square">
            <a:spAutoFit/>
          </a:bodyPr>
          <a:lstStyle/>
          <a:p>
            <a:r>
              <a:rPr lang="es-CO" sz="1400" b="1" i="1" dirty="0"/>
              <a:t>(0:N) </a:t>
            </a:r>
            <a:endParaRPr lang="es-CO" dirty="0"/>
          </a:p>
        </p:txBody>
      </p:sp>
    </p:spTree>
    <p:extLst>
      <p:ext uri="{BB962C8B-B14F-4D97-AF65-F5344CB8AC3E}">
        <p14:creationId xmlns:p14="http://schemas.microsoft.com/office/powerpoint/2010/main" val="23824725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3253C-051C-A00C-0279-10797FEFE5B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CFA6A41-C6A7-896A-F80C-62FF4BC1250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5393071-CAAF-F5E5-EB5E-73D83C456DD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E094C0CC-766A-9AA1-621D-DC218F03701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216A8915-6DE2-8BF2-85EE-550C426A502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64176A02-DCB9-0A1E-64A8-6C9A8F6863F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3028CCFC-34B6-18E8-AE52-912B3408E3F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46B5E11-51A8-6479-B284-7275E3FA28D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464A174-FB38-327D-6C22-992121F66F3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A8628356-C450-F5F2-DC19-0C808375B8D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7FC0C61B-F49F-B64B-D42E-5FA4DD879E7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pic>
        <p:nvPicPr>
          <p:cNvPr id="16" name="Imagen 15">
            <a:extLst>
              <a:ext uri="{FF2B5EF4-FFF2-40B4-BE49-F238E27FC236}">
                <a16:creationId xmlns:a16="http://schemas.microsoft.com/office/drawing/2014/main" id="{6A28757B-9EF6-29D5-875E-8569E8A77AE0}"/>
              </a:ext>
            </a:extLst>
          </p:cNvPr>
          <p:cNvPicPr>
            <a:picLocks noChangeAspect="1"/>
          </p:cNvPicPr>
          <p:nvPr/>
        </p:nvPicPr>
        <p:blipFill>
          <a:blip r:embed="rId5"/>
          <a:stretch>
            <a:fillRect/>
          </a:stretch>
        </p:blipFill>
        <p:spPr>
          <a:xfrm>
            <a:off x="6165129" y="791452"/>
            <a:ext cx="6720741" cy="2325488"/>
          </a:xfrm>
          <a:prstGeom prst="rect">
            <a:avLst/>
          </a:prstGeom>
        </p:spPr>
      </p:pic>
      <p:pic>
        <p:nvPicPr>
          <p:cNvPr id="18" name="Imagen 17">
            <a:extLst>
              <a:ext uri="{FF2B5EF4-FFF2-40B4-BE49-F238E27FC236}">
                <a16:creationId xmlns:a16="http://schemas.microsoft.com/office/drawing/2014/main" id="{BD3C8887-1AC9-0AA2-98F4-3AE3EC96ADDE}"/>
              </a:ext>
            </a:extLst>
          </p:cNvPr>
          <p:cNvPicPr>
            <a:picLocks noChangeAspect="1"/>
          </p:cNvPicPr>
          <p:nvPr/>
        </p:nvPicPr>
        <p:blipFill>
          <a:blip r:embed="rId5"/>
          <a:stretch>
            <a:fillRect/>
          </a:stretch>
        </p:blipFill>
        <p:spPr>
          <a:xfrm>
            <a:off x="1952918" y="5829786"/>
            <a:ext cx="6720741" cy="2325488"/>
          </a:xfrm>
          <a:prstGeom prst="rect">
            <a:avLst/>
          </a:prstGeom>
        </p:spPr>
      </p:pic>
      <p:pic>
        <p:nvPicPr>
          <p:cNvPr id="19" name="Imagen 18">
            <a:extLst>
              <a:ext uri="{FF2B5EF4-FFF2-40B4-BE49-F238E27FC236}">
                <a16:creationId xmlns:a16="http://schemas.microsoft.com/office/drawing/2014/main" id="{2FBC59E3-472D-D372-7E1B-A64129D84DCD}"/>
              </a:ext>
            </a:extLst>
          </p:cNvPr>
          <p:cNvPicPr>
            <a:picLocks noChangeAspect="1"/>
          </p:cNvPicPr>
          <p:nvPr/>
        </p:nvPicPr>
        <p:blipFill>
          <a:blip r:embed="rId5"/>
          <a:stretch>
            <a:fillRect/>
          </a:stretch>
        </p:blipFill>
        <p:spPr>
          <a:xfrm>
            <a:off x="11012549" y="5679038"/>
            <a:ext cx="6720741" cy="2325488"/>
          </a:xfrm>
          <a:prstGeom prst="rect">
            <a:avLst/>
          </a:prstGeom>
        </p:spPr>
      </p:pic>
      <p:sp>
        <p:nvSpPr>
          <p:cNvPr id="20" name="Flecha: a la derecha 19">
            <a:extLst>
              <a:ext uri="{FF2B5EF4-FFF2-40B4-BE49-F238E27FC236}">
                <a16:creationId xmlns:a16="http://schemas.microsoft.com/office/drawing/2014/main" id="{54F1CCC7-F80E-2F1C-EE6D-C075310DE07A}"/>
              </a:ext>
            </a:extLst>
          </p:cNvPr>
          <p:cNvSpPr/>
          <p:nvPr/>
        </p:nvSpPr>
        <p:spPr>
          <a:xfrm>
            <a:off x="3159261" y="4888749"/>
            <a:ext cx="4308049" cy="5094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3" name="CuadroTexto 22">
            <a:extLst>
              <a:ext uri="{FF2B5EF4-FFF2-40B4-BE49-F238E27FC236}">
                <a16:creationId xmlns:a16="http://schemas.microsoft.com/office/drawing/2014/main" id="{3E53B086-27D8-DE8A-8A56-4F2E8478FB71}"/>
              </a:ext>
            </a:extLst>
          </p:cNvPr>
          <p:cNvSpPr txBox="1"/>
          <p:nvPr/>
        </p:nvSpPr>
        <p:spPr>
          <a:xfrm>
            <a:off x="4187857" y="6689383"/>
            <a:ext cx="657520" cy="307777"/>
          </a:xfrm>
          <a:prstGeom prst="rect">
            <a:avLst/>
          </a:prstGeom>
          <a:noFill/>
        </p:spPr>
        <p:txBody>
          <a:bodyPr wrap="square">
            <a:spAutoFit/>
          </a:bodyPr>
          <a:lstStyle/>
          <a:p>
            <a:r>
              <a:rPr lang="es-CO" sz="1400" b="1" i="1" dirty="0"/>
              <a:t>(0:N) </a:t>
            </a:r>
            <a:endParaRPr lang="es-CO" dirty="0"/>
          </a:p>
        </p:txBody>
      </p:sp>
      <p:sp>
        <p:nvSpPr>
          <p:cNvPr id="24" name="Flecha: a la derecha 23">
            <a:extLst>
              <a:ext uri="{FF2B5EF4-FFF2-40B4-BE49-F238E27FC236}">
                <a16:creationId xmlns:a16="http://schemas.microsoft.com/office/drawing/2014/main" id="{AB018ACA-D42C-7EC8-D36D-CCC48F4F9A31}"/>
              </a:ext>
            </a:extLst>
          </p:cNvPr>
          <p:cNvSpPr/>
          <p:nvPr/>
        </p:nvSpPr>
        <p:spPr>
          <a:xfrm rot="10800000">
            <a:off x="12218896" y="4888750"/>
            <a:ext cx="4308049" cy="5094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7" name="CuadroTexto 26">
            <a:extLst>
              <a:ext uri="{FF2B5EF4-FFF2-40B4-BE49-F238E27FC236}">
                <a16:creationId xmlns:a16="http://schemas.microsoft.com/office/drawing/2014/main" id="{AC2B1DCF-0D16-257F-9F12-20A53195D6B9}"/>
              </a:ext>
            </a:extLst>
          </p:cNvPr>
          <p:cNvSpPr txBox="1"/>
          <p:nvPr/>
        </p:nvSpPr>
        <p:spPr>
          <a:xfrm>
            <a:off x="10129315" y="1646419"/>
            <a:ext cx="771212" cy="307777"/>
          </a:xfrm>
          <a:prstGeom prst="rect">
            <a:avLst/>
          </a:prstGeom>
          <a:noFill/>
        </p:spPr>
        <p:txBody>
          <a:bodyPr wrap="square">
            <a:spAutoFit/>
          </a:bodyPr>
          <a:lstStyle/>
          <a:p>
            <a:r>
              <a:rPr lang="es-CO" sz="1400" b="1" i="1" dirty="0"/>
              <a:t>(1:1) </a:t>
            </a:r>
            <a:endParaRPr lang="es-CO" dirty="0"/>
          </a:p>
        </p:txBody>
      </p:sp>
      <p:sp>
        <p:nvSpPr>
          <p:cNvPr id="28" name="CuadroTexto 27">
            <a:extLst>
              <a:ext uri="{FF2B5EF4-FFF2-40B4-BE49-F238E27FC236}">
                <a16:creationId xmlns:a16="http://schemas.microsoft.com/office/drawing/2014/main" id="{74B4E220-B4FB-1D6E-6998-C428B766CFC1}"/>
              </a:ext>
            </a:extLst>
          </p:cNvPr>
          <p:cNvSpPr txBox="1"/>
          <p:nvPr/>
        </p:nvSpPr>
        <p:spPr>
          <a:xfrm>
            <a:off x="15008472" y="6687894"/>
            <a:ext cx="771212" cy="307777"/>
          </a:xfrm>
          <a:prstGeom prst="rect">
            <a:avLst/>
          </a:prstGeom>
          <a:noFill/>
        </p:spPr>
        <p:txBody>
          <a:bodyPr wrap="square">
            <a:spAutoFit/>
          </a:bodyPr>
          <a:lstStyle/>
          <a:p>
            <a:r>
              <a:rPr lang="es-CO" sz="1400" b="1" i="1" dirty="0"/>
              <a:t>(1:1) </a:t>
            </a:r>
            <a:endParaRPr lang="es-CO" dirty="0"/>
          </a:p>
        </p:txBody>
      </p:sp>
      <p:sp>
        <p:nvSpPr>
          <p:cNvPr id="29" name="CuadroTexto 28">
            <a:extLst>
              <a:ext uri="{FF2B5EF4-FFF2-40B4-BE49-F238E27FC236}">
                <a16:creationId xmlns:a16="http://schemas.microsoft.com/office/drawing/2014/main" id="{73E442C4-F803-1B08-8B54-402C6F7D9EB0}"/>
              </a:ext>
            </a:extLst>
          </p:cNvPr>
          <p:cNvSpPr txBox="1"/>
          <p:nvPr/>
        </p:nvSpPr>
        <p:spPr>
          <a:xfrm>
            <a:off x="8344899" y="1646419"/>
            <a:ext cx="657520" cy="307777"/>
          </a:xfrm>
          <a:prstGeom prst="rect">
            <a:avLst/>
          </a:prstGeom>
          <a:noFill/>
        </p:spPr>
        <p:txBody>
          <a:bodyPr wrap="square">
            <a:spAutoFit/>
          </a:bodyPr>
          <a:lstStyle/>
          <a:p>
            <a:r>
              <a:rPr lang="es-CO" sz="1400" b="1" i="1" dirty="0"/>
              <a:t>(0:N) </a:t>
            </a:r>
            <a:endParaRPr lang="es-CO" dirty="0"/>
          </a:p>
        </p:txBody>
      </p:sp>
    </p:spTree>
    <p:extLst>
      <p:ext uri="{BB962C8B-B14F-4D97-AF65-F5344CB8AC3E}">
        <p14:creationId xmlns:p14="http://schemas.microsoft.com/office/powerpoint/2010/main" val="30037505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8AEF6-DD2A-5F46-8DF5-BA5BE8F2A0E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6E35F2B-F647-5C80-AF1B-BE85CC3A0F99}"/>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0B045873-173D-CB18-0851-FEFC1B9A113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0A329F57-EE1B-C07F-6283-17E4EE105194}"/>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470B522-0FEB-E1AC-576D-5C6C4E8309F7}"/>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5C03D24-0615-AB86-DAAB-6C6FFDB400D6}"/>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D539E52-19C8-A5C8-BE8D-CC9AACE674D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1196EC0-B55B-0EBA-2A8A-386A36B1ADB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75F479C2-D302-A583-F75D-2B0EBAED374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33645A08-B0AD-E19E-05D3-97DCB7A83442}"/>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F6515153-F011-E851-D28C-A58C64FFB569}"/>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8C35C12E-A886-4CDE-9DD5-D314B1D8A49A}"/>
              </a:ext>
            </a:extLst>
          </p:cNvPr>
          <p:cNvSpPr txBox="1"/>
          <p:nvPr/>
        </p:nvSpPr>
        <p:spPr>
          <a:xfrm>
            <a:off x="4508369" y="4917732"/>
            <a:ext cx="9186420" cy="1446550"/>
          </a:xfrm>
          <a:prstGeom prst="rect">
            <a:avLst/>
          </a:prstGeom>
          <a:noFill/>
        </p:spPr>
        <p:txBody>
          <a:bodyPr wrap="square">
            <a:spAutoFit/>
          </a:bodyPr>
          <a:lstStyle/>
          <a:p>
            <a:pPr algn="ctr"/>
            <a:r>
              <a:rPr lang="es-CO" sz="4400" dirty="0"/>
              <a:t>Paso 5: Crear un diagrama E-R detallado utilizando aserciones</a:t>
            </a:r>
          </a:p>
        </p:txBody>
      </p:sp>
    </p:spTree>
    <p:extLst>
      <p:ext uri="{BB962C8B-B14F-4D97-AF65-F5344CB8AC3E}">
        <p14:creationId xmlns:p14="http://schemas.microsoft.com/office/powerpoint/2010/main" val="32006224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72335-B94D-97E8-0815-B40B9DC88D9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CDA242-624B-71CD-2949-90836192AE69}"/>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BD2E8199-C633-430F-AF78-C765ECFB91C3}"/>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7D0BACEC-3D8D-12B4-BD98-90936E7D31DA}"/>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91A0A0D-0E73-7A9B-65E4-51A11B577A2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6BE7A342-E7FB-5EDA-6CE3-04FD41AE03D6}"/>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AE48606F-D553-5AC4-0CB8-54B330DD7D3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A1F50617-0360-E57F-6389-550042A16A5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746C8F5-83C8-3685-3515-1C22682A9162}"/>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2365650-6AE8-4280-0C10-C32864B0ADF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24BA7C4-A888-D07F-3E06-6FADCDB335B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7F6BE91B-7CFA-8C11-11AF-293C3BEC3A9C}"/>
              </a:ext>
            </a:extLst>
          </p:cNvPr>
          <p:cNvSpPr txBox="1"/>
          <p:nvPr/>
        </p:nvSpPr>
        <p:spPr>
          <a:xfrm>
            <a:off x="2387338" y="2023703"/>
            <a:ext cx="9186420" cy="769441"/>
          </a:xfrm>
          <a:prstGeom prst="rect">
            <a:avLst/>
          </a:prstGeom>
          <a:noFill/>
        </p:spPr>
        <p:txBody>
          <a:bodyPr wrap="square">
            <a:spAutoFit/>
          </a:bodyPr>
          <a:lstStyle/>
          <a:p>
            <a:pPr>
              <a:buNone/>
            </a:pPr>
            <a:r>
              <a:rPr lang="es-ES" sz="4400" b="1" dirty="0"/>
              <a:t>Ejemplo</a:t>
            </a:r>
          </a:p>
        </p:txBody>
      </p:sp>
      <p:sp>
        <p:nvSpPr>
          <p:cNvPr id="12" name="AutoShape 2">
            <a:extLst>
              <a:ext uri="{FF2B5EF4-FFF2-40B4-BE49-F238E27FC236}">
                <a16:creationId xmlns:a16="http://schemas.microsoft.com/office/drawing/2014/main" id="{52693222-6DA8-1396-C488-43E3893C4F8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4" name="Imagen 13">
            <a:extLst>
              <a:ext uri="{FF2B5EF4-FFF2-40B4-BE49-F238E27FC236}">
                <a16:creationId xmlns:a16="http://schemas.microsoft.com/office/drawing/2014/main" id="{59D98FEA-3205-1666-D44A-9EB6D8DB6F5D}"/>
              </a:ext>
            </a:extLst>
          </p:cNvPr>
          <p:cNvPicPr>
            <a:picLocks noChangeAspect="1"/>
          </p:cNvPicPr>
          <p:nvPr/>
        </p:nvPicPr>
        <p:blipFill>
          <a:blip r:embed="rId5"/>
          <a:stretch>
            <a:fillRect/>
          </a:stretch>
        </p:blipFill>
        <p:spPr>
          <a:xfrm>
            <a:off x="5574651" y="1333180"/>
            <a:ext cx="10952294" cy="7925439"/>
          </a:xfrm>
          <a:prstGeom prst="rect">
            <a:avLst/>
          </a:prstGeom>
        </p:spPr>
      </p:pic>
    </p:spTree>
    <p:extLst>
      <p:ext uri="{BB962C8B-B14F-4D97-AF65-F5344CB8AC3E}">
        <p14:creationId xmlns:p14="http://schemas.microsoft.com/office/powerpoint/2010/main" val="27800752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EE79B-6FCF-1FDC-C32E-3F08892BC9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9C8DB3-83F8-D433-7EF9-08CBB53A31F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8257930-1FFA-57B5-9269-1091522C77C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6F557F38-A763-E85F-CD90-E09774A3C1D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39DE4A1-AF6F-4096-EFAC-2EF5E7C6A21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C076BB1-5001-0EBE-ED11-9ACE73D40E96}"/>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759A9AA-31DE-82E6-3C36-8AF259987C7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26F88A93-2944-E69F-7991-FED11CD963F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A7F6FFD7-9378-80C1-AF3F-2B3728E9D109}"/>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338FD69-EE22-76EA-426B-C6B3235C786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460FD99-1434-FCB8-06D6-2B27CEDD80E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728FBF57-EABF-FB75-EA14-2B598578BD1F}"/>
              </a:ext>
            </a:extLst>
          </p:cNvPr>
          <p:cNvSpPr txBox="1"/>
          <p:nvPr/>
        </p:nvSpPr>
        <p:spPr>
          <a:xfrm>
            <a:off x="4550790" y="2853262"/>
            <a:ext cx="9186420" cy="2800767"/>
          </a:xfrm>
          <a:prstGeom prst="rect">
            <a:avLst/>
          </a:prstGeom>
          <a:noFill/>
        </p:spPr>
        <p:txBody>
          <a:bodyPr wrap="square">
            <a:spAutoFit/>
          </a:bodyPr>
          <a:lstStyle/>
          <a:p>
            <a:pPr algn="ctr"/>
            <a:r>
              <a:rPr lang="es-CO" sz="4400" dirty="0"/>
              <a:t>Paso 6: </a:t>
            </a:r>
          </a:p>
          <a:p>
            <a:pPr algn="ctr"/>
            <a:r>
              <a:rPr lang="es-CO" sz="4400" dirty="0"/>
              <a:t>Transformar el diagrama E-R detallado en un diagrama R-M implementable</a:t>
            </a:r>
          </a:p>
        </p:txBody>
      </p:sp>
    </p:spTree>
    <p:extLst>
      <p:ext uri="{BB962C8B-B14F-4D97-AF65-F5344CB8AC3E}">
        <p14:creationId xmlns:p14="http://schemas.microsoft.com/office/powerpoint/2010/main" val="31436138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85754-21ED-6239-7495-05F751FB69A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16EDE3-85D0-B088-CD69-E7EBA2C202E8}"/>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A1A23A14-3415-D165-0881-9643DDDD4F07}"/>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A96E223A-ADAB-8E23-4D63-276EE2F09CE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3BB4627-69C7-73F4-580C-6CF323B2B7E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5DD97D2-3B13-3DCE-E2BD-F12ECAE2F4C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E299553-AEAC-66B2-3969-AA0A56901319}"/>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343594FF-9765-2DD7-4FAF-C74E75FB2C0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6105402-15A6-9D60-8C93-60490DC2ECC2}"/>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A027850-33EC-70F4-9968-A1FD136F4B0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F009F6B-6975-1CB9-09B0-353649F15FF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6CBD9782-E7FC-17A2-67AB-27B193233723}"/>
              </a:ext>
            </a:extLst>
          </p:cNvPr>
          <p:cNvSpPr txBox="1"/>
          <p:nvPr/>
        </p:nvSpPr>
        <p:spPr>
          <a:xfrm>
            <a:off x="2179947" y="1172510"/>
            <a:ext cx="12912365" cy="747897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r>
              <a:rPr lang="es-ES" sz="3200" dirty="0"/>
              <a:t>La "Pata de Gallo" es una forma visual de dibujar los números (</a:t>
            </a:r>
            <a:r>
              <a:rPr lang="es-ES" sz="3200" dirty="0">
                <a:latin typeface="Courier New" panose="02070309020205020404" pitchFamily="49" charset="0"/>
              </a:rPr>
              <a:t>0:N</a:t>
            </a:r>
            <a:r>
              <a:rPr lang="es-ES" sz="3200" dirty="0"/>
              <a:t>, </a:t>
            </a:r>
            <a:r>
              <a:rPr lang="es-ES" sz="3200" dirty="0">
                <a:latin typeface="Courier New" panose="02070309020205020404" pitchFamily="49" charset="0"/>
              </a:rPr>
              <a:t>1:1</a:t>
            </a:r>
            <a:r>
              <a:rPr lang="es-ES" sz="3200" dirty="0"/>
              <a:t>) que ves en las líneas. </a:t>
            </a:r>
          </a:p>
          <a:p>
            <a:pPr>
              <a:buNone/>
            </a:pPr>
            <a:endParaRPr lang="es-ES" sz="3200" dirty="0"/>
          </a:p>
          <a:p>
            <a:pPr>
              <a:buNone/>
            </a:pPr>
            <a:endParaRPr lang="es-ES" sz="3200" b="1" dirty="0"/>
          </a:p>
          <a:p>
            <a:pPr>
              <a:buFont typeface="+mj-lt"/>
              <a:buAutoNum type="arabicPeriod"/>
            </a:pPr>
            <a:r>
              <a:rPr lang="es-ES" sz="3200" b="1" dirty="0"/>
              <a:t>Muchos (La Pata de Gallo):</a:t>
            </a:r>
            <a:r>
              <a:rPr lang="es-ES" sz="3200" dirty="0"/>
              <a:t> </a:t>
            </a:r>
            <a:r>
              <a:rPr lang="es-ES" sz="3200" dirty="0">
                <a:latin typeface="Courier New" panose="02070309020205020404" pitchFamily="49" charset="0"/>
              </a:rPr>
              <a:t>&lt;</a:t>
            </a:r>
            <a:endParaRPr lang="es-ES" sz="3200" dirty="0"/>
          </a:p>
          <a:p>
            <a:pPr marL="742950" lvl="1" indent="-285750">
              <a:buFont typeface="+mj-lt"/>
              <a:buAutoNum type="arabicPeriod"/>
            </a:pPr>
            <a:r>
              <a:rPr lang="es-ES" sz="3200" dirty="0"/>
              <a:t>Significa: "Aquí caben muchos registros".</a:t>
            </a:r>
          </a:p>
          <a:p>
            <a:pPr marL="742950" lvl="1" indent="-285750">
              <a:buFont typeface="+mj-lt"/>
              <a:buAutoNum type="arabicPeriod"/>
            </a:pPr>
            <a:r>
              <a:rPr lang="es-ES" sz="3200" dirty="0"/>
              <a:t>Equivale a la </a:t>
            </a:r>
            <a:r>
              <a:rPr lang="es-ES" sz="3200" b="1" dirty="0"/>
              <a:t>N</a:t>
            </a:r>
            <a:r>
              <a:rPr lang="es-ES" sz="3200" dirty="0"/>
              <a:t>.</a:t>
            </a:r>
          </a:p>
          <a:p>
            <a:pPr>
              <a:buFont typeface="+mj-lt"/>
              <a:buAutoNum type="arabicPeriod"/>
            </a:pPr>
            <a:r>
              <a:rPr lang="es-ES" sz="3200" b="1" dirty="0"/>
              <a:t>Uno (La Rayita):</a:t>
            </a:r>
            <a:r>
              <a:rPr lang="es-ES" sz="3200" dirty="0"/>
              <a:t> </a:t>
            </a:r>
            <a:r>
              <a:rPr lang="es-ES" sz="3200" dirty="0">
                <a:latin typeface="Courier New" panose="02070309020205020404" pitchFamily="49" charset="0"/>
              </a:rPr>
              <a:t>|</a:t>
            </a:r>
            <a:endParaRPr lang="es-ES" sz="3200" dirty="0"/>
          </a:p>
          <a:p>
            <a:pPr marL="742950" lvl="1" indent="-285750">
              <a:buFont typeface="+mj-lt"/>
              <a:buAutoNum type="arabicPeriod"/>
            </a:pPr>
            <a:r>
              <a:rPr lang="es-ES" sz="3200" dirty="0"/>
              <a:t>Significa: "Aquí solo cabe uno".</a:t>
            </a:r>
          </a:p>
          <a:p>
            <a:pPr marL="742950" lvl="1" indent="-285750">
              <a:buFont typeface="+mj-lt"/>
              <a:buAutoNum type="arabicPeriod"/>
            </a:pPr>
            <a:r>
              <a:rPr lang="es-ES" sz="3200" dirty="0"/>
              <a:t>Equivale al </a:t>
            </a:r>
            <a:r>
              <a:rPr lang="es-ES" sz="3200" b="1" dirty="0"/>
              <a:t>1</a:t>
            </a:r>
            <a:r>
              <a:rPr lang="es-ES" sz="3200" dirty="0"/>
              <a:t>.</a:t>
            </a:r>
          </a:p>
          <a:p>
            <a:pPr>
              <a:buFont typeface="+mj-lt"/>
              <a:buAutoNum type="arabicPeriod"/>
            </a:pPr>
            <a:r>
              <a:rPr lang="es-ES" sz="3200" b="1" dirty="0"/>
              <a:t>Cero (El Círculo):</a:t>
            </a:r>
            <a:r>
              <a:rPr lang="es-ES" sz="3200" dirty="0"/>
              <a:t> </a:t>
            </a:r>
            <a:r>
              <a:rPr lang="es-ES" sz="3200" dirty="0">
                <a:latin typeface="Courier New" panose="02070309020205020404" pitchFamily="49" charset="0"/>
              </a:rPr>
              <a:t>O</a:t>
            </a:r>
            <a:endParaRPr lang="es-ES" sz="3200" dirty="0"/>
          </a:p>
          <a:p>
            <a:pPr marL="742950" lvl="1" indent="-285750">
              <a:buFont typeface="+mj-lt"/>
              <a:buAutoNum type="arabicPeriod"/>
            </a:pPr>
            <a:r>
              <a:rPr lang="es-ES" sz="3200" dirty="0"/>
              <a:t>Significa: "Es opcional" (puede no haber nada).</a:t>
            </a:r>
          </a:p>
          <a:p>
            <a:pPr marL="742950" lvl="1" indent="-285750">
              <a:buFont typeface="+mj-lt"/>
              <a:buAutoNum type="arabicPeriod"/>
            </a:pPr>
            <a:r>
              <a:rPr lang="es-ES" sz="3200" dirty="0"/>
              <a:t>Equivale al </a:t>
            </a:r>
            <a:r>
              <a:rPr lang="es-ES" sz="3200" b="1" dirty="0"/>
              <a:t>0</a:t>
            </a:r>
            <a:r>
              <a:rPr lang="es-ES" sz="3200" dirty="0"/>
              <a:t>.</a:t>
            </a:r>
          </a:p>
        </p:txBody>
      </p:sp>
    </p:spTree>
    <p:extLst>
      <p:ext uri="{BB962C8B-B14F-4D97-AF65-F5344CB8AC3E}">
        <p14:creationId xmlns:p14="http://schemas.microsoft.com/office/powerpoint/2010/main" val="18523710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63307-5E5A-A026-CF4B-7DEDB73F63F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B324FDD-605C-7793-C285-57B4856D3419}"/>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D490176-2FDC-1718-D23B-7B146E81C7E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5B75EF2-837F-35CB-51F5-792940947A9D}"/>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3BC29CA6-C358-DB89-C4A2-5258F904CD2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35E7F14-A53C-364C-18AC-8A6A54C97D3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1B77129-2EA2-D9F4-7B0E-C6F8949F8E0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09059F46-42EF-5C04-5C76-731058E861D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3CD2B31-B369-09DA-BA94-7FEE772860CD}"/>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124E335-9D39-2D10-CE66-C4894DEB0A0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A173F115-FDE8-B433-A034-5E46A2752FC0}"/>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C9AFF1AE-74F9-A30A-B50D-D856D66092C9}"/>
              </a:ext>
            </a:extLst>
          </p:cNvPr>
          <p:cNvSpPr txBox="1"/>
          <p:nvPr/>
        </p:nvSpPr>
        <p:spPr>
          <a:xfrm>
            <a:off x="1708607" y="1172510"/>
            <a:ext cx="12912365" cy="156966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endParaRPr lang="es-ES" sz="3200" dirty="0"/>
          </a:p>
        </p:txBody>
      </p:sp>
      <p:sp>
        <p:nvSpPr>
          <p:cNvPr id="13" name="CuadroTexto 12">
            <a:extLst>
              <a:ext uri="{FF2B5EF4-FFF2-40B4-BE49-F238E27FC236}">
                <a16:creationId xmlns:a16="http://schemas.microsoft.com/office/drawing/2014/main" id="{7C50E4DD-B60D-2B87-D5CF-3A756EA8FDE3}"/>
              </a:ext>
            </a:extLst>
          </p:cNvPr>
          <p:cNvSpPr txBox="1"/>
          <p:nvPr/>
        </p:nvSpPr>
        <p:spPr>
          <a:xfrm>
            <a:off x="2100906" y="2327390"/>
            <a:ext cx="13781388" cy="3139321"/>
          </a:xfrm>
          <a:prstGeom prst="rect">
            <a:avLst/>
          </a:prstGeom>
          <a:noFill/>
        </p:spPr>
        <p:txBody>
          <a:bodyPr wrap="square">
            <a:spAutoFit/>
          </a:bodyPr>
          <a:lstStyle/>
          <a:p>
            <a:r>
              <a:rPr lang="es-CO" sz="1800" dirty="0"/>
              <a:t>Las relaciones ilustran la asociación entre dos entidades. Se representan como una línea recta. Normalmente, cada relación tiene un nombre, expresado como un verbo, escrito en la línea de relación. Este describe el tipo de relación que conecta los objetos.</a:t>
            </a:r>
          </a:p>
          <a:p>
            <a:endParaRPr lang="es-CO" sz="1800" dirty="0"/>
          </a:p>
          <a:p>
            <a:r>
              <a:rPr lang="es-CO" sz="1800" dirty="0"/>
              <a:t>Tenga en cuenta que el tipo de relación mencionado es binario. En el modelo Entidad-Relación, representar una relación ternaria o de orden superior es problemático.</a:t>
            </a:r>
          </a:p>
          <a:p>
            <a:endParaRPr lang="es-CO" sz="1800" dirty="0"/>
          </a:p>
          <a:p>
            <a:r>
              <a:rPr lang="es-CO" sz="1800" dirty="0"/>
              <a:t>Cardinalidad</a:t>
            </a:r>
          </a:p>
          <a:p>
            <a:r>
              <a:rPr lang="es-CO" sz="1800" dirty="0"/>
              <a:t>Las relaciones tienen dos indicadores. Estos se muestran a ambos lados de la línea.</a:t>
            </a:r>
          </a:p>
          <a:p>
            <a:pPr marL="285750" indent="-285750">
              <a:buFont typeface="Arial" panose="020B0604020202020204" pitchFamily="34" charset="0"/>
              <a:buChar char="•"/>
            </a:pPr>
            <a:endParaRPr lang="es-CO" sz="1800" dirty="0"/>
          </a:p>
          <a:p>
            <a:pPr marL="285750" indent="-285750">
              <a:buFont typeface="Arial" panose="020B0604020202020204" pitchFamily="34" charset="0"/>
              <a:buChar char="•"/>
            </a:pPr>
            <a:r>
              <a:rPr lang="es-CO" sz="1800" dirty="0"/>
              <a:t>El primero (a menudo llamado multiplicidad) se refiere al número máximo de veces que una instancia de una entidad puede asociarse con instancias de la entidad relacionada. Puede ser una o muchas.</a:t>
            </a:r>
          </a:p>
        </p:txBody>
      </p:sp>
      <p:sp>
        <p:nvSpPr>
          <p:cNvPr id="14" name="AutoShape 2" descr="Imagen de ">
            <a:extLst>
              <a:ext uri="{FF2B5EF4-FFF2-40B4-BE49-F238E27FC236}">
                <a16:creationId xmlns:a16="http://schemas.microsoft.com/office/drawing/2014/main" id="{BF5E7C9D-55DC-FD9C-5170-CA9264BE69F6}"/>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5" name="Imagen 14">
            <a:extLst>
              <a:ext uri="{FF2B5EF4-FFF2-40B4-BE49-F238E27FC236}">
                <a16:creationId xmlns:a16="http://schemas.microsoft.com/office/drawing/2014/main" id="{ED36BEE1-180E-4FB0-2C0D-F58DE5DC79A7}"/>
              </a:ext>
            </a:extLst>
          </p:cNvPr>
          <p:cNvPicPr>
            <a:picLocks noChangeAspect="1"/>
          </p:cNvPicPr>
          <p:nvPr/>
        </p:nvPicPr>
        <p:blipFill>
          <a:blip r:embed="rId5"/>
          <a:stretch>
            <a:fillRect/>
          </a:stretch>
        </p:blipFill>
        <p:spPr>
          <a:xfrm>
            <a:off x="4894082" y="5737035"/>
            <a:ext cx="8195035" cy="4145535"/>
          </a:xfrm>
          <a:prstGeom prst="rect">
            <a:avLst/>
          </a:prstGeom>
        </p:spPr>
      </p:pic>
    </p:spTree>
    <p:extLst>
      <p:ext uri="{BB962C8B-B14F-4D97-AF65-F5344CB8AC3E}">
        <p14:creationId xmlns:p14="http://schemas.microsoft.com/office/powerpoint/2010/main" val="7782055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57642-EA18-7135-50B2-DA9B29655C1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91BE7DE-F059-E50F-961C-178EA0475E42}"/>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D2E1144-35A2-ECCD-7B50-E4D72AD79E4A}"/>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E4D270B0-FB71-C38B-9E8F-3B7D7F6D386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DFB6A5A-DF87-9810-5602-81C90B31CAE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B1D6B34-AF3E-B1CD-94F9-BBF5720BBA1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146C78E5-F96F-F348-57C8-61540D2627F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356565B2-69E5-CA41-0AC8-A581CB5F015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941523E-D1A3-EE35-266F-1896FD8235FA}"/>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C6667906-6559-39D3-A74C-F5B7B65BE86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AA2E6E6-D20C-A5BA-6AB1-EE952C64006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85820456-3CF0-7371-810C-AD5758902B42}"/>
              </a:ext>
            </a:extLst>
          </p:cNvPr>
          <p:cNvSpPr txBox="1"/>
          <p:nvPr/>
        </p:nvSpPr>
        <p:spPr>
          <a:xfrm>
            <a:off x="1708607" y="1172510"/>
            <a:ext cx="12912365" cy="156966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endParaRPr lang="es-ES" sz="3200" dirty="0"/>
          </a:p>
        </p:txBody>
      </p:sp>
      <p:sp>
        <p:nvSpPr>
          <p:cNvPr id="13" name="CuadroTexto 12">
            <a:extLst>
              <a:ext uri="{FF2B5EF4-FFF2-40B4-BE49-F238E27FC236}">
                <a16:creationId xmlns:a16="http://schemas.microsoft.com/office/drawing/2014/main" id="{8705B3ED-8BB4-B390-74C4-3707D7726EE5}"/>
              </a:ext>
            </a:extLst>
          </p:cNvPr>
          <p:cNvSpPr txBox="1"/>
          <p:nvPr/>
        </p:nvSpPr>
        <p:spPr>
          <a:xfrm>
            <a:off x="2100906" y="2638475"/>
            <a:ext cx="13781388" cy="523220"/>
          </a:xfrm>
          <a:prstGeom prst="rect">
            <a:avLst/>
          </a:prstGeom>
          <a:noFill/>
        </p:spPr>
        <p:txBody>
          <a:bodyPr wrap="square">
            <a:spAutoFit/>
          </a:bodyPr>
          <a:lstStyle/>
          <a:p>
            <a:r>
              <a:rPr lang="es-ES" dirty="0"/>
              <a:t>El segundo describe el número mínimo de veces que una instancia puede relacionarse con otras. Puede ser cero o uno, y, en consecuencia, describe la relación como opcional u obligatoria.</a:t>
            </a:r>
            <a:endParaRPr lang="es-CO" dirty="0"/>
          </a:p>
        </p:txBody>
      </p:sp>
      <p:sp>
        <p:nvSpPr>
          <p:cNvPr id="14" name="AutoShape 2" descr="Imagen de ">
            <a:extLst>
              <a:ext uri="{FF2B5EF4-FFF2-40B4-BE49-F238E27FC236}">
                <a16:creationId xmlns:a16="http://schemas.microsoft.com/office/drawing/2014/main" id="{5FA4EF96-798C-30C0-3A9D-A250FA0337A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2" name="AutoShape 2" descr="Imagen de ">
            <a:extLst>
              <a:ext uri="{FF2B5EF4-FFF2-40B4-BE49-F238E27FC236}">
                <a16:creationId xmlns:a16="http://schemas.microsoft.com/office/drawing/2014/main" id="{8DE59870-0E51-E77D-CEDC-86FA976F4AF4}"/>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8" name="AutoShape 4" descr="Imagen de ">
            <a:extLst>
              <a:ext uri="{FF2B5EF4-FFF2-40B4-BE49-F238E27FC236}">
                <a16:creationId xmlns:a16="http://schemas.microsoft.com/office/drawing/2014/main" id="{86B4DB1D-60C1-70D6-C47B-B5F0ACA17A93}"/>
              </a:ext>
            </a:extLst>
          </p:cNvPr>
          <p:cNvSpPr>
            <a:spLocks noChangeAspect="1" noChangeArrowheads="1"/>
          </p:cNvSpPr>
          <p:nvPr/>
        </p:nvSpPr>
        <p:spPr bwMode="auto">
          <a:xfrm>
            <a:off x="9296400" y="5295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9" name="Imagen 18">
            <a:extLst>
              <a:ext uri="{FF2B5EF4-FFF2-40B4-BE49-F238E27FC236}">
                <a16:creationId xmlns:a16="http://schemas.microsoft.com/office/drawing/2014/main" id="{1392BF0D-537F-BF07-A328-252EF45F2D51}"/>
              </a:ext>
            </a:extLst>
          </p:cNvPr>
          <p:cNvPicPr>
            <a:picLocks noChangeAspect="1"/>
          </p:cNvPicPr>
          <p:nvPr/>
        </p:nvPicPr>
        <p:blipFill>
          <a:blip r:embed="rId5"/>
          <a:stretch>
            <a:fillRect/>
          </a:stretch>
        </p:blipFill>
        <p:spPr>
          <a:xfrm>
            <a:off x="4572000" y="4046995"/>
            <a:ext cx="9753600" cy="5153025"/>
          </a:xfrm>
          <a:prstGeom prst="rect">
            <a:avLst/>
          </a:prstGeom>
        </p:spPr>
      </p:pic>
    </p:spTree>
    <p:extLst>
      <p:ext uri="{BB962C8B-B14F-4D97-AF65-F5344CB8AC3E}">
        <p14:creationId xmlns:p14="http://schemas.microsoft.com/office/powerpoint/2010/main" val="23279038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643E5-7E19-D205-6401-7DC77E603AC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2394AA6-A23E-A28C-7AC0-28A6314F77C3}"/>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D527C18-251B-3F1C-EA1E-1549E259CC04}"/>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6B5ABA78-EF98-E009-723F-EFC091DD895F}"/>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2E0AD81-71B2-5473-1C79-9631A3F7575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3DE4C58-5DB3-6E46-2E49-C021B9288D8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08838C4E-79E8-0EB5-0A70-615046EC0B4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CB91C9AE-D881-F5F3-EE43-89BC74D897E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BB4ACEB-3A84-DBDD-EFD9-447C19AFD7A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95B59E1-9DE4-C9C1-86B5-9760C9D2B2F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885083D-4FE0-88E6-5050-29F4A92F4E98}"/>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4FCBFFA6-F142-214E-921D-505D89670446}"/>
              </a:ext>
            </a:extLst>
          </p:cNvPr>
          <p:cNvSpPr txBox="1"/>
          <p:nvPr/>
        </p:nvSpPr>
        <p:spPr>
          <a:xfrm>
            <a:off x="1548352" y="312385"/>
            <a:ext cx="12912365" cy="156966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endParaRPr lang="es-ES" sz="3200" dirty="0"/>
          </a:p>
        </p:txBody>
      </p:sp>
      <p:sp>
        <p:nvSpPr>
          <p:cNvPr id="14" name="AutoShape 2" descr="Imagen de ">
            <a:extLst>
              <a:ext uri="{FF2B5EF4-FFF2-40B4-BE49-F238E27FC236}">
                <a16:creationId xmlns:a16="http://schemas.microsoft.com/office/drawing/2014/main" id="{D5B10E84-79F0-91DE-AA3D-323E0A46140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CuadroTexto 14">
            <a:extLst>
              <a:ext uri="{FF2B5EF4-FFF2-40B4-BE49-F238E27FC236}">
                <a16:creationId xmlns:a16="http://schemas.microsoft.com/office/drawing/2014/main" id="{16A78132-7835-72C9-F09B-AAE8062331AE}"/>
              </a:ext>
            </a:extLst>
          </p:cNvPr>
          <p:cNvSpPr txBox="1"/>
          <p:nvPr/>
        </p:nvSpPr>
        <p:spPr>
          <a:xfrm>
            <a:off x="1485340" y="1394589"/>
            <a:ext cx="11498344" cy="6678751"/>
          </a:xfrm>
          <a:prstGeom prst="rect">
            <a:avLst/>
          </a:prstGeom>
          <a:noFill/>
        </p:spPr>
        <p:txBody>
          <a:bodyPr wrap="square">
            <a:spAutoFit/>
          </a:bodyPr>
          <a:lstStyle/>
          <a:p>
            <a:r>
              <a:rPr lang="es-ES" sz="2000" dirty="0"/>
              <a:t>Finalmente, la relación tiene cuatro posibles aristas, ilustradas aquí:</a:t>
            </a:r>
          </a:p>
          <a:p>
            <a:endParaRPr lang="es-ES" sz="2000" dirty="0"/>
          </a:p>
          <a:p>
            <a:r>
              <a:rPr lang="es-ES" sz="3600" dirty="0"/>
              <a:t>Cero o muchos</a:t>
            </a:r>
          </a:p>
          <a:p>
            <a:endParaRPr lang="es-ES" sz="3600" dirty="0"/>
          </a:p>
          <a:p>
            <a:endParaRPr lang="es-ES" sz="3600" dirty="0"/>
          </a:p>
          <a:p>
            <a:endParaRPr lang="es-ES" sz="3600" dirty="0"/>
          </a:p>
          <a:p>
            <a:endParaRPr lang="es-ES" sz="3600" dirty="0"/>
          </a:p>
          <a:p>
            <a:endParaRPr lang="es-ES" sz="3600" dirty="0"/>
          </a:p>
          <a:p>
            <a:endParaRPr lang="es-ES" sz="3600" dirty="0"/>
          </a:p>
          <a:p>
            <a:r>
              <a:rPr lang="es-ES" sz="3600" dirty="0"/>
              <a:t>Uno o muchos</a:t>
            </a:r>
          </a:p>
          <a:p>
            <a:endParaRPr lang="es-ES" sz="2000" dirty="0"/>
          </a:p>
          <a:p>
            <a:endParaRPr lang="es-ES" sz="2000" dirty="0"/>
          </a:p>
          <a:p>
            <a:endParaRPr lang="es-ES" sz="2000" dirty="0"/>
          </a:p>
          <a:p>
            <a:endParaRPr lang="es-ES" sz="2000" dirty="0"/>
          </a:p>
          <a:p>
            <a:endParaRPr lang="es-ES" sz="2000" dirty="0"/>
          </a:p>
        </p:txBody>
      </p:sp>
      <p:pic>
        <p:nvPicPr>
          <p:cNvPr id="3074" name="Picture 2" descr="Zero or many relationship in crow’s foot notation">
            <a:extLst>
              <a:ext uri="{FF2B5EF4-FFF2-40B4-BE49-F238E27FC236}">
                <a16:creationId xmlns:a16="http://schemas.microsoft.com/office/drawing/2014/main" id="{147E50F9-BE86-6C4B-798A-FC06B47B61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3462" y="3277506"/>
            <a:ext cx="6586339" cy="2018394"/>
          </a:xfrm>
          <a:prstGeom prst="rect">
            <a:avLst/>
          </a:prstGeom>
          <a:noFill/>
          <a:extLst>
            <a:ext uri="{909E8E84-426E-40DD-AFC4-6F175D3DCCD1}">
              <a14:hiddenFill xmlns:a14="http://schemas.microsoft.com/office/drawing/2010/main">
                <a:solidFill>
                  <a:srgbClr val="FFFFFF"/>
                </a:solidFill>
              </a14:hiddenFill>
            </a:ext>
          </a:extLst>
        </p:spPr>
      </p:pic>
      <p:pic>
        <p:nvPicPr>
          <p:cNvPr id="18" name="Imagen 17">
            <a:extLst>
              <a:ext uri="{FF2B5EF4-FFF2-40B4-BE49-F238E27FC236}">
                <a16:creationId xmlns:a16="http://schemas.microsoft.com/office/drawing/2014/main" id="{E3B7AEA0-9988-68A1-3C28-D1457A1EA311}"/>
              </a:ext>
            </a:extLst>
          </p:cNvPr>
          <p:cNvPicPr>
            <a:picLocks noChangeAspect="1"/>
          </p:cNvPicPr>
          <p:nvPr/>
        </p:nvPicPr>
        <p:blipFill>
          <a:blip r:embed="rId6"/>
          <a:stretch>
            <a:fillRect/>
          </a:stretch>
        </p:blipFill>
        <p:spPr>
          <a:xfrm>
            <a:off x="1361263" y="6979691"/>
            <a:ext cx="7090736" cy="2290854"/>
          </a:xfrm>
          <a:prstGeom prst="rect">
            <a:avLst/>
          </a:prstGeom>
        </p:spPr>
      </p:pic>
      <p:pic>
        <p:nvPicPr>
          <p:cNvPr id="20" name="Imagen 19">
            <a:extLst>
              <a:ext uri="{FF2B5EF4-FFF2-40B4-BE49-F238E27FC236}">
                <a16:creationId xmlns:a16="http://schemas.microsoft.com/office/drawing/2014/main" id="{C773F051-877A-2403-B1D2-A039F7B731DC}"/>
              </a:ext>
            </a:extLst>
          </p:cNvPr>
          <p:cNvPicPr>
            <a:picLocks noChangeAspect="1"/>
          </p:cNvPicPr>
          <p:nvPr/>
        </p:nvPicPr>
        <p:blipFill>
          <a:blip r:embed="rId7"/>
          <a:stretch>
            <a:fillRect/>
          </a:stretch>
        </p:blipFill>
        <p:spPr>
          <a:xfrm>
            <a:off x="10513930" y="3060514"/>
            <a:ext cx="5934498" cy="2164059"/>
          </a:xfrm>
          <a:prstGeom prst="rect">
            <a:avLst/>
          </a:prstGeom>
        </p:spPr>
      </p:pic>
      <p:pic>
        <p:nvPicPr>
          <p:cNvPr id="22" name="Imagen 21">
            <a:extLst>
              <a:ext uri="{FF2B5EF4-FFF2-40B4-BE49-F238E27FC236}">
                <a16:creationId xmlns:a16="http://schemas.microsoft.com/office/drawing/2014/main" id="{2F07560E-61E0-5099-0588-0DA5F6999F71}"/>
              </a:ext>
            </a:extLst>
          </p:cNvPr>
          <p:cNvPicPr>
            <a:picLocks noChangeAspect="1"/>
          </p:cNvPicPr>
          <p:nvPr/>
        </p:nvPicPr>
        <p:blipFill>
          <a:blip r:embed="rId8"/>
          <a:stretch>
            <a:fillRect/>
          </a:stretch>
        </p:blipFill>
        <p:spPr>
          <a:xfrm>
            <a:off x="10050308" y="6927913"/>
            <a:ext cx="7018344" cy="2290854"/>
          </a:xfrm>
          <a:prstGeom prst="rect">
            <a:avLst/>
          </a:prstGeom>
        </p:spPr>
      </p:pic>
      <p:sp>
        <p:nvSpPr>
          <p:cNvPr id="24" name="CuadroTexto 23">
            <a:extLst>
              <a:ext uri="{FF2B5EF4-FFF2-40B4-BE49-F238E27FC236}">
                <a16:creationId xmlns:a16="http://schemas.microsoft.com/office/drawing/2014/main" id="{8FBB391E-C61E-9EBB-6DE3-83F0461E584F}"/>
              </a:ext>
            </a:extLst>
          </p:cNvPr>
          <p:cNvSpPr txBox="1"/>
          <p:nvPr/>
        </p:nvSpPr>
        <p:spPr>
          <a:xfrm>
            <a:off x="10513930" y="1962290"/>
            <a:ext cx="9186420" cy="646331"/>
          </a:xfrm>
          <a:prstGeom prst="rect">
            <a:avLst/>
          </a:prstGeom>
          <a:noFill/>
        </p:spPr>
        <p:txBody>
          <a:bodyPr wrap="square">
            <a:spAutoFit/>
          </a:bodyPr>
          <a:lstStyle/>
          <a:p>
            <a:r>
              <a:rPr lang="es-ES" sz="3600" dirty="0"/>
              <a:t>Uno y solo uno</a:t>
            </a:r>
          </a:p>
        </p:txBody>
      </p:sp>
      <p:sp>
        <p:nvSpPr>
          <p:cNvPr id="26" name="CuadroTexto 25">
            <a:extLst>
              <a:ext uri="{FF2B5EF4-FFF2-40B4-BE49-F238E27FC236}">
                <a16:creationId xmlns:a16="http://schemas.microsoft.com/office/drawing/2014/main" id="{714DAAA0-BB31-5BAE-AEA2-05723408BA22}"/>
              </a:ext>
            </a:extLst>
          </p:cNvPr>
          <p:cNvSpPr txBox="1"/>
          <p:nvPr/>
        </p:nvSpPr>
        <p:spPr>
          <a:xfrm>
            <a:off x="10513930" y="5878171"/>
            <a:ext cx="9997124" cy="646331"/>
          </a:xfrm>
          <a:prstGeom prst="rect">
            <a:avLst/>
          </a:prstGeom>
          <a:noFill/>
        </p:spPr>
        <p:txBody>
          <a:bodyPr wrap="square">
            <a:spAutoFit/>
          </a:bodyPr>
          <a:lstStyle/>
          <a:p>
            <a:r>
              <a:rPr lang="es-ES" sz="3600" dirty="0"/>
              <a:t>Cero o uno</a:t>
            </a:r>
            <a:endParaRPr lang="es-CO" sz="3600" dirty="0"/>
          </a:p>
        </p:txBody>
      </p:sp>
    </p:spTree>
    <p:extLst>
      <p:ext uri="{BB962C8B-B14F-4D97-AF65-F5344CB8AC3E}">
        <p14:creationId xmlns:p14="http://schemas.microsoft.com/office/powerpoint/2010/main" val="19926696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16F1B-79AA-DD03-F2F4-FF41E641EC9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B45C1F1-9A3D-51FA-531A-8B3BA808001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8FE8C1C-993C-D671-B633-2FC440FC18F7}"/>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3ACB539A-DEF3-EBD7-F8A0-412A8C6B675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E44F1A66-983C-FA7D-84CB-3619B85E5C1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FD9694FA-8817-F319-E27C-67D309F9286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8539E95D-BFBB-E68E-774C-15BA2CD1F0A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24DE3AC-5BDE-20DF-4176-206B626F23E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5AEADA53-DE96-E9C4-6C0D-6B2A71AC9AB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2B6FF446-FE31-8BF5-B2C6-5DF216C3C59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0C49F5F8-D8F5-8E5B-FAC4-C7E24BD0C7B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B9B28399-6EC4-7315-B0A1-9CAB9CDD3012}"/>
              </a:ext>
            </a:extLst>
          </p:cNvPr>
          <p:cNvSpPr txBox="1"/>
          <p:nvPr/>
        </p:nvSpPr>
        <p:spPr>
          <a:xfrm>
            <a:off x="1736888" y="634645"/>
            <a:ext cx="12912365" cy="156966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endParaRPr lang="es-ES" sz="3200" dirty="0"/>
          </a:p>
        </p:txBody>
      </p:sp>
      <p:sp>
        <p:nvSpPr>
          <p:cNvPr id="13" name="CuadroTexto 12">
            <a:extLst>
              <a:ext uri="{FF2B5EF4-FFF2-40B4-BE49-F238E27FC236}">
                <a16:creationId xmlns:a16="http://schemas.microsoft.com/office/drawing/2014/main" id="{7F821991-83A8-6ADB-C25A-8EF9157B92EC}"/>
              </a:ext>
            </a:extLst>
          </p:cNvPr>
          <p:cNvSpPr txBox="1"/>
          <p:nvPr/>
        </p:nvSpPr>
        <p:spPr>
          <a:xfrm>
            <a:off x="1808675" y="2356705"/>
            <a:ext cx="13781388" cy="461665"/>
          </a:xfrm>
          <a:prstGeom prst="rect">
            <a:avLst/>
          </a:prstGeom>
          <a:noFill/>
        </p:spPr>
        <p:txBody>
          <a:bodyPr wrap="square">
            <a:spAutoFit/>
          </a:bodyPr>
          <a:lstStyle/>
          <a:p>
            <a:r>
              <a:rPr lang="es-ES" sz="2400" dirty="0"/>
              <a:t>Ejemplo</a:t>
            </a:r>
            <a:endParaRPr lang="es-CO" sz="2400" dirty="0"/>
          </a:p>
        </p:txBody>
      </p:sp>
      <p:sp>
        <p:nvSpPr>
          <p:cNvPr id="14" name="AutoShape 2" descr="Imagen de ">
            <a:extLst>
              <a:ext uri="{FF2B5EF4-FFF2-40B4-BE49-F238E27FC236}">
                <a16:creationId xmlns:a16="http://schemas.microsoft.com/office/drawing/2014/main" id="{A63F4F8C-0141-503D-F5A5-C9A4EBD08DF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2" name="AutoShape 2" descr="Imagen de ">
            <a:extLst>
              <a:ext uri="{FF2B5EF4-FFF2-40B4-BE49-F238E27FC236}">
                <a16:creationId xmlns:a16="http://schemas.microsoft.com/office/drawing/2014/main" id="{13EE3E61-5444-3D1C-8395-7ED4F684B279}"/>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8" name="AutoShape 4" descr="Imagen de ">
            <a:extLst>
              <a:ext uri="{FF2B5EF4-FFF2-40B4-BE49-F238E27FC236}">
                <a16:creationId xmlns:a16="http://schemas.microsoft.com/office/drawing/2014/main" id="{28401077-8104-B8D4-185A-57B6768C70FA}"/>
              </a:ext>
            </a:extLst>
          </p:cNvPr>
          <p:cNvSpPr>
            <a:spLocks noChangeAspect="1" noChangeArrowheads="1"/>
          </p:cNvSpPr>
          <p:nvPr/>
        </p:nvSpPr>
        <p:spPr bwMode="auto">
          <a:xfrm>
            <a:off x="9296400" y="5295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5" name="Imagen 14">
            <a:extLst>
              <a:ext uri="{FF2B5EF4-FFF2-40B4-BE49-F238E27FC236}">
                <a16:creationId xmlns:a16="http://schemas.microsoft.com/office/drawing/2014/main" id="{4DA1B144-EB90-A281-96B2-6E5C76FD4225}"/>
              </a:ext>
            </a:extLst>
          </p:cNvPr>
          <p:cNvPicPr>
            <a:picLocks noChangeAspect="1"/>
          </p:cNvPicPr>
          <p:nvPr/>
        </p:nvPicPr>
        <p:blipFill>
          <a:blip r:embed="rId5"/>
          <a:stretch>
            <a:fillRect/>
          </a:stretch>
        </p:blipFill>
        <p:spPr>
          <a:xfrm>
            <a:off x="4796667" y="2179717"/>
            <a:ext cx="8772525" cy="2552700"/>
          </a:xfrm>
          <a:prstGeom prst="rect">
            <a:avLst/>
          </a:prstGeom>
        </p:spPr>
      </p:pic>
      <p:pic>
        <p:nvPicPr>
          <p:cNvPr id="22" name="Imagen 21">
            <a:extLst>
              <a:ext uri="{FF2B5EF4-FFF2-40B4-BE49-F238E27FC236}">
                <a16:creationId xmlns:a16="http://schemas.microsoft.com/office/drawing/2014/main" id="{EE8C789A-A15D-1954-94E6-2D215824DCE1}"/>
              </a:ext>
            </a:extLst>
          </p:cNvPr>
          <p:cNvPicPr>
            <a:picLocks noChangeAspect="1"/>
          </p:cNvPicPr>
          <p:nvPr/>
        </p:nvPicPr>
        <p:blipFill>
          <a:blip r:embed="rId6"/>
          <a:stretch>
            <a:fillRect/>
          </a:stretch>
        </p:blipFill>
        <p:spPr>
          <a:xfrm>
            <a:off x="5086452" y="6792723"/>
            <a:ext cx="8419895" cy="2491449"/>
          </a:xfrm>
          <a:prstGeom prst="rect">
            <a:avLst/>
          </a:prstGeom>
        </p:spPr>
      </p:pic>
      <p:sp>
        <p:nvSpPr>
          <p:cNvPr id="23" name="Flecha: a la derecha 22">
            <a:extLst>
              <a:ext uri="{FF2B5EF4-FFF2-40B4-BE49-F238E27FC236}">
                <a16:creationId xmlns:a16="http://schemas.microsoft.com/office/drawing/2014/main" id="{B40CD6EE-7650-590B-FCEE-37706FF20E71}"/>
              </a:ext>
            </a:extLst>
          </p:cNvPr>
          <p:cNvSpPr/>
          <p:nvPr/>
        </p:nvSpPr>
        <p:spPr>
          <a:xfrm rot="5400000">
            <a:off x="8397355" y="5222024"/>
            <a:ext cx="1649223" cy="10451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Elipse 23">
            <a:extLst>
              <a:ext uri="{FF2B5EF4-FFF2-40B4-BE49-F238E27FC236}">
                <a16:creationId xmlns:a16="http://schemas.microsoft.com/office/drawing/2014/main" id="{C535663C-ABAA-A0C6-1CC4-86249B9838F2}"/>
              </a:ext>
            </a:extLst>
          </p:cNvPr>
          <p:cNvSpPr/>
          <p:nvPr/>
        </p:nvSpPr>
        <p:spPr>
          <a:xfrm>
            <a:off x="10331778" y="3145428"/>
            <a:ext cx="933253" cy="83384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Elipse 24">
            <a:extLst>
              <a:ext uri="{FF2B5EF4-FFF2-40B4-BE49-F238E27FC236}">
                <a16:creationId xmlns:a16="http://schemas.microsoft.com/office/drawing/2014/main" id="{433FEEB4-1F45-67A3-263B-061ED23AC358}"/>
              </a:ext>
            </a:extLst>
          </p:cNvPr>
          <p:cNvSpPr/>
          <p:nvPr/>
        </p:nvSpPr>
        <p:spPr>
          <a:xfrm>
            <a:off x="6534347" y="7513373"/>
            <a:ext cx="933253" cy="83384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Elipse 25">
            <a:extLst>
              <a:ext uri="{FF2B5EF4-FFF2-40B4-BE49-F238E27FC236}">
                <a16:creationId xmlns:a16="http://schemas.microsoft.com/office/drawing/2014/main" id="{B1CFAB96-53FC-E1B5-E5F6-5D5655E4C759}"/>
              </a:ext>
            </a:extLst>
          </p:cNvPr>
          <p:cNvSpPr/>
          <p:nvPr/>
        </p:nvSpPr>
        <p:spPr>
          <a:xfrm>
            <a:off x="7097596" y="3039145"/>
            <a:ext cx="933253" cy="8338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7" name="Elipse 26">
            <a:extLst>
              <a:ext uri="{FF2B5EF4-FFF2-40B4-BE49-F238E27FC236}">
                <a16:creationId xmlns:a16="http://schemas.microsoft.com/office/drawing/2014/main" id="{C42B8B6A-519E-FE38-F6B3-FC4ACBA7A797}"/>
              </a:ext>
            </a:extLst>
          </p:cNvPr>
          <p:cNvSpPr/>
          <p:nvPr/>
        </p:nvSpPr>
        <p:spPr>
          <a:xfrm>
            <a:off x="11305789" y="7559080"/>
            <a:ext cx="933253" cy="8338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7732950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4450-23DF-7097-5186-7A8C407BB0F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737EE93-B367-52FC-EEEB-77F8479C53C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19372A6-9D2C-CA66-544E-043E71F339F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0A20DDB-97DA-7116-4515-D6CD4AEFE73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59209D7C-FE2F-0613-3ED0-59E9B854A27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CAE82967-D4D2-E3A1-5CD1-B3D2B5BBCDCE}"/>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070AB29-1C46-A049-CD9A-F041A07D25C6}"/>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DD4E6DB-1B88-AFCC-8C6B-A59C3AEAA30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13DC42D9-B20D-A8FD-9FE9-5DF0A885C03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A8C906D4-05FE-2CBA-8D65-E162113F92B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B5773967-C86F-6849-F70A-6B54744141C0}"/>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A6D13E26-96BC-515B-9218-DAFA35FBCD85}"/>
              </a:ext>
            </a:extLst>
          </p:cNvPr>
          <p:cNvSpPr txBox="1"/>
          <p:nvPr/>
        </p:nvSpPr>
        <p:spPr>
          <a:xfrm>
            <a:off x="1699181" y="1444640"/>
            <a:ext cx="10979870" cy="1815882"/>
          </a:xfrm>
          <a:prstGeom prst="rect">
            <a:avLst/>
          </a:prstGeom>
          <a:noFill/>
        </p:spPr>
        <p:txBody>
          <a:bodyPr wrap="square">
            <a:spAutoFit/>
          </a:bodyPr>
          <a:lstStyle/>
          <a:p>
            <a:pPr>
              <a:buNone/>
            </a:pPr>
            <a:r>
              <a:rPr lang="es-ES" sz="2800" b="1" dirty="0"/>
              <a:t>Taller de Diagramación: Construyendo </a:t>
            </a:r>
            <a:r>
              <a:rPr lang="es-ES" sz="2800" b="1" dirty="0" err="1"/>
              <a:t>Olist</a:t>
            </a:r>
            <a:r>
              <a:rPr lang="es-ES" sz="2800" b="1" dirty="0"/>
              <a:t> Paso a Paso</a:t>
            </a:r>
          </a:p>
          <a:p>
            <a:pPr>
              <a:buNone/>
            </a:pPr>
            <a:endParaRPr lang="es-ES" sz="2800" b="1" dirty="0"/>
          </a:p>
          <a:p>
            <a:pPr>
              <a:buNone/>
            </a:pPr>
            <a:endParaRPr lang="es-ES" sz="2800" b="1" dirty="0"/>
          </a:p>
          <a:p>
            <a:pPr>
              <a:buNone/>
            </a:pPr>
            <a:r>
              <a:rPr lang="es-ES" sz="2800" b="1" dirty="0"/>
              <a:t>Usando notación "</a:t>
            </a:r>
            <a:r>
              <a:rPr lang="es-ES" sz="2800" b="1" dirty="0" err="1"/>
              <a:t>Crow's</a:t>
            </a:r>
            <a:r>
              <a:rPr lang="es-ES" sz="2800" b="1" dirty="0"/>
              <a:t> </a:t>
            </a:r>
            <a:r>
              <a:rPr lang="es-ES" sz="2800" b="1" dirty="0" err="1"/>
              <a:t>Foot</a:t>
            </a:r>
            <a:r>
              <a:rPr lang="es-ES" sz="2800" b="1" dirty="0"/>
              <a:t>" (Pata de Gallo)</a:t>
            </a:r>
          </a:p>
        </p:txBody>
      </p:sp>
      <p:pic>
        <p:nvPicPr>
          <p:cNvPr id="15" name="Imagen 14">
            <a:extLst>
              <a:ext uri="{FF2B5EF4-FFF2-40B4-BE49-F238E27FC236}">
                <a16:creationId xmlns:a16="http://schemas.microsoft.com/office/drawing/2014/main" id="{8C8E1D90-AD44-7C42-F883-1635AE89C3A9}"/>
              </a:ext>
            </a:extLst>
          </p:cNvPr>
          <p:cNvPicPr>
            <a:picLocks noChangeAspect="1"/>
          </p:cNvPicPr>
          <p:nvPr/>
        </p:nvPicPr>
        <p:blipFill>
          <a:blip r:embed="rId5"/>
          <a:stretch>
            <a:fillRect/>
          </a:stretch>
        </p:blipFill>
        <p:spPr>
          <a:xfrm>
            <a:off x="1800519" y="4815793"/>
            <a:ext cx="15485720" cy="2338543"/>
          </a:xfrm>
          <a:prstGeom prst="rect">
            <a:avLst/>
          </a:prstGeom>
        </p:spPr>
      </p:pic>
    </p:spTree>
    <p:extLst>
      <p:ext uri="{BB962C8B-B14F-4D97-AF65-F5344CB8AC3E}">
        <p14:creationId xmlns:p14="http://schemas.microsoft.com/office/powerpoint/2010/main" val="4187228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7591A-8508-F656-5FD0-8C80AF7F8C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C91F78-0959-3632-B656-C26D1138FDB3}"/>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CA02E2E-26AA-4CEF-C89E-514E1DFB4770}"/>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FA79B3D-5B72-389C-D24D-106584853B2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8F8A7DA-80EA-9943-C232-B8C0B315E14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C5F98316-58FF-1CA6-2BE2-399234ED9D1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33263CC5-FC35-6A19-53C1-4F70941F54C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A010CE5E-2D89-C45F-33E5-C366891F4EB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A0B4173-F652-CBD1-5035-0418885F9039}"/>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E03C6B8-1345-F8ED-9A4C-3FD237FEDB0E}"/>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FA126F7-5DEC-E216-DC92-C3C78F75CAC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007C8FA2-8CCE-92E4-235A-9C3DA195C52F}"/>
              </a:ext>
            </a:extLst>
          </p:cNvPr>
          <p:cNvSpPr txBox="1"/>
          <p:nvPr/>
        </p:nvSpPr>
        <p:spPr>
          <a:xfrm>
            <a:off x="1963131" y="2671499"/>
            <a:ext cx="6832076" cy="4524315"/>
          </a:xfrm>
          <a:prstGeom prst="rect">
            <a:avLst/>
          </a:prstGeom>
          <a:noFill/>
        </p:spPr>
        <p:txBody>
          <a:bodyPr wrap="square">
            <a:spAutoFit/>
          </a:bodyPr>
          <a:lstStyle/>
          <a:p>
            <a:pPr>
              <a:buNone/>
            </a:pPr>
            <a:r>
              <a:rPr lang="es-ES" sz="3200" b="1" dirty="0"/>
              <a:t>La Primera Conexión (El Cliente)</a:t>
            </a:r>
          </a:p>
          <a:p>
            <a:pPr>
              <a:buNone/>
            </a:pPr>
            <a:endParaRPr lang="es-ES" sz="3200" b="1" dirty="0"/>
          </a:p>
          <a:p>
            <a:pPr>
              <a:buNone/>
            </a:pPr>
            <a:r>
              <a:rPr lang="es-ES" sz="3200" b="1" dirty="0"/>
              <a:t>La Lógica:</a:t>
            </a:r>
            <a:r>
              <a:rPr lang="es-ES" sz="3200" dirty="0"/>
              <a:t> Todo empieza cuando un cliente decide comprar.</a:t>
            </a:r>
          </a:p>
          <a:p>
            <a:pPr>
              <a:buNone/>
            </a:pPr>
            <a:endParaRPr lang="es-ES" sz="3200" dirty="0"/>
          </a:p>
          <a:p>
            <a:pPr marL="457200" indent="-457200">
              <a:buFont typeface="Arial" panose="020B0604020202020204" pitchFamily="34" charset="0"/>
              <a:buChar char="•"/>
            </a:pPr>
            <a:r>
              <a:rPr lang="es-ES" sz="3200" dirty="0"/>
              <a:t>Un Cliente puede hacer </a:t>
            </a:r>
            <a:r>
              <a:rPr lang="es-ES" sz="3200" b="1" dirty="0"/>
              <a:t>muchas</a:t>
            </a:r>
            <a:r>
              <a:rPr lang="es-ES" sz="3200" dirty="0"/>
              <a:t> órdenes (o ninguna).</a:t>
            </a:r>
          </a:p>
          <a:p>
            <a:pPr marL="457200" indent="-457200">
              <a:buFont typeface="Arial" panose="020B0604020202020204" pitchFamily="34" charset="0"/>
              <a:buChar char="•"/>
            </a:pPr>
            <a:r>
              <a:rPr lang="es-ES" sz="3200" dirty="0"/>
              <a:t>Una Orden pertenece obligatoriamente a </a:t>
            </a:r>
            <a:r>
              <a:rPr lang="es-ES" sz="3200" b="1" dirty="0"/>
              <a:t>un</a:t>
            </a:r>
            <a:r>
              <a:rPr lang="es-ES" sz="3200" dirty="0"/>
              <a:t> cliente.</a:t>
            </a:r>
          </a:p>
        </p:txBody>
      </p:sp>
      <p:pic>
        <p:nvPicPr>
          <p:cNvPr id="15" name="Imagen 14">
            <a:extLst>
              <a:ext uri="{FF2B5EF4-FFF2-40B4-BE49-F238E27FC236}">
                <a16:creationId xmlns:a16="http://schemas.microsoft.com/office/drawing/2014/main" id="{91F40918-0051-1EAD-DACB-5DE908257D04}"/>
              </a:ext>
            </a:extLst>
          </p:cNvPr>
          <p:cNvPicPr>
            <a:picLocks noChangeAspect="1"/>
          </p:cNvPicPr>
          <p:nvPr/>
        </p:nvPicPr>
        <p:blipFill>
          <a:blip r:embed="rId5"/>
          <a:stretch>
            <a:fillRect/>
          </a:stretch>
        </p:blipFill>
        <p:spPr>
          <a:xfrm>
            <a:off x="10811147" y="1172510"/>
            <a:ext cx="5715798" cy="7259063"/>
          </a:xfrm>
          <a:prstGeom prst="rect">
            <a:avLst/>
          </a:prstGeom>
        </p:spPr>
      </p:pic>
    </p:spTree>
    <p:extLst>
      <p:ext uri="{BB962C8B-B14F-4D97-AF65-F5344CB8AC3E}">
        <p14:creationId xmlns:p14="http://schemas.microsoft.com/office/powerpoint/2010/main" val="21559143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3BCD8-A7AF-9193-6C45-086F545B839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65F8367-7C83-668B-FB6C-81766BDCC68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0249B44-05BA-CE83-2E6B-C0CFFE1221B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FBD714D2-C10E-009F-D0AB-2AA9BD4F630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37C05BDE-4A4E-F509-786E-51A3B44368A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3F32BAA9-0C27-0A54-E002-467ACCF22F8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76AD561B-FA8C-658E-AABF-7931B37DC9ED}"/>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428978A-7393-0E9C-E2EA-A872ABBE752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BB5A9F6-A52C-E326-E539-E734340EC19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8B79B30-79A4-6646-9FA4-9D8E24D1807A}"/>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9BEE475-590B-650E-B7E0-812214D33658}"/>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A1292CAC-3050-A421-E933-CACCC237D651}"/>
              </a:ext>
            </a:extLst>
          </p:cNvPr>
          <p:cNvSpPr txBox="1"/>
          <p:nvPr/>
        </p:nvSpPr>
        <p:spPr>
          <a:xfrm>
            <a:off x="1234518" y="1268280"/>
            <a:ext cx="9389489" cy="8279190"/>
          </a:xfrm>
          <a:prstGeom prst="rect">
            <a:avLst/>
          </a:prstGeom>
          <a:noFill/>
        </p:spPr>
        <p:txBody>
          <a:bodyPr wrap="square">
            <a:spAutoFit/>
          </a:bodyPr>
          <a:lstStyle/>
          <a:p>
            <a:pPr>
              <a:buNone/>
            </a:pPr>
            <a:r>
              <a:rPr lang="es-ES" sz="2400" b="1" dirty="0"/>
              <a:t>El Conflicto (La Relación Prohibida)</a:t>
            </a:r>
          </a:p>
          <a:p>
            <a:pPr>
              <a:buNone/>
            </a:pPr>
            <a:endParaRPr lang="es-ES" sz="2400" b="1" dirty="0"/>
          </a:p>
          <a:p>
            <a:pPr>
              <a:buNone/>
            </a:pPr>
            <a:r>
              <a:rPr lang="es-ES" sz="2400" b="1" dirty="0"/>
              <a:t>El Problema:</a:t>
            </a:r>
            <a:r>
              <a:rPr lang="es-ES" sz="2400" dirty="0"/>
              <a:t> Queremos conectar </a:t>
            </a:r>
            <a:r>
              <a:rPr lang="es-ES" sz="2400" dirty="0">
                <a:latin typeface="Courier New" panose="02070309020205020404" pitchFamily="49" charset="0"/>
              </a:rPr>
              <a:t>ORDER</a:t>
            </a:r>
            <a:r>
              <a:rPr lang="es-ES" sz="2400" dirty="0"/>
              <a:t> con </a:t>
            </a:r>
            <a:r>
              <a:rPr lang="es-ES" sz="2400" dirty="0">
                <a:latin typeface="Courier New" panose="02070309020205020404" pitchFamily="49" charset="0"/>
              </a:rPr>
              <a:t>PRODUCT</a:t>
            </a:r>
            <a:r>
              <a:rPr lang="es-ES" sz="2400" dirty="0"/>
              <a:t>.</a:t>
            </a:r>
          </a:p>
          <a:p>
            <a:pPr marL="457200" indent="-457200">
              <a:buFont typeface="Arial" panose="020B0604020202020204" pitchFamily="34" charset="0"/>
              <a:buChar char="•"/>
            </a:pPr>
            <a:endParaRPr lang="es-ES" sz="2400" dirty="0"/>
          </a:p>
          <a:p>
            <a:pPr marL="457200" indent="-457200">
              <a:buFont typeface="Arial" panose="020B0604020202020204" pitchFamily="34" charset="0"/>
              <a:buChar char="•"/>
            </a:pPr>
            <a:r>
              <a:rPr lang="es-ES" sz="2400" dirty="0"/>
              <a:t>Una orden tiene muchos productos.</a:t>
            </a:r>
          </a:p>
          <a:p>
            <a:pPr marL="457200" indent="-457200">
              <a:buFont typeface="Arial" panose="020B0604020202020204" pitchFamily="34" charset="0"/>
              <a:buChar char="•"/>
            </a:pPr>
            <a:r>
              <a:rPr lang="es-ES" sz="2400" dirty="0"/>
              <a:t>Un producto está en muchas órdenes.</a:t>
            </a:r>
          </a:p>
          <a:p>
            <a:pPr marL="457200" indent="-457200">
              <a:buFont typeface="Arial" panose="020B0604020202020204" pitchFamily="34" charset="0"/>
              <a:buChar char="•"/>
            </a:pPr>
            <a:endParaRPr lang="es-ES" sz="2400" dirty="0"/>
          </a:p>
          <a:p>
            <a:pPr>
              <a:buNone/>
            </a:pPr>
            <a:r>
              <a:rPr lang="es-ES" sz="2400" b="1" dirty="0"/>
              <a:t>Visualizando el Error:</a:t>
            </a:r>
            <a:r>
              <a:rPr lang="es-ES" sz="2400" dirty="0"/>
              <a:t> Si intentamos dibujar esto directamente, creamos una relación "Muchos a Muchos" (</a:t>
            </a:r>
            <a:r>
              <a:rPr lang="es-ES" sz="2400" dirty="0" err="1">
                <a:latin typeface="Courier New" panose="02070309020205020404" pitchFamily="49" charset="0"/>
              </a:rPr>
              <a:t>Many-to-Many</a:t>
            </a:r>
            <a:r>
              <a:rPr lang="es-ES" sz="2400" dirty="0"/>
              <a:t>), que </a:t>
            </a:r>
            <a:r>
              <a:rPr lang="es-ES" sz="2400" b="1" dirty="0"/>
              <a:t>no</a:t>
            </a:r>
            <a:r>
              <a:rPr lang="es-ES" sz="2400" dirty="0"/>
              <a:t> podemos construir físicamente en la base de datos sin problemas.</a:t>
            </a:r>
          </a:p>
          <a:p>
            <a:pPr>
              <a:buNone/>
            </a:pPr>
            <a:endParaRPr lang="es-ES" sz="2400" dirty="0"/>
          </a:p>
          <a:p>
            <a:pPr>
              <a:buNone/>
            </a:pPr>
            <a:endParaRPr lang="es-ES" sz="2400" dirty="0"/>
          </a:p>
          <a:p>
            <a:r>
              <a:rPr lang="es-ES" sz="2400" b="1" dirty="0"/>
              <a:t>La Solución (La Entidad Asociativa)</a:t>
            </a:r>
          </a:p>
          <a:p>
            <a:endParaRPr lang="es-ES" sz="2400" b="1" dirty="0"/>
          </a:p>
          <a:p>
            <a:r>
              <a:rPr lang="es-ES" sz="2400" b="1" dirty="0"/>
              <a:t>La Lógica:</a:t>
            </a:r>
            <a:r>
              <a:rPr lang="es-ES" sz="2400" dirty="0"/>
              <a:t> Rompemos la relación prohibida creando una tabla intermedia: </a:t>
            </a:r>
            <a:r>
              <a:rPr lang="es-ES" sz="1200" dirty="0"/>
              <a:t>ORDER_ITEMS</a:t>
            </a:r>
            <a:r>
              <a:rPr lang="es-ES" sz="2400" dirty="0"/>
              <a:t>.</a:t>
            </a:r>
          </a:p>
          <a:p>
            <a:r>
              <a:rPr lang="es-ES" sz="2400" dirty="0"/>
              <a:t>Ahora </a:t>
            </a:r>
            <a:r>
              <a:rPr lang="es-ES" sz="1200" dirty="0"/>
              <a:t>ORDER</a:t>
            </a:r>
            <a:r>
              <a:rPr lang="es-ES" sz="2400" dirty="0"/>
              <a:t> se conecta con </a:t>
            </a:r>
            <a:r>
              <a:rPr lang="es-ES" sz="1200" dirty="0"/>
              <a:t>ITEMS</a:t>
            </a:r>
            <a:r>
              <a:rPr lang="es-ES" sz="2400" dirty="0"/>
              <a:t> (1:N).</a:t>
            </a:r>
          </a:p>
          <a:p>
            <a:r>
              <a:rPr lang="es-ES" sz="2400" dirty="0"/>
              <a:t>Y </a:t>
            </a:r>
            <a:r>
              <a:rPr lang="es-ES" sz="1200" dirty="0"/>
              <a:t>PRODUCT</a:t>
            </a:r>
            <a:r>
              <a:rPr lang="es-ES" sz="2400" dirty="0"/>
              <a:t> se conecta con </a:t>
            </a:r>
            <a:r>
              <a:rPr lang="es-ES" sz="1200" dirty="0"/>
              <a:t>ITEMS</a:t>
            </a:r>
            <a:r>
              <a:rPr lang="es-ES" sz="2400" dirty="0"/>
              <a:t> (1:N).</a:t>
            </a:r>
          </a:p>
          <a:p>
            <a:r>
              <a:rPr lang="es-ES" sz="2400" b="1" dirty="0"/>
              <a:t>El resultado:</a:t>
            </a:r>
            <a:r>
              <a:rPr lang="es-ES" sz="2400" dirty="0"/>
              <a:t> </a:t>
            </a:r>
            <a:r>
              <a:rPr lang="es-ES" sz="1200" dirty="0"/>
              <a:t>ORDER_ITEMS</a:t>
            </a:r>
            <a:r>
              <a:rPr lang="es-ES" sz="2400" dirty="0"/>
              <a:t> actúa como el puente que une ambas partes.</a:t>
            </a:r>
          </a:p>
          <a:p>
            <a:pPr>
              <a:buNone/>
            </a:pPr>
            <a:endParaRPr lang="es-ES" sz="2800" dirty="0"/>
          </a:p>
        </p:txBody>
      </p:sp>
      <p:pic>
        <p:nvPicPr>
          <p:cNvPr id="15" name="Imagen 14">
            <a:extLst>
              <a:ext uri="{FF2B5EF4-FFF2-40B4-BE49-F238E27FC236}">
                <a16:creationId xmlns:a16="http://schemas.microsoft.com/office/drawing/2014/main" id="{6B2BB813-339E-196D-E1E7-4D731A3B1645}"/>
              </a:ext>
            </a:extLst>
          </p:cNvPr>
          <p:cNvPicPr>
            <a:picLocks noChangeAspect="1"/>
          </p:cNvPicPr>
          <p:nvPr/>
        </p:nvPicPr>
        <p:blipFill>
          <a:blip r:embed="rId5"/>
          <a:stretch>
            <a:fillRect/>
          </a:stretch>
        </p:blipFill>
        <p:spPr>
          <a:xfrm>
            <a:off x="10934789" y="1428535"/>
            <a:ext cx="7097115" cy="7220958"/>
          </a:xfrm>
          <a:prstGeom prst="rect">
            <a:avLst/>
          </a:prstGeom>
        </p:spPr>
      </p:pic>
    </p:spTree>
    <p:extLst>
      <p:ext uri="{BB962C8B-B14F-4D97-AF65-F5344CB8AC3E}">
        <p14:creationId xmlns:p14="http://schemas.microsoft.com/office/powerpoint/2010/main" val="32131846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1052-ECD8-7551-13F0-B2201103EDF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B30E80F-3BF0-D5F6-708F-FE9D8B42FA5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5DDC247B-8D99-D675-E27F-FB93BCE89B17}"/>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7EA5788-AE2C-460D-ADBE-DEE445E49CDA}"/>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A85CBEB-565E-53EF-F57D-8115D9DBD87B}"/>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BB0876B-18E5-635B-62A9-D853C9D0AC6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448114B7-7A56-7388-4DC5-9416DF21119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166F155-AC71-C614-F678-F7328098F4B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030182E5-1905-BBB8-E8E1-E689DB9BB40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9CD7CF2-3866-BD3A-24B0-49091860CBD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A34FBE18-C403-C764-9AE3-2D7631966C8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F0118837-6A90-774D-C496-6F9D14542E5D}"/>
              </a:ext>
            </a:extLst>
          </p:cNvPr>
          <p:cNvSpPr txBox="1"/>
          <p:nvPr/>
        </p:nvSpPr>
        <p:spPr>
          <a:xfrm>
            <a:off x="1300105" y="484045"/>
            <a:ext cx="14357416" cy="5447645"/>
          </a:xfrm>
          <a:prstGeom prst="rect">
            <a:avLst/>
          </a:prstGeom>
          <a:noFill/>
        </p:spPr>
        <p:txBody>
          <a:bodyPr wrap="square">
            <a:spAutoFit/>
          </a:bodyPr>
          <a:lstStyle/>
          <a:p>
            <a:endParaRPr lang="es-ES" sz="2000" b="1" dirty="0"/>
          </a:p>
          <a:p>
            <a:endParaRPr lang="es-ES" sz="2000" b="1" dirty="0"/>
          </a:p>
          <a:p>
            <a:pPr marL="514350" indent="-514350">
              <a:buAutoNum type="arabicPeriod"/>
            </a:pPr>
            <a:r>
              <a:rPr lang="es-ES" sz="2800" b="1" dirty="0"/>
              <a:t>El Problema Lógico (¿Por qué falla sin el puente?)</a:t>
            </a:r>
          </a:p>
          <a:p>
            <a:endParaRPr lang="es-ES" sz="2800" b="1" dirty="0"/>
          </a:p>
          <a:p>
            <a:endParaRPr lang="es-ES" sz="2800" dirty="0"/>
          </a:p>
          <a:p>
            <a:r>
              <a:rPr lang="es-ES" sz="2800" dirty="0"/>
              <a:t>Una orden puede contener </a:t>
            </a:r>
            <a:r>
              <a:rPr lang="es-ES" sz="2800" b="1" dirty="0"/>
              <a:t>muchos</a:t>
            </a:r>
            <a:r>
              <a:rPr lang="es-ES" sz="2800" dirty="0"/>
              <a:t> productos (un carrito de compras lleno).</a:t>
            </a:r>
          </a:p>
          <a:p>
            <a:r>
              <a:rPr lang="es-ES" sz="2800" dirty="0"/>
              <a:t>Un producto (ej. un iPhone 15) puede estar en </a:t>
            </a:r>
            <a:r>
              <a:rPr lang="es-ES" sz="2800" b="1" dirty="0"/>
              <a:t>muchas</a:t>
            </a:r>
            <a:r>
              <a:rPr lang="es-ES" sz="2800" dirty="0"/>
              <a:t> órdenes diferentes.</a:t>
            </a:r>
          </a:p>
          <a:p>
            <a:r>
              <a:rPr lang="es-ES" sz="2800" dirty="0"/>
              <a:t>Si intentas conectar esto directamente sin una tabla puente, te enfrentas a los mismos dos callejones sin salida:</a:t>
            </a:r>
          </a:p>
          <a:p>
            <a:endParaRPr lang="es-ES" sz="2800" dirty="0"/>
          </a:p>
          <a:p>
            <a:r>
              <a:rPr lang="es-ES" sz="2800" b="1" dirty="0"/>
              <a:t>Escenario A: Violar la "Atomicidad" (1ª Forma Normal)</a:t>
            </a:r>
            <a:r>
              <a:rPr lang="es-ES" sz="2800" dirty="0"/>
              <a:t> Intentas guardar la lista de productos comprados dentro de una sola celda en la orden.</a:t>
            </a:r>
          </a:p>
          <a:p>
            <a:pPr>
              <a:buNone/>
            </a:pPr>
            <a:endParaRPr lang="es-ES" sz="2800" dirty="0"/>
          </a:p>
        </p:txBody>
      </p:sp>
      <p:graphicFrame>
        <p:nvGraphicFramePr>
          <p:cNvPr id="12" name="Tabla 11">
            <a:extLst>
              <a:ext uri="{FF2B5EF4-FFF2-40B4-BE49-F238E27FC236}">
                <a16:creationId xmlns:a16="http://schemas.microsoft.com/office/drawing/2014/main" id="{FC22E6EA-ADAE-A547-8A5B-314131788004}"/>
              </a:ext>
            </a:extLst>
          </p:cNvPr>
          <p:cNvGraphicFramePr>
            <a:graphicFrameLocks noGrp="1"/>
          </p:cNvGraphicFramePr>
          <p:nvPr>
            <p:extLst>
              <p:ext uri="{D42A27DB-BD31-4B8C-83A1-F6EECF244321}">
                <p14:modId xmlns:p14="http://schemas.microsoft.com/office/powerpoint/2010/main" val="3422371113"/>
              </p:ext>
            </p:extLst>
          </p:nvPr>
        </p:nvGraphicFramePr>
        <p:xfrm>
          <a:off x="4897224" y="8979995"/>
          <a:ext cx="8229600" cy="822960"/>
        </p:xfrm>
        <a:graphic>
          <a:graphicData uri="http://schemas.openxmlformats.org/drawingml/2006/table">
            <a:tbl>
              <a:tblPr/>
              <a:tblGrid>
                <a:gridCol w="2743200">
                  <a:extLst>
                    <a:ext uri="{9D8B030D-6E8A-4147-A177-3AD203B41FA5}">
                      <a16:colId xmlns:a16="http://schemas.microsoft.com/office/drawing/2014/main" val="1258141466"/>
                    </a:ext>
                  </a:extLst>
                </a:gridCol>
                <a:gridCol w="2743200">
                  <a:extLst>
                    <a:ext uri="{9D8B030D-6E8A-4147-A177-3AD203B41FA5}">
                      <a16:colId xmlns:a16="http://schemas.microsoft.com/office/drawing/2014/main" val="3137921878"/>
                    </a:ext>
                  </a:extLst>
                </a:gridCol>
                <a:gridCol w="2743200">
                  <a:extLst>
                    <a:ext uri="{9D8B030D-6E8A-4147-A177-3AD203B41FA5}">
                      <a16:colId xmlns:a16="http://schemas.microsoft.com/office/drawing/2014/main" val="3186341004"/>
                    </a:ext>
                  </a:extLst>
                </a:gridCol>
              </a:tblGrid>
              <a:tr h="0">
                <a:tc>
                  <a:txBody>
                    <a:bodyPr/>
                    <a:lstStyle/>
                    <a:p>
                      <a:pPr>
                        <a:buNone/>
                      </a:pPr>
                      <a:r>
                        <a:rPr lang="es-CO" b="1" dirty="0">
                          <a:effectLst/>
                          <a:latin typeface="Google Sans Text"/>
                        </a:rPr>
                        <a:t>ID Orden</a:t>
                      </a:r>
                      <a:endParaRPr lang="es-CO"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b="1" dirty="0">
                          <a:effectLst/>
                          <a:latin typeface="Google Sans Text"/>
                        </a:rPr>
                        <a:t>Cliente</a:t>
                      </a:r>
                      <a:endParaRPr lang="es-CO"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b="1">
                          <a:effectLst/>
                          <a:latin typeface="Google Sans Text"/>
                        </a:rPr>
                        <a:t>Productos Comprados</a:t>
                      </a:r>
                      <a:endParaRPr lang="es-CO">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6565326"/>
                  </a:ext>
                </a:extLst>
              </a:tr>
              <a:tr h="0">
                <a:tc>
                  <a:txBody>
                    <a:bodyPr/>
                    <a:lstStyle/>
                    <a:p>
                      <a:pPr>
                        <a:buNone/>
                      </a:pPr>
                      <a:r>
                        <a:rPr lang="es-CO" dirty="0">
                          <a:effectLst/>
                          <a:latin typeface="Google Sans Text"/>
                        </a:rPr>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dirty="0">
                          <a:effectLst/>
                          <a:latin typeface="Google Sans Text"/>
                        </a:rPr>
                        <a:t>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dirty="0">
                          <a:effectLst/>
                          <a:latin typeface="Google Sans Text"/>
                        </a:rPr>
                        <a:t>"Laptop, Mouse, Funda Protectora"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9349810"/>
                  </a:ext>
                </a:extLst>
              </a:tr>
            </a:tbl>
          </a:graphicData>
        </a:graphic>
      </p:graphicFrame>
      <p:sp>
        <p:nvSpPr>
          <p:cNvPr id="14" name="Rectangle 1">
            <a:extLst>
              <a:ext uri="{FF2B5EF4-FFF2-40B4-BE49-F238E27FC236}">
                <a16:creationId xmlns:a16="http://schemas.microsoft.com/office/drawing/2014/main" id="{166E9A41-2F84-AE01-5CDF-6575D1DF90C3}"/>
              </a:ext>
            </a:extLst>
          </p:cNvPr>
          <p:cNvSpPr>
            <a:spLocks noChangeArrowheads="1"/>
          </p:cNvSpPr>
          <p:nvPr/>
        </p:nvSpPr>
        <p:spPr bwMode="auto">
          <a:xfrm>
            <a:off x="1300105" y="5595042"/>
            <a:ext cx="1125089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800" b="1" i="0" u="none" strike="noStrike" cap="none" normalizeH="0" baseline="0" dirty="0">
                <a:ln>
                  <a:noFill/>
                </a:ln>
                <a:solidFill>
                  <a:schemeClr val="tx1"/>
                </a:solidFill>
                <a:effectLst/>
                <a:latin typeface="Google Sans Text"/>
              </a:rPr>
              <a:t>Tabla Órdenes:</a:t>
            </a:r>
            <a:endParaRPr kumimoji="0" lang="es-CO" altLang="es-CO"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800" b="1" i="0" u="none" strike="noStrike" cap="none" normalizeH="0" baseline="0" dirty="0">
                <a:ln>
                  <a:noFill/>
                </a:ln>
                <a:solidFill>
                  <a:schemeClr val="tx1"/>
                </a:solidFill>
                <a:effectLst/>
                <a:latin typeface="Google Sans Text"/>
              </a:rPr>
              <a:t>¿Por qué está mal?</a:t>
            </a:r>
            <a:r>
              <a:rPr kumimoji="0" lang="es-CO" altLang="es-CO" sz="2800" b="0" i="0" u="none" strike="noStrike" cap="none" normalizeH="0" baseline="0" dirty="0">
                <a:ln>
                  <a:noFill/>
                </a:ln>
                <a:solidFill>
                  <a:schemeClr val="tx1"/>
                </a:solidFill>
                <a:effectLst/>
                <a:latin typeface="Google Sans Text"/>
              </a:rPr>
              <a:t> SQL no sabe "leer" dentro de esa cadena de texto separada por comas.</a:t>
            </a:r>
            <a:endParaRPr kumimoji="0" lang="es-CO" altLang="es-CO"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800" b="0" i="0" u="none" strike="noStrike" cap="none" normalizeH="0" baseline="0" dirty="0">
                <a:ln>
                  <a:noFill/>
                </a:ln>
                <a:solidFill>
                  <a:schemeClr val="tx1"/>
                </a:solidFill>
                <a:effectLst/>
                <a:latin typeface="Google Sans Text"/>
              </a:rPr>
              <a:t>No puedes calcular el total de ventas del "Mouse" fácilmente.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800" b="0" i="0" u="none" strike="noStrike" cap="none" normalizeH="0" baseline="0" dirty="0">
                <a:ln>
                  <a:noFill/>
                </a:ln>
                <a:solidFill>
                  <a:schemeClr val="tx1"/>
                </a:solidFill>
                <a:effectLst/>
                <a:latin typeface="Google Sans Text"/>
              </a:rPr>
              <a:t>No puedes restar stock automáticamente porque la base de datos no sabe qué </a:t>
            </a:r>
            <a:r>
              <a:rPr kumimoji="0" lang="es-CO" altLang="es-CO" sz="2800" b="0" i="0" u="none" strike="noStrike" cap="none" normalizeH="0" baseline="0" dirty="0" err="1">
                <a:ln>
                  <a:noFill/>
                </a:ln>
                <a:solidFill>
                  <a:schemeClr val="tx1"/>
                </a:solidFill>
                <a:effectLst/>
                <a:latin typeface="Google Sans Text"/>
              </a:rPr>
              <a:t>IDs</a:t>
            </a:r>
            <a:r>
              <a:rPr kumimoji="0" lang="es-CO" altLang="es-CO" sz="2800" b="0" i="0" u="none" strike="noStrike" cap="none" normalizeH="0" baseline="0" dirty="0">
                <a:ln>
                  <a:noFill/>
                </a:ln>
                <a:solidFill>
                  <a:schemeClr val="tx1"/>
                </a:solidFill>
                <a:effectLst/>
                <a:latin typeface="Google Sans Text"/>
              </a:rPr>
              <a:t> de productos están ahí dentro.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7786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3E210-824A-07CF-49B5-1DA655F8F4D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98A032-814F-A475-759F-AD56218B989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B332DE3-A693-19C7-0B2D-0A29F4F53DA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DC2CDFA5-0DA6-73BF-49E1-F1E45DE7EF5B}"/>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D243F10B-5A63-4370-1BDF-3C091EB0DB1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1AE395D-114F-FA5A-393E-FE548896C51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4328C5B-661E-4BA7-6D29-BD4F73F956D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C4405B1A-53A0-1598-1B56-2358FA4EB21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7A04C9ED-6196-B4E9-5D9E-FDA592263BF2}"/>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1026B8C0-E15F-C042-8B38-FD7416E51F4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ECCA9AF-FCE2-BE88-7302-2BF6F59F929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EF5BDC5A-82CD-C623-8AFA-8AD842E78849}"/>
              </a:ext>
            </a:extLst>
          </p:cNvPr>
          <p:cNvSpPr txBox="1"/>
          <p:nvPr/>
        </p:nvSpPr>
        <p:spPr>
          <a:xfrm>
            <a:off x="1300105" y="484045"/>
            <a:ext cx="14357416" cy="2431435"/>
          </a:xfrm>
          <a:prstGeom prst="rect">
            <a:avLst/>
          </a:prstGeom>
          <a:noFill/>
        </p:spPr>
        <p:txBody>
          <a:bodyPr wrap="square">
            <a:spAutoFit/>
          </a:bodyPr>
          <a:lstStyle/>
          <a:p>
            <a:endParaRPr lang="es-ES" sz="2000" b="1" dirty="0"/>
          </a:p>
          <a:p>
            <a:endParaRPr lang="es-ES" sz="2000" b="1" dirty="0"/>
          </a:p>
          <a:p>
            <a:pPr marL="514350" indent="-514350">
              <a:buAutoNum type="arabicPeriod"/>
            </a:pPr>
            <a:r>
              <a:rPr lang="es-ES" sz="2800" b="1" dirty="0"/>
              <a:t>El Problema Lógico (¿Por qué falla sin el puente?)</a:t>
            </a:r>
          </a:p>
          <a:p>
            <a:endParaRPr lang="es-ES" sz="2800" b="1" dirty="0"/>
          </a:p>
          <a:p>
            <a:endParaRPr lang="es-ES" sz="2800" dirty="0"/>
          </a:p>
          <a:p>
            <a:pPr>
              <a:buNone/>
            </a:pPr>
            <a:endParaRPr lang="es-ES" sz="2800" dirty="0"/>
          </a:p>
        </p:txBody>
      </p:sp>
      <p:graphicFrame>
        <p:nvGraphicFramePr>
          <p:cNvPr id="15" name="Tabla 14">
            <a:extLst>
              <a:ext uri="{FF2B5EF4-FFF2-40B4-BE49-F238E27FC236}">
                <a16:creationId xmlns:a16="http://schemas.microsoft.com/office/drawing/2014/main" id="{24179DEA-0B61-9FFD-2E22-D0205EA55EA8}"/>
              </a:ext>
            </a:extLst>
          </p:cNvPr>
          <p:cNvGraphicFramePr>
            <a:graphicFrameLocks noGrp="1"/>
          </p:cNvGraphicFramePr>
          <p:nvPr>
            <p:extLst>
              <p:ext uri="{D42A27DB-BD31-4B8C-83A1-F6EECF244321}">
                <p14:modId xmlns:p14="http://schemas.microsoft.com/office/powerpoint/2010/main" val="3700879190"/>
              </p:ext>
            </p:extLst>
          </p:nvPr>
        </p:nvGraphicFramePr>
        <p:xfrm>
          <a:off x="4831238" y="4875285"/>
          <a:ext cx="8229600" cy="1828800"/>
        </p:xfrm>
        <a:graphic>
          <a:graphicData uri="http://schemas.openxmlformats.org/drawingml/2006/table">
            <a:tbl>
              <a:tblPr/>
              <a:tblGrid>
                <a:gridCol w="2057400">
                  <a:extLst>
                    <a:ext uri="{9D8B030D-6E8A-4147-A177-3AD203B41FA5}">
                      <a16:colId xmlns:a16="http://schemas.microsoft.com/office/drawing/2014/main" val="1722303948"/>
                    </a:ext>
                  </a:extLst>
                </a:gridCol>
                <a:gridCol w="2057400">
                  <a:extLst>
                    <a:ext uri="{9D8B030D-6E8A-4147-A177-3AD203B41FA5}">
                      <a16:colId xmlns:a16="http://schemas.microsoft.com/office/drawing/2014/main" val="1247377529"/>
                    </a:ext>
                  </a:extLst>
                </a:gridCol>
                <a:gridCol w="2057400">
                  <a:extLst>
                    <a:ext uri="{9D8B030D-6E8A-4147-A177-3AD203B41FA5}">
                      <a16:colId xmlns:a16="http://schemas.microsoft.com/office/drawing/2014/main" val="3669336608"/>
                    </a:ext>
                  </a:extLst>
                </a:gridCol>
                <a:gridCol w="2057400">
                  <a:extLst>
                    <a:ext uri="{9D8B030D-6E8A-4147-A177-3AD203B41FA5}">
                      <a16:colId xmlns:a16="http://schemas.microsoft.com/office/drawing/2014/main" val="3432900802"/>
                    </a:ext>
                  </a:extLst>
                </a:gridCol>
              </a:tblGrid>
              <a:tr h="0">
                <a:tc>
                  <a:txBody>
                    <a:bodyPr/>
                    <a:lstStyle/>
                    <a:p>
                      <a:pPr>
                        <a:buNone/>
                      </a:pPr>
                      <a:r>
                        <a:rPr lang="es-CO" sz="2400" b="1" dirty="0">
                          <a:effectLst/>
                          <a:latin typeface="Google Sans Text"/>
                        </a:rPr>
                        <a:t>ID Orden</a:t>
                      </a:r>
                      <a:endParaRPr lang="es-CO" sz="24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b="1">
                          <a:effectLst/>
                          <a:latin typeface="Google Sans Text"/>
                        </a:rPr>
                        <a:t>Fecha</a:t>
                      </a:r>
                      <a:endParaRPr lang="es-CO" sz="2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b="1">
                          <a:effectLst/>
                          <a:latin typeface="Google Sans Text"/>
                        </a:rPr>
                        <a:t>Cliente</a:t>
                      </a:r>
                      <a:endParaRPr lang="es-CO" sz="2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b="1">
                          <a:effectLst/>
                          <a:latin typeface="Google Sans Text"/>
                        </a:rPr>
                        <a:t>Producto</a:t>
                      </a:r>
                      <a:endParaRPr lang="es-CO" sz="2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9358537"/>
                  </a:ext>
                </a:extLst>
              </a:tr>
              <a:tr h="0">
                <a:tc>
                  <a:txBody>
                    <a:bodyPr/>
                    <a:lstStyle/>
                    <a:p>
                      <a:pPr>
                        <a:buNone/>
                      </a:pPr>
                      <a:r>
                        <a:rPr lang="es-CO" sz="2400" dirty="0">
                          <a:effectLst/>
                          <a:latin typeface="Google Sans Text"/>
                        </a:rPr>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01-Dic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Laptop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4766827"/>
                  </a:ext>
                </a:extLst>
              </a:tr>
              <a:tr h="0">
                <a:tc>
                  <a:txBody>
                    <a:bodyPr/>
                    <a:lstStyle/>
                    <a:p>
                      <a:pPr>
                        <a:buNone/>
                      </a:pPr>
                      <a:r>
                        <a:rPr lang="es-CO" sz="2400">
                          <a:effectLst/>
                          <a:latin typeface="Google Sans Text"/>
                        </a:rPr>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effectLst/>
                          <a:latin typeface="Google Sans Text"/>
                        </a:rPr>
                        <a:t>01-Dic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Mouse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3137128"/>
                  </a:ext>
                </a:extLst>
              </a:tr>
              <a:tr h="0">
                <a:tc>
                  <a:txBody>
                    <a:bodyPr/>
                    <a:lstStyle/>
                    <a:p>
                      <a:pPr>
                        <a:buNone/>
                      </a:pPr>
                      <a:r>
                        <a:rPr lang="es-CO" sz="2400">
                          <a:effectLst/>
                          <a:latin typeface="Google Sans Text"/>
                        </a:rPr>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effectLst/>
                          <a:latin typeface="Google Sans Text"/>
                        </a:rPr>
                        <a:t>01-Dic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effectLst/>
                          <a:latin typeface="Google Sans Text"/>
                        </a:rPr>
                        <a:t>Funda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0636779"/>
                  </a:ext>
                </a:extLst>
              </a:tr>
            </a:tbl>
          </a:graphicData>
        </a:graphic>
      </p:graphicFrame>
      <p:sp>
        <p:nvSpPr>
          <p:cNvPr id="16" name="Rectangle 1">
            <a:extLst>
              <a:ext uri="{FF2B5EF4-FFF2-40B4-BE49-F238E27FC236}">
                <a16:creationId xmlns:a16="http://schemas.microsoft.com/office/drawing/2014/main" id="{5A0D9206-2064-82B3-C797-9C92815483C7}"/>
              </a:ext>
            </a:extLst>
          </p:cNvPr>
          <p:cNvSpPr>
            <a:spLocks noChangeArrowheads="1"/>
          </p:cNvSpPr>
          <p:nvPr/>
        </p:nvSpPr>
        <p:spPr bwMode="auto">
          <a:xfrm>
            <a:off x="1300105" y="2723027"/>
            <a:ext cx="16081646"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4000" b="0" i="0" u="none" strike="noStrike" cap="none" normalizeH="0" baseline="0" dirty="0">
                <a:ln>
                  <a:noFill/>
                </a:ln>
                <a:solidFill>
                  <a:schemeClr val="tx1"/>
                </a:solidFill>
                <a:effectLst/>
                <a:latin typeface="Google Sans Text"/>
              </a:rPr>
              <a:t>Escenario B: Duplicar Datos (Redundancia)</a:t>
            </a:r>
            <a:endParaRPr kumimoji="0" lang="es-CO" altLang="es-CO" sz="4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4000" b="0" i="0" u="none" strike="noStrike" cap="none" normalizeH="0" baseline="0" dirty="0">
                <a:ln>
                  <a:noFill/>
                </a:ln>
                <a:solidFill>
                  <a:schemeClr val="tx1"/>
                </a:solidFill>
                <a:effectLst/>
                <a:latin typeface="Google Sans Text"/>
              </a:rPr>
              <a:t>Intentas repetir la orden completa por cada producto que el cliente compró.</a:t>
            </a:r>
            <a:endParaRPr kumimoji="0" lang="es-CO" altLang="es-CO" sz="4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4000" b="1" i="0" u="none" strike="noStrike" cap="none" normalizeH="0" baseline="0" dirty="0">
                <a:ln>
                  <a:noFill/>
                </a:ln>
                <a:solidFill>
                  <a:schemeClr val="tx1"/>
                </a:solidFill>
                <a:effectLst/>
                <a:latin typeface="Google Sans Text"/>
              </a:rPr>
              <a:t>Tabla Órdenes:</a:t>
            </a:r>
            <a:endParaRPr kumimoji="0" lang="es-CO" altLang="es-CO" sz="4000" b="0" i="0" u="none" strike="noStrike" cap="none" normalizeH="0" baseline="0" dirty="0">
              <a:ln>
                <a:noFill/>
              </a:ln>
              <a:solidFill>
                <a:schemeClr val="tx1"/>
              </a:solidFill>
              <a:effectLst/>
              <a:latin typeface="Arial" panose="020B0604020202020204" pitchFamily="34" charset="0"/>
            </a:endParaRPr>
          </a:p>
        </p:txBody>
      </p:sp>
      <p:sp>
        <p:nvSpPr>
          <p:cNvPr id="18" name="CuadroTexto 17">
            <a:extLst>
              <a:ext uri="{FF2B5EF4-FFF2-40B4-BE49-F238E27FC236}">
                <a16:creationId xmlns:a16="http://schemas.microsoft.com/office/drawing/2014/main" id="{59F60C17-BF5E-E4B6-BE70-0D6F192EDC03}"/>
              </a:ext>
            </a:extLst>
          </p:cNvPr>
          <p:cNvSpPr txBox="1"/>
          <p:nvPr/>
        </p:nvSpPr>
        <p:spPr>
          <a:xfrm>
            <a:off x="1200485" y="7697588"/>
            <a:ext cx="16280885" cy="1815882"/>
          </a:xfrm>
          <a:prstGeom prst="rect">
            <a:avLst/>
          </a:prstGeom>
          <a:noFill/>
        </p:spPr>
        <p:txBody>
          <a:bodyPr wrap="square">
            <a:spAutoFit/>
          </a:bodyPr>
          <a:lstStyle/>
          <a:p>
            <a:pPr>
              <a:buNone/>
            </a:pPr>
            <a:r>
              <a:rPr lang="es-ES" sz="2800" b="1" dirty="0"/>
              <a:t>¿Por qué está mal?</a:t>
            </a:r>
            <a:r>
              <a:rPr lang="es-ES" sz="2800" dirty="0"/>
              <a:t> Estás repitiendo la fecha y el cliente tres veces.</a:t>
            </a:r>
          </a:p>
          <a:p>
            <a:pPr>
              <a:buFont typeface="Arial" panose="020B0604020202020204" pitchFamily="34" charset="0"/>
              <a:buChar char="•"/>
            </a:pPr>
            <a:r>
              <a:rPr lang="es-ES" sz="2800" dirty="0"/>
              <a:t>Si María cambia su dirección de envío, tendrías que actualizar 3 filas (o 50, si compró 50 cosas).</a:t>
            </a:r>
          </a:p>
          <a:p>
            <a:pPr>
              <a:buFont typeface="Arial" panose="020B0604020202020204" pitchFamily="34" charset="0"/>
              <a:buChar char="•"/>
            </a:pPr>
            <a:r>
              <a:rPr lang="es-ES" sz="2800" dirty="0"/>
              <a:t>Si borras el producto "Mouse", podrías borrar accidentalmente el registro de que la orden 1001 existió</a:t>
            </a:r>
            <a:r>
              <a:rPr lang="es-ES" sz="2000" dirty="0"/>
              <a:t>.</a:t>
            </a:r>
          </a:p>
        </p:txBody>
      </p:sp>
    </p:spTree>
    <p:extLst>
      <p:ext uri="{BB962C8B-B14F-4D97-AF65-F5344CB8AC3E}">
        <p14:creationId xmlns:p14="http://schemas.microsoft.com/office/powerpoint/2010/main" val="26990230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CD0D6-B770-801B-DB82-C32EA02AEDB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F53E4EE-6501-2FBD-5677-4F2E0646923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67A598D-1002-356B-6104-82FB253487E1}"/>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F59D75DC-2679-D8E5-0E38-6E391773A4E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34C39F7-F681-D4EB-98EC-3326C039CAC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F3EE8DB6-0E0E-7FD2-3227-48DC861FF3B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0DF0064E-46AA-B100-34A7-0340CF558B9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FC2F028-FE07-8EF3-A046-7EAE9E207B2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7E43740E-A3BE-B8B5-C1A8-B4FAE11B266E}"/>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BB4C6D5-8371-8EF9-FCC6-50D770C1FFF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C8541E89-2453-9A31-8F1D-E5C816B31AA9}"/>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6" name="CuadroTexto 15">
            <a:extLst>
              <a:ext uri="{FF2B5EF4-FFF2-40B4-BE49-F238E27FC236}">
                <a16:creationId xmlns:a16="http://schemas.microsoft.com/office/drawing/2014/main" id="{1F3FAC2E-42E6-306D-0647-08CFE3907CF4}"/>
              </a:ext>
            </a:extLst>
          </p:cNvPr>
          <p:cNvSpPr txBox="1"/>
          <p:nvPr/>
        </p:nvSpPr>
        <p:spPr>
          <a:xfrm>
            <a:off x="1538925" y="1172510"/>
            <a:ext cx="14590336" cy="7478970"/>
          </a:xfrm>
          <a:prstGeom prst="rect">
            <a:avLst/>
          </a:prstGeom>
          <a:noFill/>
        </p:spPr>
        <p:txBody>
          <a:bodyPr wrap="square">
            <a:spAutoFit/>
          </a:bodyPr>
          <a:lstStyle/>
          <a:p>
            <a:pPr>
              <a:buNone/>
            </a:pPr>
            <a:r>
              <a:rPr lang="es-ES" sz="3200" b="1" dirty="0"/>
              <a:t>2. La Solución: La Tabla Puente (Detalle de Orden)</a:t>
            </a:r>
          </a:p>
          <a:p>
            <a:pPr>
              <a:buNone/>
            </a:pPr>
            <a:endParaRPr lang="es-ES" sz="3200" b="1" dirty="0"/>
          </a:p>
          <a:p>
            <a:pPr>
              <a:buNone/>
            </a:pPr>
            <a:r>
              <a:rPr lang="es-ES" sz="3200" dirty="0"/>
              <a:t>La tabla puente resuelve esto descomponiendo la relación Muchos a Muchos (M:N) en dos relaciones Uno a Muchos (1:N). En el mundo de las ventas, esta tabla suele llamarse </a:t>
            </a:r>
            <a:r>
              <a:rPr lang="es-ES" sz="3200" b="1" dirty="0" err="1"/>
              <a:t>Detalles_Orden</a:t>
            </a:r>
            <a:r>
              <a:rPr lang="es-ES" sz="3200" dirty="0"/>
              <a:t> o </a:t>
            </a:r>
            <a:r>
              <a:rPr lang="es-ES" sz="3200" b="1" dirty="0" err="1"/>
              <a:t>Lineas_Orden</a:t>
            </a:r>
            <a:r>
              <a:rPr lang="es-ES" sz="3200" dirty="0"/>
              <a:t>.</a:t>
            </a:r>
          </a:p>
          <a:p>
            <a:pPr>
              <a:buNone/>
            </a:pPr>
            <a:endParaRPr lang="es-ES" sz="3200" dirty="0"/>
          </a:p>
          <a:p>
            <a:pPr>
              <a:buNone/>
            </a:pPr>
            <a:r>
              <a:rPr lang="es-ES" sz="3200" b="1" dirty="0"/>
              <a:t>Estructura:</a:t>
            </a:r>
          </a:p>
          <a:p>
            <a:pPr>
              <a:buNone/>
            </a:pPr>
            <a:endParaRPr lang="es-ES" sz="3200" dirty="0"/>
          </a:p>
          <a:p>
            <a:pPr marL="514350" indent="-514350">
              <a:buFont typeface="+mj-lt"/>
              <a:buAutoNum type="arabicPeriod"/>
            </a:pPr>
            <a:r>
              <a:rPr lang="es-ES" sz="3200" b="1" dirty="0"/>
              <a:t>Tabla A (Órdenes):</a:t>
            </a:r>
            <a:r>
              <a:rPr lang="es-ES" sz="3200" dirty="0"/>
              <a:t> Solo datos generales (Fecha, Cliente, Dirección, Total).</a:t>
            </a:r>
          </a:p>
          <a:p>
            <a:pPr marL="514350" indent="-514350">
              <a:buFont typeface="+mj-lt"/>
              <a:buAutoNum type="arabicPeriod"/>
            </a:pPr>
            <a:r>
              <a:rPr lang="es-ES" sz="3200" b="1" dirty="0"/>
              <a:t>Tabla B (Productos):</a:t>
            </a:r>
            <a:r>
              <a:rPr lang="es-ES" sz="3200" dirty="0"/>
              <a:t> Solo catálogo (Nombre, Descripción, Stock actual).</a:t>
            </a:r>
          </a:p>
          <a:p>
            <a:pPr marL="514350" indent="-514350">
              <a:buFont typeface="+mj-lt"/>
              <a:buAutoNum type="arabicPeriod"/>
            </a:pPr>
            <a:r>
              <a:rPr lang="es-ES" sz="3200" b="1" dirty="0"/>
              <a:t>Tabla Puente (</a:t>
            </a:r>
            <a:r>
              <a:rPr lang="es-ES" sz="3200" b="1" dirty="0" err="1"/>
              <a:t>Detalles_Orden</a:t>
            </a:r>
            <a:r>
              <a:rPr lang="es-ES" sz="3200" b="1" dirty="0"/>
              <a:t>):</a:t>
            </a:r>
            <a:r>
              <a:rPr lang="es-ES" sz="3200" dirty="0"/>
              <a:t> Solo conecta la Orden con el Producto.</a:t>
            </a:r>
          </a:p>
          <a:p>
            <a:pPr marL="514350" indent="-514350">
              <a:buFont typeface="+mj-lt"/>
              <a:buAutoNum type="arabicPeriod"/>
            </a:pPr>
            <a:endParaRPr lang="es-ES" sz="3200" dirty="0"/>
          </a:p>
          <a:p>
            <a:r>
              <a:rPr lang="es-ES" sz="3200" b="1" dirty="0"/>
              <a:t>Cómo se ve visualmente:</a:t>
            </a:r>
          </a:p>
          <a:p>
            <a:pPr>
              <a:buNone/>
            </a:pPr>
            <a:endParaRPr lang="es-ES" sz="3200" dirty="0"/>
          </a:p>
          <a:p>
            <a:pPr>
              <a:buNone/>
            </a:pPr>
            <a:r>
              <a:rPr lang="es-ES" sz="3200" dirty="0"/>
              <a:t>Órdenes </a:t>
            </a:r>
            <a:r>
              <a:rPr lang="es-ES" sz="3200" dirty="0">
                <a:latin typeface="Courier New" panose="02070309020205020404" pitchFamily="49" charset="0"/>
              </a:rPr>
              <a:t>1</a:t>
            </a:r>
            <a:r>
              <a:rPr lang="es-ES" sz="3200" dirty="0"/>
              <a:t> ----&lt; </a:t>
            </a:r>
            <a:r>
              <a:rPr lang="es-ES" sz="3200" dirty="0" err="1">
                <a:latin typeface="Courier New" panose="02070309020205020404" pitchFamily="49" charset="0"/>
              </a:rPr>
              <a:t>Detalles_Orden</a:t>
            </a:r>
            <a:r>
              <a:rPr lang="es-ES" sz="3200" dirty="0"/>
              <a:t> &gt;---- </a:t>
            </a:r>
            <a:r>
              <a:rPr lang="es-ES" sz="3200" dirty="0">
                <a:latin typeface="Courier New" panose="02070309020205020404" pitchFamily="49" charset="0"/>
              </a:rPr>
              <a:t>1</a:t>
            </a:r>
            <a:r>
              <a:rPr lang="es-ES" sz="3200" dirty="0"/>
              <a:t> Productos</a:t>
            </a:r>
          </a:p>
        </p:txBody>
      </p:sp>
    </p:spTree>
    <p:extLst>
      <p:ext uri="{BB962C8B-B14F-4D97-AF65-F5344CB8AC3E}">
        <p14:creationId xmlns:p14="http://schemas.microsoft.com/office/powerpoint/2010/main" val="16536885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32837-93F7-B441-D38B-8ACD963A60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0CEE95E-F1B6-6B07-77A4-EA31D6AB74B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4F35248-8F22-E3DC-B83E-22787304085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0BA0C141-AEDA-39BC-37E2-A614DEE8733A}"/>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F5932B59-C49C-435B-DB5E-9CEC7DC5E29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D1C4BC4C-7DE2-4DE3-52FF-2BB937858C7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101197C-AA0A-8683-AC27-B6A3C403D1E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EE21559F-8C71-1D7F-2D31-67AFBB73533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5224BECF-C704-B04D-9568-2B75533D877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6DE2CD8D-F701-5F01-B169-1078C9AB8E0F}"/>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B354509-BEF8-B240-A62A-31BEA225E1B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A5A91731-3D4B-B06D-DA0A-5E8D1C00464B}"/>
              </a:ext>
            </a:extLst>
          </p:cNvPr>
          <p:cNvGraphicFramePr>
            <a:graphicFrameLocks noGrp="1"/>
          </p:cNvGraphicFramePr>
          <p:nvPr>
            <p:extLst>
              <p:ext uri="{D42A27DB-BD31-4B8C-83A1-F6EECF244321}">
                <p14:modId xmlns:p14="http://schemas.microsoft.com/office/powerpoint/2010/main" val="478344390"/>
              </p:ext>
            </p:extLst>
          </p:nvPr>
        </p:nvGraphicFramePr>
        <p:xfrm>
          <a:off x="5029200" y="3608129"/>
          <a:ext cx="8229600" cy="1463040"/>
        </p:xfrm>
        <a:graphic>
          <a:graphicData uri="http://schemas.openxmlformats.org/drawingml/2006/table">
            <a:tbl>
              <a:tblPr/>
              <a:tblGrid>
                <a:gridCol w="4114800">
                  <a:extLst>
                    <a:ext uri="{9D8B030D-6E8A-4147-A177-3AD203B41FA5}">
                      <a16:colId xmlns:a16="http://schemas.microsoft.com/office/drawing/2014/main" val="4181243384"/>
                    </a:ext>
                  </a:extLst>
                </a:gridCol>
                <a:gridCol w="4114800">
                  <a:extLst>
                    <a:ext uri="{9D8B030D-6E8A-4147-A177-3AD203B41FA5}">
                      <a16:colId xmlns:a16="http://schemas.microsoft.com/office/drawing/2014/main" val="630970715"/>
                    </a:ext>
                  </a:extLst>
                </a:gridCol>
              </a:tblGrid>
              <a:tr h="0">
                <a:tc>
                  <a:txBody>
                    <a:bodyPr/>
                    <a:lstStyle/>
                    <a:p>
                      <a:pPr>
                        <a:buNone/>
                      </a:pPr>
                      <a:r>
                        <a:rPr lang="es-CO" sz="1800" b="1" dirty="0" err="1">
                          <a:effectLst/>
                          <a:latin typeface="Google Sans Text"/>
                        </a:rPr>
                        <a:t>Orden_ID</a:t>
                      </a:r>
                      <a:r>
                        <a:rPr lang="es-CO" sz="1800" b="1" dirty="0">
                          <a:effectLst/>
                          <a:latin typeface="Google Sans Text"/>
                        </a:rPr>
                        <a:t> (FK)</a:t>
                      </a:r>
                      <a:endParaRPr lang="es-CO" sz="18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effectLst/>
                          <a:latin typeface="Google Sans Text"/>
                        </a:rPr>
                        <a:t>Producto_ID (FK)</a:t>
                      </a:r>
                      <a:endParaRPr lang="es-CO" sz="18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6455431"/>
                  </a:ext>
                </a:extLst>
              </a:tr>
              <a:tr h="0">
                <a:tc>
                  <a:txBody>
                    <a:bodyPr/>
                    <a:lstStyle/>
                    <a:p>
                      <a:pPr>
                        <a:buNone/>
                      </a:pPr>
                      <a:r>
                        <a:rPr lang="es-CO" sz="1800" dirty="0">
                          <a:effectLst/>
                          <a:latin typeface="Google Sans Text"/>
                        </a:rPr>
                        <a:t>1001 (Orden de 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effectLst/>
                          <a:latin typeface="Google Sans Text"/>
                        </a:rPr>
                        <a:t>50 (Laptop)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4347215"/>
                  </a:ext>
                </a:extLst>
              </a:tr>
              <a:tr h="0">
                <a:tc>
                  <a:txBody>
                    <a:bodyPr/>
                    <a:lstStyle/>
                    <a:p>
                      <a:pPr>
                        <a:buNone/>
                      </a:pPr>
                      <a:r>
                        <a:rPr lang="es-CO" sz="1800" dirty="0">
                          <a:effectLst/>
                          <a:latin typeface="Google Sans Text"/>
                        </a:rPr>
                        <a:t>1001 (Orden de 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dirty="0">
                          <a:effectLst/>
                          <a:latin typeface="Google Sans Text"/>
                        </a:rPr>
                        <a:t>51 (Mouse)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1959039"/>
                  </a:ext>
                </a:extLst>
              </a:tr>
              <a:tr h="0">
                <a:tc>
                  <a:txBody>
                    <a:bodyPr/>
                    <a:lstStyle/>
                    <a:p>
                      <a:pPr>
                        <a:buNone/>
                      </a:pPr>
                      <a:r>
                        <a:rPr lang="es-CO" sz="1800">
                          <a:effectLst/>
                          <a:latin typeface="Google Sans Text"/>
                        </a:rPr>
                        <a:t>1002 (Orden de Pedro)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dirty="0">
                          <a:effectLst/>
                          <a:latin typeface="Google Sans Text"/>
                        </a:rPr>
                        <a:t>50 (Laptop)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78215"/>
                  </a:ext>
                </a:extLst>
              </a:tr>
            </a:tbl>
          </a:graphicData>
        </a:graphic>
      </p:graphicFrame>
      <p:sp>
        <p:nvSpPr>
          <p:cNvPr id="15" name="CuadroTexto 14">
            <a:extLst>
              <a:ext uri="{FF2B5EF4-FFF2-40B4-BE49-F238E27FC236}">
                <a16:creationId xmlns:a16="http://schemas.microsoft.com/office/drawing/2014/main" id="{00F04236-73A7-CA69-B544-2DB629E77F8E}"/>
              </a:ext>
            </a:extLst>
          </p:cNvPr>
          <p:cNvSpPr txBox="1"/>
          <p:nvPr/>
        </p:nvSpPr>
        <p:spPr>
          <a:xfrm>
            <a:off x="1385741" y="619028"/>
            <a:ext cx="14470144" cy="230832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1" i="0" u="none" strike="noStrike" cap="none" normalizeH="0" baseline="0" dirty="0">
                <a:ln>
                  <a:noFill/>
                </a:ln>
                <a:solidFill>
                  <a:schemeClr val="tx1"/>
                </a:solidFill>
                <a:effectLst/>
                <a:latin typeface="+mj-lt"/>
              </a:rPr>
              <a:t>¿Qué contiene exactamente el puente?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0" i="0" u="none" strike="noStrike" cap="none" normalizeH="0" baseline="0" dirty="0">
                <a:ln>
                  <a:noFill/>
                </a:ln>
                <a:solidFill>
                  <a:schemeClr val="tx1"/>
                </a:solidFill>
                <a:effectLst/>
                <a:latin typeface="+mj-lt"/>
              </a:rPr>
              <a:t>la clave primaria suele ser compuesta (</a:t>
            </a:r>
            <a:r>
              <a:rPr kumimoji="0" lang="es-CO" altLang="es-CO" sz="2400" b="0" i="0" u="none" strike="noStrike" cap="none" normalizeH="0" baseline="0" dirty="0" err="1">
                <a:ln>
                  <a:noFill/>
                </a:ln>
                <a:solidFill>
                  <a:schemeClr val="tx1"/>
                </a:solidFill>
                <a:effectLst/>
                <a:latin typeface="+mj-lt"/>
              </a:rPr>
              <a:t>Orden_ID</a:t>
            </a:r>
            <a:r>
              <a:rPr kumimoji="0" lang="es-CO" altLang="es-CO" sz="2400" b="0" i="0" u="none" strike="noStrike" cap="none" normalizeH="0" baseline="0" dirty="0">
                <a:ln>
                  <a:noFill/>
                </a:ln>
                <a:solidFill>
                  <a:schemeClr val="tx1"/>
                </a:solidFill>
                <a:effectLst/>
                <a:latin typeface="+mj-lt"/>
              </a:rPr>
              <a:t> + </a:t>
            </a:r>
            <a:r>
              <a:rPr kumimoji="0" lang="es-CO" altLang="es-CO" sz="2400" b="0" i="0" u="none" strike="noStrike" cap="none" normalizeH="0" baseline="0" dirty="0" err="1">
                <a:ln>
                  <a:noFill/>
                </a:ln>
                <a:solidFill>
                  <a:schemeClr val="tx1"/>
                </a:solidFill>
                <a:effectLst/>
                <a:latin typeface="+mj-lt"/>
              </a:rPr>
              <a:t>Producto_ID</a:t>
            </a:r>
            <a:r>
              <a:rPr kumimoji="0" lang="es-CO" altLang="es-CO" sz="24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1" i="0" u="none" strike="noStrike" cap="none" normalizeH="0" baseline="0" dirty="0">
                <a:ln>
                  <a:noFill/>
                </a:ln>
                <a:solidFill>
                  <a:schemeClr val="tx1"/>
                </a:solidFill>
                <a:effectLst/>
                <a:latin typeface="+mj-lt"/>
              </a:rPr>
              <a:t>Tabla </a:t>
            </a:r>
            <a:r>
              <a:rPr kumimoji="0" lang="es-CO" altLang="es-CO" sz="2400" b="1" i="0" u="none" strike="noStrike" cap="none" normalizeH="0" baseline="0" dirty="0" err="1">
                <a:ln>
                  <a:noFill/>
                </a:ln>
                <a:solidFill>
                  <a:schemeClr val="tx1"/>
                </a:solidFill>
                <a:effectLst/>
                <a:latin typeface="+mj-lt"/>
              </a:rPr>
              <a:t>Detalles_Orden</a:t>
            </a:r>
            <a:r>
              <a:rPr kumimoji="0" lang="es-CO" altLang="es-CO" sz="2400" b="1" i="0" u="none" strike="noStrike" cap="none" normalizeH="0" baseline="0" dirty="0">
                <a:ln>
                  <a:noFill/>
                </a:ln>
                <a:solidFill>
                  <a:schemeClr val="tx1"/>
                </a:solidFill>
                <a:effectLst/>
                <a:latin typeface="+mj-lt"/>
              </a:rPr>
              <a:t>:</a:t>
            </a:r>
            <a:endParaRPr kumimoji="0" lang="es-CO" altLang="es-CO" sz="2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1" i="0" u="none" strike="noStrike" cap="none" normalizeH="0" baseline="0" dirty="0">
                <a:ln>
                  <a:noFill/>
                </a:ln>
                <a:solidFill>
                  <a:schemeClr val="tx1"/>
                </a:solidFill>
                <a:effectLst/>
                <a:latin typeface="+mj-lt"/>
              </a:rPr>
              <a:t>Nota:</a:t>
            </a:r>
            <a:r>
              <a:rPr kumimoji="0" lang="es-CO" altLang="es-CO" sz="2400" b="0" i="0" u="none" strike="noStrike" cap="none" normalizeH="0" baseline="0" dirty="0">
                <a:ln>
                  <a:noFill/>
                </a:ln>
                <a:solidFill>
                  <a:schemeClr val="tx1"/>
                </a:solidFill>
                <a:effectLst/>
                <a:latin typeface="+mj-lt"/>
              </a:rPr>
              <a:t> Aquí no se repite "María" ni "01-Dic". Solo referencias numéricas. Es rápido y ligero</a:t>
            </a:r>
            <a:r>
              <a:rPr kumimoji="0" lang="es-CO" altLang="es-CO" sz="1400" b="0" i="0" u="none" strike="noStrike" cap="none" normalizeH="0" baseline="0" dirty="0">
                <a:ln>
                  <a:noFill/>
                </a:ln>
                <a:solidFill>
                  <a:schemeClr val="tx1"/>
                </a:solidFill>
                <a:effectLst/>
                <a:latin typeface="+mj-lt"/>
              </a:rPr>
              <a:t>.</a:t>
            </a:r>
          </a:p>
        </p:txBody>
      </p:sp>
      <p:sp>
        <p:nvSpPr>
          <p:cNvPr id="18" name="CuadroTexto 17">
            <a:extLst>
              <a:ext uri="{FF2B5EF4-FFF2-40B4-BE49-F238E27FC236}">
                <a16:creationId xmlns:a16="http://schemas.microsoft.com/office/drawing/2014/main" id="{D7EA49FE-374F-D808-8DF8-FDE475BBCFA0}"/>
              </a:ext>
            </a:extLst>
          </p:cNvPr>
          <p:cNvSpPr txBox="1"/>
          <p:nvPr/>
        </p:nvSpPr>
        <p:spPr>
          <a:xfrm>
            <a:off x="1385741" y="5475034"/>
            <a:ext cx="15570723" cy="2308324"/>
          </a:xfrm>
          <a:prstGeom prst="rect">
            <a:avLst/>
          </a:prstGeom>
          <a:noFill/>
        </p:spPr>
        <p:txBody>
          <a:bodyPr wrap="square">
            <a:spAutoFit/>
          </a:bodyPr>
          <a:lstStyle/>
          <a:p>
            <a:pPr>
              <a:buNone/>
            </a:pPr>
            <a:r>
              <a:rPr lang="es-ES" sz="2400" dirty="0"/>
              <a:t>En el caso de Órdenes y Productos, la tabla puente es </a:t>
            </a:r>
            <a:r>
              <a:rPr lang="es-ES" sz="2400" b="1" dirty="0"/>
              <a:t>obligatoria</a:t>
            </a:r>
            <a:r>
              <a:rPr lang="es-ES" sz="2400" dirty="0"/>
              <a:t> para guardar datos que no pueden ir en ningún otro lado:</a:t>
            </a:r>
          </a:p>
          <a:p>
            <a:pPr>
              <a:buFont typeface="+mj-lt"/>
              <a:buAutoNum type="arabicPeriod"/>
            </a:pPr>
            <a:r>
              <a:rPr lang="es-ES" sz="2400" b="1" dirty="0"/>
              <a:t>Cantidad:</a:t>
            </a:r>
            <a:r>
              <a:rPr lang="es-ES" sz="2400" dirty="0"/>
              <a:t> ¿Cuántos mouses compró María? (No es un dato del producto, ni de la orden general, es de </a:t>
            </a:r>
            <a:r>
              <a:rPr lang="es-ES" sz="2400" i="1" dirty="0"/>
              <a:t>esa línea</a:t>
            </a:r>
            <a:r>
              <a:rPr lang="es-ES" sz="2400" dirty="0"/>
              <a:t> específica).</a:t>
            </a:r>
          </a:p>
          <a:p>
            <a:pPr>
              <a:buFont typeface="+mj-lt"/>
              <a:buAutoNum type="arabicPeriod"/>
            </a:pPr>
            <a:r>
              <a:rPr lang="es-ES" sz="2400" b="1" dirty="0"/>
              <a:t>Precio de Venta (Histórico):</a:t>
            </a:r>
            <a:r>
              <a:rPr lang="es-ES" sz="2400" dirty="0"/>
              <a:t> El precio de la Laptop puede subir mañana en la tabla </a:t>
            </a:r>
            <a:r>
              <a:rPr lang="es-ES" sz="2400" dirty="0">
                <a:latin typeface="Courier New" panose="02070309020205020404" pitchFamily="49" charset="0"/>
              </a:rPr>
              <a:t>Productos</a:t>
            </a:r>
            <a:r>
              <a:rPr lang="es-ES" sz="2400" dirty="0"/>
              <a:t>, pero en la tabla puente (</a:t>
            </a:r>
            <a:r>
              <a:rPr lang="es-ES" sz="2400" dirty="0" err="1">
                <a:latin typeface="Courier New" panose="02070309020205020404" pitchFamily="49" charset="0"/>
              </a:rPr>
              <a:t>Detalles_Orden</a:t>
            </a:r>
            <a:r>
              <a:rPr lang="es-ES" sz="2400" dirty="0"/>
              <a:t>) debe quedar guardado el precio </a:t>
            </a:r>
            <a:r>
              <a:rPr lang="es-ES" sz="2400" b="1" dirty="0"/>
              <a:t>al que se vendió en ese momento</a:t>
            </a:r>
            <a:r>
              <a:rPr lang="es-ES" sz="2400" dirty="0"/>
              <a:t>.</a:t>
            </a:r>
          </a:p>
        </p:txBody>
      </p:sp>
      <p:graphicFrame>
        <p:nvGraphicFramePr>
          <p:cNvPr id="19" name="Tabla 18">
            <a:extLst>
              <a:ext uri="{FF2B5EF4-FFF2-40B4-BE49-F238E27FC236}">
                <a16:creationId xmlns:a16="http://schemas.microsoft.com/office/drawing/2014/main" id="{AF2BF72D-6563-4D74-AC08-CF06AFF110E2}"/>
              </a:ext>
            </a:extLst>
          </p:cNvPr>
          <p:cNvGraphicFramePr>
            <a:graphicFrameLocks noGrp="1"/>
          </p:cNvGraphicFramePr>
          <p:nvPr>
            <p:extLst>
              <p:ext uri="{D42A27DB-BD31-4B8C-83A1-F6EECF244321}">
                <p14:modId xmlns:p14="http://schemas.microsoft.com/office/powerpoint/2010/main" val="1790817194"/>
              </p:ext>
            </p:extLst>
          </p:nvPr>
        </p:nvGraphicFramePr>
        <p:xfrm>
          <a:off x="5029200" y="8361495"/>
          <a:ext cx="8229600" cy="1127760"/>
        </p:xfrm>
        <a:graphic>
          <a:graphicData uri="http://schemas.openxmlformats.org/drawingml/2006/table">
            <a:tbl>
              <a:tblPr/>
              <a:tblGrid>
                <a:gridCol w="2057400">
                  <a:extLst>
                    <a:ext uri="{9D8B030D-6E8A-4147-A177-3AD203B41FA5}">
                      <a16:colId xmlns:a16="http://schemas.microsoft.com/office/drawing/2014/main" val="3804761283"/>
                    </a:ext>
                  </a:extLst>
                </a:gridCol>
                <a:gridCol w="2057400">
                  <a:extLst>
                    <a:ext uri="{9D8B030D-6E8A-4147-A177-3AD203B41FA5}">
                      <a16:colId xmlns:a16="http://schemas.microsoft.com/office/drawing/2014/main" val="1887852835"/>
                    </a:ext>
                  </a:extLst>
                </a:gridCol>
                <a:gridCol w="2057400">
                  <a:extLst>
                    <a:ext uri="{9D8B030D-6E8A-4147-A177-3AD203B41FA5}">
                      <a16:colId xmlns:a16="http://schemas.microsoft.com/office/drawing/2014/main" val="2690284866"/>
                    </a:ext>
                  </a:extLst>
                </a:gridCol>
                <a:gridCol w="2057400">
                  <a:extLst>
                    <a:ext uri="{9D8B030D-6E8A-4147-A177-3AD203B41FA5}">
                      <a16:colId xmlns:a16="http://schemas.microsoft.com/office/drawing/2014/main" val="2631783035"/>
                    </a:ext>
                  </a:extLst>
                </a:gridCol>
              </a:tblGrid>
              <a:tr h="0">
                <a:tc>
                  <a:txBody>
                    <a:bodyPr/>
                    <a:lstStyle/>
                    <a:p>
                      <a:pPr>
                        <a:buNone/>
                      </a:pPr>
                      <a:r>
                        <a:rPr lang="es-CO" dirty="0" err="1"/>
                        <a:t>Orden_ID</a:t>
                      </a:r>
                      <a:endParaRPr lang="es-CO"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dirty="0" err="1"/>
                        <a:t>Producto_ID</a:t>
                      </a:r>
                      <a:endParaRPr lang="es-CO"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Cantidad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Precio_Unitario_Acordado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132915"/>
                  </a:ext>
                </a:extLst>
              </a:tr>
              <a:tr h="0">
                <a:tc>
                  <a:txBody>
                    <a:bodyPr/>
                    <a:lstStyle/>
                    <a:p>
                      <a:pPr>
                        <a:buNone/>
                      </a:pPr>
                      <a:r>
                        <a:rPr lang="es-CO"/>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2796126"/>
                  </a:ext>
                </a:extLst>
              </a:tr>
              <a:tr h="0">
                <a:tc>
                  <a:txBody>
                    <a:bodyPr/>
                    <a:lstStyle/>
                    <a:p>
                      <a:pPr>
                        <a:buNone/>
                      </a:pPr>
                      <a:r>
                        <a:rPr lang="es-CO" dirty="0"/>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0938889"/>
                  </a:ext>
                </a:extLst>
              </a:tr>
            </a:tbl>
          </a:graphicData>
        </a:graphic>
      </p:graphicFrame>
    </p:spTree>
    <p:extLst>
      <p:ext uri="{BB962C8B-B14F-4D97-AF65-F5344CB8AC3E}">
        <p14:creationId xmlns:p14="http://schemas.microsoft.com/office/powerpoint/2010/main" val="14285739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77591-1194-81A5-E575-2FA8282F856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C1F52F-0739-5DD5-6E22-524DAB73C4AB}"/>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E24CE259-75D0-3137-3B14-5B4A40443CA1}"/>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1F978EB-A284-7A67-8BF3-A24D9C516E4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A7378333-003C-9AC8-5945-86071CE2B58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BD001EB-80E5-8E81-9675-AF04976B503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595901B-6BC4-4C07-C73F-E7F3E8B42E7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457D27F-233F-A105-E66D-3F3DCDAC12D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E7B7371-8362-79A1-B897-E674642BB29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BFD627A-91E4-81D3-5FE4-F927109BCD0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2F02621E-9966-5258-DC8A-712D158E0F9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38FB9BCC-C9CF-1BC7-A17C-9BC6E2E43212}"/>
              </a:ext>
            </a:extLst>
          </p:cNvPr>
          <p:cNvSpPr txBox="1"/>
          <p:nvPr/>
        </p:nvSpPr>
        <p:spPr>
          <a:xfrm>
            <a:off x="1293829" y="2031921"/>
            <a:ext cx="7699342" cy="4154984"/>
          </a:xfrm>
          <a:prstGeom prst="rect">
            <a:avLst/>
          </a:prstGeom>
          <a:noFill/>
        </p:spPr>
        <p:txBody>
          <a:bodyPr wrap="square">
            <a:spAutoFit/>
          </a:bodyPr>
          <a:lstStyle/>
          <a:p>
            <a:pPr>
              <a:buNone/>
            </a:pPr>
            <a:r>
              <a:rPr lang="es-ES" sz="2400" b="1" dirty="0"/>
              <a:t>Integrando al Vendedor (</a:t>
            </a:r>
            <a:r>
              <a:rPr lang="es-ES" sz="2400" b="1" dirty="0" err="1"/>
              <a:t>Seller</a:t>
            </a:r>
            <a:r>
              <a:rPr lang="es-ES" sz="2400" b="1" dirty="0"/>
              <a:t>)</a:t>
            </a:r>
          </a:p>
          <a:p>
            <a:pPr>
              <a:buNone/>
            </a:pPr>
            <a:r>
              <a:rPr lang="es-ES" sz="2400" b="1" dirty="0"/>
              <a:t>Punto Clave de </a:t>
            </a:r>
            <a:r>
              <a:rPr lang="es-ES" sz="2400" b="1" dirty="0" err="1"/>
              <a:t>Olist</a:t>
            </a:r>
            <a:r>
              <a:rPr lang="es-ES" sz="2400" b="1" dirty="0"/>
              <a:t>:</a:t>
            </a:r>
            <a:r>
              <a:rPr lang="es-ES" sz="2400" dirty="0"/>
              <a:t> </a:t>
            </a:r>
          </a:p>
          <a:p>
            <a:pPr>
              <a:buNone/>
            </a:pPr>
            <a:endParaRPr lang="es-ES" sz="2400" dirty="0"/>
          </a:p>
          <a:p>
            <a:pPr>
              <a:buNone/>
            </a:pPr>
            <a:r>
              <a:rPr lang="es-ES" sz="2400" dirty="0"/>
              <a:t>En este </a:t>
            </a:r>
            <a:r>
              <a:rPr lang="es-ES" sz="2400" dirty="0" err="1"/>
              <a:t>marketplace</a:t>
            </a:r>
            <a:r>
              <a:rPr lang="es-ES" sz="2400" dirty="0"/>
              <a:t>, tú no le compras a "</a:t>
            </a:r>
            <a:r>
              <a:rPr lang="es-ES" sz="2400" dirty="0" err="1"/>
              <a:t>Olist</a:t>
            </a:r>
            <a:r>
              <a:rPr lang="es-ES" sz="2400" dirty="0"/>
              <a:t>", le compras a un Vendedor específico.</a:t>
            </a:r>
          </a:p>
          <a:p>
            <a:pPr>
              <a:buNone/>
            </a:pPr>
            <a:endParaRPr lang="es-ES" sz="2400" dirty="0"/>
          </a:p>
          <a:p>
            <a:pPr marL="342900" indent="-342900">
              <a:buFont typeface="Arial" panose="020B0604020202020204" pitchFamily="34" charset="0"/>
              <a:buChar char="•"/>
            </a:pPr>
            <a:r>
              <a:rPr lang="es-ES" sz="2400" dirty="0"/>
              <a:t>¿El Vendedor se conecta a la Orden? </a:t>
            </a:r>
            <a:r>
              <a:rPr lang="es-ES" sz="2400" b="1" dirty="0"/>
              <a:t>NO</a:t>
            </a:r>
            <a:r>
              <a:rPr lang="es-ES" sz="2400" dirty="0"/>
              <a:t>.</a:t>
            </a:r>
          </a:p>
          <a:p>
            <a:pPr marL="342900" indent="-342900">
              <a:buFont typeface="Arial" panose="020B0604020202020204" pitchFamily="34" charset="0"/>
              <a:buChar char="•"/>
            </a:pPr>
            <a:endParaRPr lang="es-ES" sz="2400" dirty="0"/>
          </a:p>
          <a:p>
            <a:pPr marL="342900" indent="-342900">
              <a:buFont typeface="Arial" panose="020B0604020202020204" pitchFamily="34" charset="0"/>
              <a:buChar char="•"/>
            </a:pPr>
            <a:r>
              <a:rPr lang="es-ES" sz="2400" dirty="0"/>
              <a:t>El Vendedor se conecta al </a:t>
            </a:r>
            <a:r>
              <a:rPr lang="es-ES" sz="2400" b="1" dirty="0" err="1"/>
              <a:t>Item</a:t>
            </a:r>
            <a:r>
              <a:rPr lang="es-ES" sz="2400" dirty="0"/>
              <a:t>, porque en una misma orden puedo tener un libro (Vendedor A) y un mouse (Vendedor B).</a:t>
            </a:r>
          </a:p>
        </p:txBody>
      </p:sp>
      <p:pic>
        <p:nvPicPr>
          <p:cNvPr id="15" name="Imagen 14">
            <a:extLst>
              <a:ext uri="{FF2B5EF4-FFF2-40B4-BE49-F238E27FC236}">
                <a16:creationId xmlns:a16="http://schemas.microsoft.com/office/drawing/2014/main" id="{EB3CA1F4-852D-3C7A-4DD9-E7ABB2B29008}"/>
              </a:ext>
            </a:extLst>
          </p:cNvPr>
          <p:cNvPicPr>
            <a:picLocks noChangeAspect="1"/>
          </p:cNvPicPr>
          <p:nvPr/>
        </p:nvPicPr>
        <p:blipFill>
          <a:blip r:embed="rId5"/>
          <a:stretch>
            <a:fillRect/>
          </a:stretch>
        </p:blipFill>
        <p:spPr>
          <a:xfrm>
            <a:off x="10180538" y="1536901"/>
            <a:ext cx="7297168" cy="7068536"/>
          </a:xfrm>
          <a:prstGeom prst="rect">
            <a:avLst/>
          </a:prstGeom>
        </p:spPr>
      </p:pic>
    </p:spTree>
    <p:extLst>
      <p:ext uri="{BB962C8B-B14F-4D97-AF65-F5344CB8AC3E}">
        <p14:creationId xmlns:p14="http://schemas.microsoft.com/office/powerpoint/2010/main" val="4560597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454AB-53EE-A87F-7262-B93AB69846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FCC09C-BA35-8830-DB94-E03A425531AD}"/>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47EE8D2-E732-13AF-7C8E-AD8241149B2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39744F7E-8451-F819-DFD1-94F418673E0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6CFCB97C-7F26-22FC-37F2-3F846745C0B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6A0865A-0877-1167-24A0-C97FB5C75CD7}"/>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B7BBFA3-E211-C3B2-74A6-3720418CEA5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3E42236F-A0A7-47DC-C5B0-61A761F4627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E31B4C3-C671-C339-0480-A7B779D372F9}"/>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4A2C31A7-5934-CD7F-5896-E98C062CE5F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AF2285D-5C0E-0681-488A-F79DCFA70BD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3FC52EDC-AAE6-F55A-19DB-CE832785C06C}"/>
              </a:ext>
            </a:extLst>
          </p:cNvPr>
          <p:cNvSpPr txBox="1"/>
          <p:nvPr/>
        </p:nvSpPr>
        <p:spPr>
          <a:xfrm>
            <a:off x="935610" y="1625123"/>
            <a:ext cx="6850930" cy="7294305"/>
          </a:xfrm>
          <a:prstGeom prst="rect">
            <a:avLst/>
          </a:prstGeom>
          <a:noFill/>
        </p:spPr>
        <p:txBody>
          <a:bodyPr wrap="square">
            <a:spAutoFit/>
          </a:bodyPr>
          <a:lstStyle/>
          <a:p>
            <a:pPr>
              <a:buNone/>
            </a:pPr>
            <a:r>
              <a:rPr lang="es-ES" sz="3600" b="1" dirty="0"/>
              <a:t>Agregando Satélites (Pagos y Reseñas)</a:t>
            </a:r>
          </a:p>
          <a:p>
            <a:pPr>
              <a:buNone/>
            </a:pPr>
            <a:endParaRPr lang="es-ES" sz="3600" b="1" dirty="0"/>
          </a:p>
          <a:p>
            <a:pPr>
              <a:buNone/>
            </a:pPr>
            <a:r>
              <a:rPr lang="es-ES" sz="3600" b="1" dirty="0"/>
              <a:t>Cerrando el círculo:</a:t>
            </a:r>
            <a:r>
              <a:rPr lang="es-ES" sz="3600" dirty="0"/>
              <a:t> Finalmente, agregamos los eventos que ocurren </a:t>
            </a:r>
            <a:r>
              <a:rPr lang="es-ES" sz="3600" i="1" dirty="0"/>
              <a:t>alrededor</a:t>
            </a:r>
            <a:r>
              <a:rPr lang="es-ES" sz="3600" dirty="0"/>
              <a:t> de la orden.</a:t>
            </a:r>
          </a:p>
          <a:p>
            <a:pPr marL="342900" indent="-342900">
              <a:buFont typeface="Arial" panose="020B0604020202020204" pitchFamily="34" charset="0"/>
              <a:buChar char="•"/>
            </a:pPr>
            <a:r>
              <a:rPr lang="es-ES" sz="3600" b="1" dirty="0"/>
              <a:t>Pagos:</a:t>
            </a:r>
            <a:r>
              <a:rPr lang="es-ES" sz="3600" dirty="0"/>
              <a:t> Una orden se paga (1:N, porque pueden ser múltiples tarjetas).</a:t>
            </a:r>
          </a:p>
          <a:p>
            <a:pPr marL="342900" indent="-342900">
              <a:buFont typeface="Arial" panose="020B0604020202020204" pitchFamily="34" charset="0"/>
              <a:buChar char="•"/>
            </a:pPr>
            <a:r>
              <a:rPr lang="es-ES" sz="3600" b="1" dirty="0"/>
              <a:t>Reseñas:</a:t>
            </a:r>
            <a:r>
              <a:rPr lang="es-ES" sz="3600" dirty="0"/>
              <a:t> Una orden se califica (0:N, porque es opcional).</a:t>
            </a:r>
          </a:p>
        </p:txBody>
      </p:sp>
      <p:pic>
        <p:nvPicPr>
          <p:cNvPr id="15" name="Imagen 14">
            <a:extLst>
              <a:ext uri="{FF2B5EF4-FFF2-40B4-BE49-F238E27FC236}">
                <a16:creationId xmlns:a16="http://schemas.microsoft.com/office/drawing/2014/main" id="{1909E55E-C7F2-336A-DC1F-68978E86EC27}"/>
              </a:ext>
            </a:extLst>
          </p:cNvPr>
          <p:cNvPicPr>
            <a:picLocks noChangeAspect="1"/>
          </p:cNvPicPr>
          <p:nvPr/>
        </p:nvPicPr>
        <p:blipFill>
          <a:blip r:embed="rId5"/>
          <a:stretch>
            <a:fillRect/>
          </a:stretch>
        </p:blipFill>
        <p:spPr>
          <a:xfrm>
            <a:off x="8031637" y="1155847"/>
            <a:ext cx="9745435" cy="7830643"/>
          </a:xfrm>
          <a:prstGeom prst="rect">
            <a:avLst/>
          </a:prstGeom>
        </p:spPr>
      </p:pic>
    </p:spTree>
    <p:extLst>
      <p:ext uri="{BB962C8B-B14F-4D97-AF65-F5344CB8AC3E}">
        <p14:creationId xmlns:p14="http://schemas.microsoft.com/office/powerpoint/2010/main" val="13925878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DDE58-526F-2A15-6D3C-539B509EC0E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AE9DA2-9CEF-D4E1-5B08-43CEC0E5700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614711D-0146-39A7-2BA1-9FE766CD7983}"/>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A3DDA54-2547-732A-B3EC-849100F4FF8A}"/>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1E44363-C32D-4147-DA41-EF9AFC3B653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4FB9B5EF-F2DB-6DA5-EE73-02BF9CAFEF3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D6EE514-38EE-6145-EDF4-E9573B7FA44F}"/>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2AACCB2F-E7B9-7261-0120-77F68B205E1F}"/>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51B21FF-05DA-286F-06DA-4F0BDD67E70C}"/>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67491332-6CDD-3A3E-F157-42A67CECA8D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EB6B839-CC9A-7187-67CC-6CE5B128C47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pic>
        <p:nvPicPr>
          <p:cNvPr id="13" name="Imagen 12">
            <a:extLst>
              <a:ext uri="{FF2B5EF4-FFF2-40B4-BE49-F238E27FC236}">
                <a16:creationId xmlns:a16="http://schemas.microsoft.com/office/drawing/2014/main" id="{9D1636E2-7DA1-E575-D6FB-E80C1E1DEDDC}"/>
              </a:ext>
            </a:extLst>
          </p:cNvPr>
          <p:cNvPicPr>
            <a:picLocks noChangeAspect="1"/>
          </p:cNvPicPr>
          <p:nvPr/>
        </p:nvPicPr>
        <p:blipFill>
          <a:blip r:embed="rId5"/>
          <a:stretch>
            <a:fillRect/>
          </a:stretch>
        </p:blipFill>
        <p:spPr>
          <a:xfrm>
            <a:off x="1613373" y="1778885"/>
            <a:ext cx="15450901" cy="7895865"/>
          </a:xfrm>
          <a:prstGeom prst="rect">
            <a:avLst/>
          </a:prstGeom>
        </p:spPr>
      </p:pic>
      <p:sp>
        <p:nvSpPr>
          <p:cNvPr id="15" name="CuadroTexto 14">
            <a:extLst>
              <a:ext uri="{FF2B5EF4-FFF2-40B4-BE49-F238E27FC236}">
                <a16:creationId xmlns:a16="http://schemas.microsoft.com/office/drawing/2014/main" id="{84109D11-BE3B-83DE-5390-1F5BE233A4A2}"/>
              </a:ext>
            </a:extLst>
          </p:cNvPr>
          <p:cNvSpPr txBox="1"/>
          <p:nvPr/>
        </p:nvSpPr>
        <p:spPr>
          <a:xfrm>
            <a:off x="1433659" y="763222"/>
            <a:ext cx="15787540" cy="1015663"/>
          </a:xfrm>
          <a:prstGeom prst="rect">
            <a:avLst/>
          </a:prstGeom>
          <a:noFill/>
        </p:spPr>
        <p:txBody>
          <a:bodyPr wrap="square">
            <a:spAutoFit/>
          </a:bodyPr>
          <a:lstStyle/>
          <a:p>
            <a:pPr>
              <a:buNone/>
            </a:pPr>
            <a:r>
              <a:rPr lang="es-ES" sz="2000" b="1" dirty="0"/>
              <a:t>El Diagrama Final Completo</a:t>
            </a:r>
          </a:p>
          <a:p>
            <a:pPr>
              <a:buNone/>
            </a:pPr>
            <a:r>
              <a:rPr lang="es-ES" sz="2000" b="1" dirty="0"/>
              <a:t>Visión Global:</a:t>
            </a:r>
            <a:r>
              <a:rPr lang="es-ES" sz="2000" dirty="0"/>
              <a:t> Así se ve el sistema </a:t>
            </a:r>
            <a:r>
              <a:rPr lang="es-ES" sz="2000" dirty="0" err="1"/>
              <a:t>Olist</a:t>
            </a:r>
            <a:r>
              <a:rPr lang="es-ES" sz="2000" dirty="0"/>
              <a:t> completo cuando unimos todas las piezas. Es un esquema "centrado en la Orden" (</a:t>
            </a:r>
            <a:r>
              <a:rPr lang="es-ES" sz="2000" dirty="0" err="1"/>
              <a:t>Order-Centric</a:t>
            </a:r>
            <a:r>
              <a:rPr lang="es-ES" sz="2000" dirty="0"/>
              <a:t>).</a:t>
            </a:r>
          </a:p>
        </p:txBody>
      </p:sp>
    </p:spTree>
    <p:extLst>
      <p:ext uri="{BB962C8B-B14F-4D97-AF65-F5344CB8AC3E}">
        <p14:creationId xmlns:p14="http://schemas.microsoft.com/office/powerpoint/2010/main" val="15803872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072BF-C52B-2307-EA51-CD8B5DF9A2A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F861F7D-3FBD-A5ED-08FE-2165AC464294}"/>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545B7B6-80D3-A88B-6654-5A5656F5396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7D85AA5F-3D6D-869F-96A8-635B7BB46CA5}"/>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A6690BE-88C6-9191-5B51-C84835AB6FC4}"/>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776FE7F2-F5C0-AF3E-2F3D-8B7E6184D1B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85EC7572-DECB-C6A4-9196-310C844739E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2A6AF057-23A8-2C56-5AA1-B95D322D0E1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49238A19-FE25-F68F-AC9C-9650EC29DEA8}"/>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8BFCD251-E8FC-A40B-9E86-DA6A4982498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C675661E-164C-8F62-2964-596787E0D23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4BFCB4DF-1A13-BC52-E33D-9F21A37A248F}"/>
              </a:ext>
            </a:extLst>
          </p:cNvPr>
          <p:cNvSpPr txBox="1"/>
          <p:nvPr/>
        </p:nvSpPr>
        <p:spPr>
          <a:xfrm>
            <a:off x="3989894" y="2853262"/>
            <a:ext cx="9186420" cy="2862322"/>
          </a:xfrm>
          <a:prstGeom prst="rect">
            <a:avLst/>
          </a:prstGeom>
          <a:noFill/>
        </p:spPr>
        <p:txBody>
          <a:bodyPr wrap="square">
            <a:spAutoFit/>
          </a:bodyPr>
          <a:lstStyle/>
          <a:p>
            <a:pPr algn="ctr">
              <a:buNone/>
            </a:pPr>
            <a:r>
              <a:rPr lang="es-ES" sz="6000" b="1" dirty="0"/>
              <a:t>Paso 7: Diseño para la implementación del Modelo </a:t>
            </a:r>
            <a:r>
              <a:rPr lang="es-ES" sz="6000" b="1" dirty="0" err="1"/>
              <a:t>Fisico</a:t>
            </a:r>
            <a:r>
              <a:rPr lang="es-ES" sz="6000" b="1" dirty="0"/>
              <a:t> </a:t>
            </a:r>
          </a:p>
        </p:txBody>
      </p:sp>
    </p:spTree>
    <p:extLst>
      <p:ext uri="{BB962C8B-B14F-4D97-AF65-F5344CB8AC3E}">
        <p14:creationId xmlns:p14="http://schemas.microsoft.com/office/powerpoint/2010/main" val="22420382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08A0-C7BD-0E39-D675-CECF287400C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47F8CA-619F-B5CE-F4C7-C3C654D3EACB}"/>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2D0812B-EC44-DD44-6FEC-1FE07BD572E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5CABB53-BD32-6CCE-021E-F3AE98612D14}"/>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503A2400-7E91-4EBC-D0E7-2096AEF84FE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37F95315-5477-1CC9-BDC7-A2FC0F8F47A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2AE103DB-62F6-F4AE-8185-14FC878D0EA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1C2868E7-97EC-6820-FF36-C3960369458F}"/>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179C0ED4-5B81-B695-771D-82E55E1EF52A}"/>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FDFB617-5D0B-A43D-2FD9-029A809806B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96E061B-0793-0BCB-9DC0-848D5441320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610C61D5-60E1-3955-0C1B-070BCD45F6B1}"/>
              </a:ext>
            </a:extLst>
          </p:cNvPr>
          <p:cNvSpPr txBox="1"/>
          <p:nvPr/>
        </p:nvSpPr>
        <p:spPr>
          <a:xfrm>
            <a:off x="1274975" y="280518"/>
            <a:ext cx="16136332" cy="8956298"/>
          </a:xfrm>
          <a:prstGeom prst="rect">
            <a:avLst/>
          </a:prstGeom>
          <a:noFill/>
        </p:spPr>
        <p:txBody>
          <a:bodyPr wrap="square">
            <a:spAutoFit/>
          </a:bodyPr>
          <a:lstStyle/>
          <a:p>
            <a:pPr>
              <a:buNone/>
            </a:pPr>
            <a:r>
              <a:rPr lang="es-ES" sz="3600" b="1" dirty="0"/>
              <a:t>De "Concepto" a "Código“</a:t>
            </a:r>
          </a:p>
          <a:p>
            <a:pPr>
              <a:buNone/>
            </a:pPr>
            <a:endParaRPr lang="es-ES" sz="3600" b="1" dirty="0"/>
          </a:p>
          <a:p>
            <a:pPr>
              <a:buNone/>
            </a:pPr>
            <a:r>
              <a:rPr lang="es-ES" sz="3600" b="1" dirty="0"/>
              <a:t>El Salto de Nivel</a:t>
            </a:r>
          </a:p>
          <a:p>
            <a:pPr>
              <a:buNone/>
            </a:pPr>
            <a:endParaRPr lang="es-ES" sz="3600" dirty="0"/>
          </a:p>
          <a:p>
            <a:pPr>
              <a:buNone/>
            </a:pPr>
            <a:r>
              <a:rPr lang="es-ES" sz="3600" dirty="0"/>
              <a:t>Hasta ahora, nuestras cajas eran abstractas. Para que la base de datos funcione, necesitamos ser específicos.</a:t>
            </a:r>
          </a:p>
          <a:p>
            <a:pPr>
              <a:buNone/>
            </a:pPr>
            <a:endParaRPr lang="es-ES" sz="3600" dirty="0"/>
          </a:p>
          <a:p>
            <a:pPr>
              <a:buNone/>
            </a:pPr>
            <a:r>
              <a:rPr lang="es-ES" sz="3600" b="1" dirty="0"/>
              <a:t>Las 3 Reglas del Modelo Detallado:</a:t>
            </a:r>
          </a:p>
          <a:p>
            <a:pPr>
              <a:buNone/>
            </a:pPr>
            <a:endParaRPr lang="es-ES" sz="3600" dirty="0"/>
          </a:p>
          <a:p>
            <a:pPr marL="742950" indent="-742950">
              <a:buFont typeface="+mj-lt"/>
              <a:buAutoNum type="arabicPeriod"/>
            </a:pPr>
            <a:r>
              <a:rPr lang="es-ES" sz="3600" b="1" dirty="0"/>
              <a:t>Cada atributo debe tener un tipo de dato</a:t>
            </a:r>
            <a:r>
              <a:rPr lang="es-ES" sz="3600" dirty="0"/>
              <a:t> (¿Texto? ¿Número? ¿Fecha?).</a:t>
            </a:r>
          </a:p>
          <a:p>
            <a:pPr marL="742950" indent="-742950">
              <a:buFont typeface="+mj-lt"/>
              <a:buAutoNum type="arabicPeriod"/>
            </a:pPr>
            <a:r>
              <a:rPr lang="es-ES" sz="3600" b="1" dirty="0"/>
              <a:t>Las PK (Llaves Primarias) deben estar definidas.</a:t>
            </a:r>
            <a:endParaRPr lang="es-ES" sz="3600" dirty="0"/>
          </a:p>
          <a:p>
            <a:pPr marL="742950" indent="-742950">
              <a:buFont typeface="+mj-lt"/>
              <a:buAutoNum type="arabicPeriod"/>
            </a:pPr>
            <a:r>
              <a:rPr lang="es-ES" sz="3600" b="1" dirty="0"/>
              <a:t>Las FK (Llaves Foráneas) deben ser explícitas</a:t>
            </a:r>
            <a:r>
              <a:rPr lang="es-ES" sz="3600" dirty="0"/>
              <a:t> (son el pegamento del sistema).</a:t>
            </a:r>
          </a:p>
          <a:p>
            <a:pPr>
              <a:buFont typeface="+mj-lt"/>
              <a:buAutoNum type="arabicPeriod"/>
            </a:pPr>
            <a:endParaRPr lang="es-ES" sz="3600" dirty="0"/>
          </a:p>
          <a:p>
            <a:pPr>
              <a:buNone/>
            </a:pPr>
            <a:r>
              <a:rPr lang="es-ES" sz="3600" i="1" dirty="0"/>
              <a:t>"El diablo está en los detalles (y en los tipos de datos)."</a:t>
            </a:r>
            <a:endParaRPr lang="es-ES" sz="3600" dirty="0"/>
          </a:p>
        </p:txBody>
      </p:sp>
    </p:spTree>
    <p:extLst>
      <p:ext uri="{BB962C8B-B14F-4D97-AF65-F5344CB8AC3E}">
        <p14:creationId xmlns:p14="http://schemas.microsoft.com/office/powerpoint/2010/main" val="8055083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8A64D-291D-51A5-422C-C797FD7BAF3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CE9FE5-1AD6-6875-4C8F-7569E8E5A95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EB2E80B4-1D18-EBD6-D7F6-5592C3C5E333}"/>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E3B0764A-E427-B2E8-1EAF-77963628D77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4BDF3F57-431B-684E-3DA8-2E5FD0CDD3C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9B52C04-64FD-E8F5-13B7-A8E94D9FA96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80A44414-A292-CFFE-56C2-48D6AAC1E28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6AC46AA-01CA-BB6D-3BB1-4B3F624F2A2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28AE141-B234-C46E-1FF6-EEFE7ACFDADC}"/>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B50FF735-95C6-891A-EE8E-C3D4098DF86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744D561D-7829-179B-DB72-46235E62C15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920479C8-0BB9-3F25-AF4A-1593BED93F1A}"/>
              </a:ext>
            </a:extLst>
          </p:cNvPr>
          <p:cNvSpPr txBox="1"/>
          <p:nvPr/>
        </p:nvSpPr>
        <p:spPr>
          <a:xfrm>
            <a:off x="2375555" y="484045"/>
            <a:ext cx="15120594" cy="2308324"/>
          </a:xfrm>
          <a:prstGeom prst="rect">
            <a:avLst/>
          </a:prstGeom>
          <a:noFill/>
        </p:spPr>
        <p:txBody>
          <a:bodyPr wrap="square">
            <a:spAutoFit/>
          </a:bodyPr>
          <a:lstStyle/>
          <a:p>
            <a:pPr>
              <a:buNone/>
            </a:pPr>
            <a:r>
              <a:rPr lang="es-ES" sz="2400" b="1" dirty="0"/>
              <a:t>Detallando al Cliente (El Reto de Identidad)</a:t>
            </a:r>
          </a:p>
          <a:p>
            <a:pPr>
              <a:buNone/>
            </a:pPr>
            <a:r>
              <a:rPr lang="es-ES" sz="2400" b="1" dirty="0"/>
              <a:t>Análisis de </a:t>
            </a:r>
            <a:r>
              <a:rPr lang="es-ES" sz="2400" b="1" dirty="0">
                <a:latin typeface="Courier New" panose="02070309020205020404" pitchFamily="49" charset="0"/>
              </a:rPr>
              <a:t>olist_customers_dataset.csv</a:t>
            </a:r>
            <a:endParaRPr lang="es-ES" sz="2400" dirty="0"/>
          </a:p>
          <a:p>
            <a:pPr>
              <a:buNone/>
            </a:pPr>
            <a:r>
              <a:rPr lang="es-ES" sz="2400" dirty="0" err="1"/>
              <a:t>Olist</a:t>
            </a:r>
            <a:r>
              <a:rPr lang="es-ES" sz="2400" dirty="0"/>
              <a:t> tiene una peculiaridad:</a:t>
            </a:r>
          </a:p>
          <a:p>
            <a:pPr>
              <a:buNone/>
            </a:pPr>
            <a:endParaRPr lang="es-ES" sz="2400" dirty="0"/>
          </a:p>
          <a:p>
            <a:pPr marL="457200" indent="-457200">
              <a:buFont typeface="Arial" panose="020B0604020202020204" pitchFamily="34" charset="0"/>
              <a:buChar char="•"/>
            </a:pPr>
            <a:r>
              <a:rPr lang="es-ES" sz="2400" dirty="0" err="1">
                <a:latin typeface="Courier New" panose="02070309020205020404" pitchFamily="49" charset="0"/>
              </a:rPr>
              <a:t>customer_id</a:t>
            </a:r>
            <a:r>
              <a:rPr lang="es-ES" sz="2400" dirty="0"/>
              <a:t>: Es un ID temporal generado </a:t>
            </a:r>
            <a:r>
              <a:rPr lang="es-ES" sz="2400" i="1" dirty="0"/>
              <a:t>para cada pedido</a:t>
            </a:r>
            <a:r>
              <a:rPr lang="es-ES" sz="2400" dirty="0"/>
              <a:t>.</a:t>
            </a:r>
          </a:p>
          <a:p>
            <a:pPr marL="457200" indent="-457200">
              <a:buFont typeface="Arial" panose="020B0604020202020204" pitchFamily="34" charset="0"/>
              <a:buChar char="•"/>
            </a:pPr>
            <a:r>
              <a:rPr lang="es-ES" sz="2400" dirty="0" err="1">
                <a:latin typeface="Courier New" panose="02070309020205020404" pitchFamily="49" charset="0"/>
              </a:rPr>
              <a:t>customer_unique_id</a:t>
            </a:r>
            <a:r>
              <a:rPr lang="es-ES" sz="2400" dirty="0"/>
              <a:t>: Es el ID real del usuario humano.</a:t>
            </a:r>
          </a:p>
        </p:txBody>
      </p:sp>
      <p:graphicFrame>
        <p:nvGraphicFramePr>
          <p:cNvPr id="16" name="Tabla 15">
            <a:extLst>
              <a:ext uri="{FF2B5EF4-FFF2-40B4-BE49-F238E27FC236}">
                <a16:creationId xmlns:a16="http://schemas.microsoft.com/office/drawing/2014/main" id="{86FEAAF7-6B33-3ADF-AAA1-D0DEDD312EF7}"/>
              </a:ext>
            </a:extLst>
          </p:cNvPr>
          <p:cNvGraphicFramePr>
            <a:graphicFrameLocks noGrp="1"/>
          </p:cNvGraphicFramePr>
          <p:nvPr>
            <p:extLst>
              <p:ext uri="{D42A27DB-BD31-4B8C-83A1-F6EECF244321}">
                <p14:modId xmlns:p14="http://schemas.microsoft.com/office/powerpoint/2010/main" val="1999585241"/>
              </p:ext>
            </p:extLst>
          </p:nvPr>
        </p:nvGraphicFramePr>
        <p:xfrm>
          <a:off x="2795048" y="3846288"/>
          <a:ext cx="12529135" cy="5199323"/>
        </p:xfrm>
        <a:graphic>
          <a:graphicData uri="http://schemas.openxmlformats.org/drawingml/2006/table">
            <a:tbl>
              <a:tblPr/>
              <a:tblGrid>
                <a:gridCol w="2505827">
                  <a:extLst>
                    <a:ext uri="{9D8B030D-6E8A-4147-A177-3AD203B41FA5}">
                      <a16:colId xmlns:a16="http://schemas.microsoft.com/office/drawing/2014/main" val="890442694"/>
                    </a:ext>
                  </a:extLst>
                </a:gridCol>
                <a:gridCol w="2505827">
                  <a:extLst>
                    <a:ext uri="{9D8B030D-6E8A-4147-A177-3AD203B41FA5}">
                      <a16:colId xmlns:a16="http://schemas.microsoft.com/office/drawing/2014/main" val="1413941069"/>
                    </a:ext>
                  </a:extLst>
                </a:gridCol>
                <a:gridCol w="2505827">
                  <a:extLst>
                    <a:ext uri="{9D8B030D-6E8A-4147-A177-3AD203B41FA5}">
                      <a16:colId xmlns:a16="http://schemas.microsoft.com/office/drawing/2014/main" val="1213128917"/>
                    </a:ext>
                  </a:extLst>
                </a:gridCol>
                <a:gridCol w="2505827">
                  <a:extLst>
                    <a:ext uri="{9D8B030D-6E8A-4147-A177-3AD203B41FA5}">
                      <a16:colId xmlns:a16="http://schemas.microsoft.com/office/drawing/2014/main" val="3768673374"/>
                    </a:ext>
                  </a:extLst>
                </a:gridCol>
                <a:gridCol w="2505827">
                  <a:extLst>
                    <a:ext uri="{9D8B030D-6E8A-4147-A177-3AD203B41FA5}">
                      <a16:colId xmlns:a16="http://schemas.microsoft.com/office/drawing/2014/main" val="432732811"/>
                    </a:ext>
                  </a:extLst>
                </a:gridCol>
              </a:tblGrid>
              <a:tr h="474947">
                <a:tc>
                  <a:txBody>
                    <a:bodyPr/>
                    <a:lstStyle/>
                    <a:p>
                      <a:pPr>
                        <a:buNone/>
                      </a:pPr>
                      <a:r>
                        <a:rPr lang="es-CO" sz="1800" dirty="0"/>
                        <a:t>Campo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Tipo Sugerido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¿Requerido?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¿Indexado?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Justificación Técnica</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399745"/>
                  </a:ext>
                </a:extLst>
              </a:tr>
              <a:tr h="1061646">
                <a:tc>
                  <a:txBody>
                    <a:bodyPr/>
                    <a:lstStyle/>
                    <a:p>
                      <a:pPr>
                        <a:buNone/>
                      </a:pPr>
                      <a:r>
                        <a:rPr lang="es-CO" sz="1800" b="1" dirty="0" err="1"/>
                        <a:t>customer_id</a:t>
                      </a:r>
                      <a:endParaRPr lang="es-CO" sz="1800" dirty="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dirty="0">
                          <a:latin typeface="Courier New" panose="02070309020205020404" pitchFamily="49" charset="0"/>
                        </a:rPr>
                        <a:t>CHAR(32)</a:t>
                      </a:r>
                      <a:endParaRPr lang="es-CO" sz="1800" dirty="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r>
                        <a:rPr lang="es-CO" sz="1800"/>
                        <a:t> (PK)</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r>
                        <a:rPr lang="es-CO" sz="1800"/>
                        <a:t> (Auto)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800"/>
                        <a:t>Es un hash fijo (hexadecimal). Usar </a:t>
                      </a:r>
                      <a:r>
                        <a:rPr lang="es-ES" sz="1800">
                          <a:latin typeface="Courier New" panose="02070309020205020404" pitchFamily="49" charset="0"/>
                        </a:rPr>
                        <a:t>VARCHAR</a:t>
                      </a:r>
                      <a:r>
                        <a:rPr lang="es-ES" sz="1800"/>
                        <a:t> desperdiciaría CPU.</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6929776"/>
                  </a:ext>
                </a:extLst>
              </a:tr>
              <a:tr h="866079">
                <a:tc>
                  <a:txBody>
                    <a:bodyPr/>
                    <a:lstStyle/>
                    <a:p>
                      <a:pPr>
                        <a:buNone/>
                      </a:pPr>
                      <a:r>
                        <a:rPr lang="es-CO" sz="1800" b="1"/>
                        <a:t>customer_unique_id</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CHAR(32)</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dirty="0"/>
                        <a:t>SÍ</a:t>
                      </a:r>
                      <a:endParaRPr lang="es-CO" sz="1800" dirty="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dirty="0"/>
                        <a:t>SÍ</a:t>
                      </a:r>
                      <a:endParaRPr lang="es-CO" sz="1800" dirty="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dirty="0"/>
                        <a:t>Vital para análisis de recurrencia (</a:t>
                      </a:r>
                      <a:r>
                        <a:rPr lang="es-CO" sz="1800" dirty="0" err="1"/>
                        <a:t>Cohort</a:t>
                      </a:r>
                      <a:r>
                        <a:rPr lang="es-CO" sz="1800" dirty="0"/>
                        <a:t> </a:t>
                      </a:r>
                      <a:r>
                        <a:rPr lang="es-CO" sz="1800" dirty="0" err="1"/>
                        <a:t>Analysis</a:t>
                      </a:r>
                      <a:r>
                        <a:rPr lang="es-CO" sz="1800" dirty="0"/>
                        <a:t>). Cardinalidad alta.</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448435"/>
                  </a:ext>
                </a:extLst>
              </a:tr>
              <a:tr h="1061646">
                <a:tc>
                  <a:txBody>
                    <a:bodyPr/>
                    <a:lstStyle/>
                    <a:p>
                      <a:pPr>
                        <a:buNone/>
                      </a:pPr>
                      <a:r>
                        <a:rPr lang="es-CO" sz="1800" b="1"/>
                        <a:t>zip_code_prefix</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VARCHAR(5)</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800" dirty="0"/>
                        <a:t>Se usará frecuentemente en </a:t>
                      </a:r>
                      <a:r>
                        <a:rPr lang="es-ES" sz="1800" dirty="0" err="1"/>
                        <a:t>JOINs</a:t>
                      </a:r>
                      <a:r>
                        <a:rPr lang="es-ES" sz="1800" dirty="0"/>
                        <a:t> con la tabla de Geolocalización.</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8336218"/>
                  </a:ext>
                </a:extLst>
              </a:tr>
              <a:tr h="1061646">
                <a:tc>
                  <a:txBody>
                    <a:bodyPr/>
                    <a:lstStyle/>
                    <a:p>
                      <a:pPr>
                        <a:buNone/>
                      </a:pPr>
                      <a:r>
                        <a:rPr lang="es-CO" sz="1800" b="1"/>
                        <a:t>city</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VARCHAR(50)</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dirty="0"/>
                        <a:t>SÍ</a:t>
                      </a:r>
                      <a:endParaRPr lang="es-CO" sz="1800" dirty="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No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800" dirty="0"/>
                        <a:t>Cardinalidad media. Rara vez se busca por ciudad exacta sin estado.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6670865"/>
                  </a:ext>
                </a:extLst>
              </a:tr>
            </a:tbl>
          </a:graphicData>
        </a:graphic>
      </p:graphicFrame>
    </p:spTree>
    <p:extLst>
      <p:ext uri="{BB962C8B-B14F-4D97-AF65-F5344CB8AC3E}">
        <p14:creationId xmlns:p14="http://schemas.microsoft.com/office/powerpoint/2010/main" val="32191521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B408F-703A-70B0-83DC-B34E3B78DE3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F4776FC-2F53-5E0F-0F15-19446EE7B12A}"/>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01F88C7-93C5-AB48-6BBD-528F5EA5624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52F0A97-C682-F162-DF35-38AF6CB1B7C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DC7E167-C60C-2377-EFF0-978309AB87B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7BDFA9F-927B-B035-1D0B-FCFA18D2415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63F0211-7E5F-1BC6-1453-D8CE105E06E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E9C5F0A-A457-678A-B5B6-1D2A041FC92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6A8DCA8D-07CF-D16B-242C-0D9E2C6053E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CA543DAE-9D31-4338-A99E-4BBBA07B05B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EFC2A86B-B776-5C99-0550-C38AF9EAA0FE}"/>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pic>
        <p:nvPicPr>
          <p:cNvPr id="14" name="Imagen 13">
            <a:extLst>
              <a:ext uri="{FF2B5EF4-FFF2-40B4-BE49-F238E27FC236}">
                <a16:creationId xmlns:a16="http://schemas.microsoft.com/office/drawing/2014/main" id="{940942C0-022C-5D63-ECF7-E7F92F30784B}"/>
              </a:ext>
            </a:extLst>
          </p:cNvPr>
          <p:cNvPicPr>
            <a:picLocks noChangeAspect="1"/>
          </p:cNvPicPr>
          <p:nvPr/>
        </p:nvPicPr>
        <p:blipFill>
          <a:blip r:embed="rId5"/>
          <a:stretch>
            <a:fillRect/>
          </a:stretch>
        </p:blipFill>
        <p:spPr>
          <a:xfrm>
            <a:off x="4284178" y="2299007"/>
            <a:ext cx="9983593" cy="5544324"/>
          </a:xfrm>
          <a:prstGeom prst="rect">
            <a:avLst/>
          </a:prstGeom>
        </p:spPr>
      </p:pic>
    </p:spTree>
    <p:extLst>
      <p:ext uri="{BB962C8B-B14F-4D97-AF65-F5344CB8AC3E}">
        <p14:creationId xmlns:p14="http://schemas.microsoft.com/office/powerpoint/2010/main" val="33906445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0F299-8CD1-660A-96B6-1542F22029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77D3A3B-5037-0936-B10A-DCE246CA7A5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27852E8-B8F4-C478-E749-97044D3EE4D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ABDED500-7720-836B-4E0F-D740D8261775}"/>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FB6D7200-5A79-9FDC-8320-CE5F838F389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72BE93B-187D-4E17-0A8B-EAC6DDF4F94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650DE2AB-503A-19D5-04F1-A52EC6E04F2F}"/>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9F3A714B-5E64-11F6-227C-B41B50074ED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BD91D86-A40C-4FFE-F9AA-2F5C34B5390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6DCA89EC-F28F-1177-4A8B-9D8000E10192}"/>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112D14D3-F8E0-ABAE-0D85-B58666A72FA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40EBE69D-0824-F371-8A2A-1648B441EEA9}"/>
              </a:ext>
            </a:extLst>
          </p:cNvPr>
          <p:cNvSpPr txBox="1"/>
          <p:nvPr/>
        </p:nvSpPr>
        <p:spPr>
          <a:xfrm>
            <a:off x="1059238" y="3066008"/>
            <a:ext cx="5863473" cy="4154984"/>
          </a:xfrm>
          <a:prstGeom prst="rect">
            <a:avLst/>
          </a:prstGeom>
          <a:noFill/>
        </p:spPr>
        <p:txBody>
          <a:bodyPr wrap="square">
            <a:spAutoFit/>
          </a:bodyPr>
          <a:lstStyle/>
          <a:p>
            <a:pPr>
              <a:buNone/>
            </a:pPr>
            <a:r>
              <a:rPr lang="es-ES" sz="3200" b="1" dirty="0"/>
              <a:t>La Orden y sus Tiempos</a:t>
            </a:r>
          </a:p>
          <a:p>
            <a:pPr>
              <a:buNone/>
            </a:pPr>
            <a:r>
              <a:rPr lang="es-ES" sz="3200" b="1" dirty="0"/>
              <a:t>Análisis de </a:t>
            </a:r>
            <a:r>
              <a:rPr lang="es-ES" sz="3200" b="1" dirty="0" err="1">
                <a:latin typeface="Courier New" panose="02070309020205020404" pitchFamily="49" charset="0"/>
              </a:rPr>
              <a:t>olist_orders</a:t>
            </a:r>
            <a:endParaRPr lang="es-ES" sz="3200" b="1" dirty="0">
              <a:latin typeface="Courier New" panose="02070309020205020404" pitchFamily="49" charset="0"/>
            </a:endParaRPr>
          </a:p>
          <a:p>
            <a:pPr>
              <a:buNone/>
            </a:pPr>
            <a:endParaRPr lang="es-ES" sz="4000" dirty="0"/>
          </a:p>
          <a:p>
            <a:pPr>
              <a:buNone/>
            </a:pPr>
            <a:r>
              <a:rPr lang="es-ES" sz="4000" dirty="0"/>
              <a:t>Una orden no es solo un ID, es una historia en el tiempo. Necesitamos </a:t>
            </a:r>
            <a:r>
              <a:rPr lang="es-ES" sz="4000" i="1" dirty="0" err="1"/>
              <a:t>Timestamps</a:t>
            </a:r>
            <a:r>
              <a:rPr lang="es-ES" sz="4000" dirty="0"/>
              <a:t>.</a:t>
            </a:r>
          </a:p>
        </p:txBody>
      </p:sp>
      <p:pic>
        <p:nvPicPr>
          <p:cNvPr id="17" name="Imagen 16">
            <a:extLst>
              <a:ext uri="{FF2B5EF4-FFF2-40B4-BE49-F238E27FC236}">
                <a16:creationId xmlns:a16="http://schemas.microsoft.com/office/drawing/2014/main" id="{3F7DFDA5-B73A-7FEE-AD46-EF25EDC61F0F}"/>
              </a:ext>
            </a:extLst>
          </p:cNvPr>
          <p:cNvPicPr>
            <a:picLocks noChangeAspect="1"/>
          </p:cNvPicPr>
          <p:nvPr/>
        </p:nvPicPr>
        <p:blipFill>
          <a:blip r:embed="rId5"/>
          <a:stretch>
            <a:fillRect/>
          </a:stretch>
        </p:blipFill>
        <p:spPr>
          <a:xfrm>
            <a:off x="7864487" y="1791810"/>
            <a:ext cx="9440592" cy="7306695"/>
          </a:xfrm>
          <a:prstGeom prst="rect">
            <a:avLst/>
          </a:prstGeom>
        </p:spPr>
      </p:pic>
    </p:spTree>
    <p:extLst>
      <p:ext uri="{BB962C8B-B14F-4D97-AF65-F5344CB8AC3E}">
        <p14:creationId xmlns:p14="http://schemas.microsoft.com/office/powerpoint/2010/main" val="9794065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43F15-F006-AADB-B561-A19135DA8F4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6A679F-6806-1D7E-65C4-E9FB6AFD36B0}"/>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4AA2E31-0BFB-A2A2-2C19-350B7DE0DC5D}"/>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DAC5E921-94A3-1A1B-94E9-EFA69D98531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1075DB71-BBAB-172F-7A54-6C021737CC8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21E3D02-2347-66D4-D272-F6E184D1C33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EEC37227-95FC-902C-B788-FD62562B889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4BD12AA-F368-7C23-5654-1AF8BEC551F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2965CE2-3AA6-A9BD-FD1F-4239805A11F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2A695EF5-30B2-4AFC-9F49-E440E84A79B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0C3BE467-83D9-1A7E-0E11-8CC0EC14F70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4" name="Tabla 13">
            <a:extLst>
              <a:ext uri="{FF2B5EF4-FFF2-40B4-BE49-F238E27FC236}">
                <a16:creationId xmlns:a16="http://schemas.microsoft.com/office/drawing/2014/main" id="{9AB27EFD-4492-A836-526D-012F3CD2C7A3}"/>
              </a:ext>
            </a:extLst>
          </p:cNvPr>
          <p:cNvGraphicFramePr>
            <a:graphicFrameLocks noGrp="1"/>
          </p:cNvGraphicFramePr>
          <p:nvPr>
            <p:extLst>
              <p:ext uri="{D42A27DB-BD31-4B8C-83A1-F6EECF244321}">
                <p14:modId xmlns:p14="http://schemas.microsoft.com/office/powerpoint/2010/main" val="2936224747"/>
              </p:ext>
            </p:extLst>
          </p:nvPr>
        </p:nvGraphicFramePr>
        <p:xfrm>
          <a:off x="3307893" y="2543838"/>
          <a:ext cx="12529135" cy="4525964"/>
        </p:xfrm>
        <a:graphic>
          <a:graphicData uri="http://schemas.openxmlformats.org/drawingml/2006/table">
            <a:tbl>
              <a:tblPr/>
              <a:tblGrid>
                <a:gridCol w="2505827">
                  <a:extLst>
                    <a:ext uri="{9D8B030D-6E8A-4147-A177-3AD203B41FA5}">
                      <a16:colId xmlns:a16="http://schemas.microsoft.com/office/drawing/2014/main" val="2610676289"/>
                    </a:ext>
                  </a:extLst>
                </a:gridCol>
                <a:gridCol w="2505827">
                  <a:extLst>
                    <a:ext uri="{9D8B030D-6E8A-4147-A177-3AD203B41FA5}">
                      <a16:colId xmlns:a16="http://schemas.microsoft.com/office/drawing/2014/main" val="1097042710"/>
                    </a:ext>
                  </a:extLst>
                </a:gridCol>
                <a:gridCol w="2505827">
                  <a:extLst>
                    <a:ext uri="{9D8B030D-6E8A-4147-A177-3AD203B41FA5}">
                      <a16:colId xmlns:a16="http://schemas.microsoft.com/office/drawing/2014/main" val="2996412133"/>
                    </a:ext>
                  </a:extLst>
                </a:gridCol>
                <a:gridCol w="2505827">
                  <a:extLst>
                    <a:ext uri="{9D8B030D-6E8A-4147-A177-3AD203B41FA5}">
                      <a16:colId xmlns:a16="http://schemas.microsoft.com/office/drawing/2014/main" val="1842422476"/>
                    </a:ext>
                  </a:extLst>
                </a:gridCol>
                <a:gridCol w="2505827">
                  <a:extLst>
                    <a:ext uri="{9D8B030D-6E8A-4147-A177-3AD203B41FA5}">
                      <a16:colId xmlns:a16="http://schemas.microsoft.com/office/drawing/2014/main" val="4203989792"/>
                    </a:ext>
                  </a:extLst>
                </a:gridCol>
              </a:tblGrid>
              <a:tr h="474947">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extLst>
                  <a:ext uri="{0D108BD9-81ED-4DB2-BD59-A6C34878D82A}">
                    <a16:rowId xmlns:a16="http://schemas.microsoft.com/office/drawing/2014/main" val="221086454"/>
                  </a:ext>
                </a:extLst>
              </a:tr>
              <a:tr h="1061646">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a:p>
                  </a:txBody>
                  <a:tcPr marL="83814" marR="83814" marT="41907" marB="41907" anchor="ctr">
                    <a:lnL>
                      <a:noFill/>
                    </a:lnL>
                    <a:lnR>
                      <a:noFill/>
                    </a:lnR>
                    <a:lnT>
                      <a:noFill/>
                    </a:lnT>
                    <a:lnB>
                      <a:noFill/>
                    </a:lnB>
                    <a:noFill/>
                  </a:tcPr>
                </a:tc>
                <a:extLst>
                  <a:ext uri="{0D108BD9-81ED-4DB2-BD59-A6C34878D82A}">
                    <a16:rowId xmlns:a16="http://schemas.microsoft.com/office/drawing/2014/main" val="1123942537"/>
                  </a:ext>
                </a:extLst>
              </a:tr>
              <a:tr h="866079">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4154553749"/>
                  </a:ext>
                </a:extLst>
              </a:tr>
              <a:tr h="1061646">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145045285"/>
                  </a:ext>
                </a:extLst>
              </a:tr>
              <a:tr h="1061646">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2686714905"/>
                  </a:ext>
                </a:extLst>
              </a:tr>
            </a:tbl>
          </a:graphicData>
        </a:graphic>
      </p:graphicFrame>
      <p:graphicFrame>
        <p:nvGraphicFramePr>
          <p:cNvPr id="16" name="Tabla 15">
            <a:extLst>
              <a:ext uri="{FF2B5EF4-FFF2-40B4-BE49-F238E27FC236}">
                <a16:creationId xmlns:a16="http://schemas.microsoft.com/office/drawing/2014/main" id="{4C9D6250-E448-7460-9173-240854D68823}"/>
              </a:ext>
            </a:extLst>
          </p:cNvPr>
          <p:cNvGraphicFramePr>
            <a:graphicFrameLocks noGrp="1"/>
          </p:cNvGraphicFramePr>
          <p:nvPr>
            <p:extLst>
              <p:ext uri="{D42A27DB-BD31-4B8C-83A1-F6EECF244321}">
                <p14:modId xmlns:p14="http://schemas.microsoft.com/office/powerpoint/2010/main" val="3848560212"/>
              </p:ext>
            </p:extLst>
          </p:nvPr>
        </p:nvGraphicFramePr>
        <p:xfrm>
          <a:off x="3709447" y="2099369"/>
          <a:ext cx="11939045" cy="6469596"/>
        </p:xfrm>
        <a:graphic>
          <a:graphicData uri="http://schemas.openxmlformats.org/drawingml/2006/table">
            <a:tbl>
              <a:tblPr/>
              <a:tblGrid>
                <a:gridCol w="2387809">
                  <a:extLst>
                    <a:ext uri="{9D8B030D-6E8A-4147-A177-3AD203B41FA5}">
                      <a16:colId xmlns:a16="http://schemas.microsoft.com/office/drawing/2014/main" val="1284767178"/>
                    </a:ext>
                  </a:extLst>
                </a:gridCol>
                <a:gridCol w="2387809">
                  <a:extLst>
                    <a:ext uri="{9D8B030D-6E8A-4147-A177-3AD203B41FA5}">
                      <a16:colId xmlns:a16="http://schemas.microsoft.com/office/drawing/2014/main" val="2554771435"/>
                    </a:ext>
                  </a:extLst>
                </a:gridCol>
                <a:gridCol w="2387809">
                  <a:extLst>
                    <a:ext uri="{9D8B030D-6E8A-4147-A177-3AD203B41FA5}">
                      <a16:colId xmlns:a16="http://schemas.microsoft.com/office/drawing/2014/main" val="2141170073"/>
                    </a:ext>
                  </a:extLst>
                </a:gridCol>
                <a:gridCol w="2387809">
                  <a:extLst>
                    <a:ext uri="{9D8B030D-6E8A-4147-A177-3AD203B41FA5}">
                      <a16:colId xmlns:a16="http://schemas.microsoft.com/office/drawing/2014/main" val="1136245862"/>
                    </a:ext>
                  </a:extLst>
                </a:gridCol>
                <a:gridCol w="2387809">
                  <a:extLst>
                    <a:ext uri="{9D8B030D-6E8A-4147-A177-3AD203B41FA5}">
                      <a16:colId xmlns:a16="http://schemas.microsoft.com/office/drawing/2014/main" val="831216041"/>
                    </a:ext>
                  </a:extLst>
                </a:gridCol>
              </a:tblGrid>
              <a:tr h="696726">
                <a:tc>
                  <a:txBody>
                    <a:bodyPr/>
                    <a:lstStyle/>
                    <a:p>
                      <a:pPr>
                        <a:buNone/>
                      </a:pPr>
                      <a:r>
                        <a:rPr lang="es-CO" sz="1800" dirty="0"/>
                        <a:t>Campo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Tipo Sugerido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¿Requerido?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¿Indexado?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Justificación Técnica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8917749"/>
                  </a:ext>
                </a:extLst>
              </a:tr>
              <a:tr h="696726">
                <a:tc>
                  <a:txBody>
                    <a:bodyPr/>
                    <a:lstStyle/>
                    <a:p>
                      <a:pPr>
                        <a:buNone/>
                      </a:pPr>
                      <a:r>
                        <a:rPr lang="es-CO" sz="1800" b="1"/>
                        <a:t>order_id</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CHAR(32)</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r>
                        <a:rPr lang="es-CO" sz="1800"/>
                        <a:t> (PK)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r>
                        <a:rPr lang="es-CO" sz="1800"/>
                        <a:t> (Auto)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Identificador principal.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4017533"/>
                  </a:ext>
                </a:extLst>
              </a:tr>
              <a:tr h="2189709">
                <a:tc>
                  <a:txBody>
                    <a:bodyPr/>
                    <a:lstStyle/>
                    <a:p>
                      <a:pPr>
                        <a:buNone/>
                      </a:pPr>
                      <a:r>
                        <a:rPr lang="es-CO" sz="1800" b="1"/>
                        <a:t>order_status</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VARCHAR(20)</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Cardinalidad baja (aprox 8 estados), pero esencial para filtrar "dashboards operativos".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2695969"/>
                  </a:ext>
                </a:extLst>
              </a:tr>
              <a:tr h="1592516">
                <a:tc>
                  <a:txBody>
                    <a:bodyPr/>
                    <a:lstStyle/>
                    <a:p>
                      <a:pPr>
                        <a:buNone/>
                      </a:pPr>
                      <a:r>
                        <a:rPr lang="es-CO" sz="1800" b="1"/>
                        <a:t>purchase_timestamp</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TIMESTAMP</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800"/>
                        <a:t>Filtro #1 en reportes ("Ventas de Ayer"). Indispensable el índice.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0241806"/>
                  </a:ext>
                </a:extLst>
              </a:tr>
              <a:tr h="1293919">
                <a:tc>
                  <a:txBody>
                    <a:bodyPr/>
                    <a:lstStyle/>
                    <a:p>
                      <a:pPr>
                        <a:buNone/>
                      </a:pPr>
                      <a:r>
                        <a:rPr lang="es-CO" sz="1800" b="1"/>
                        <a:t>delivered_customer_date</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TIMESTAMP</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NO</a:t>
                      </a:r>
                      <a:r>
                        <a:rPr lang="es-CO" sz="1800"/>
                        <a:t> (Nullable)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800" b="1" dirty="0"/>
                        <a:t>Alerta:</a:t>
                      </a:r>
                      <a:r>
                        <a:rPr lang="es-ES" sz="1800" dirty="0"/>
                        <a:t> Al crear la orden, esto </a:t>
                      </a:r>
                      <a:r>
                        <a:rPr lang="es-ES" sz="1800" i="1" dirty="0"/>
                        <a:t>aún no existe</a:t>
                      </a:r>
                      <a:r>
                        <a:rPr lang="es-ES" sz="1800" dirty="0"/>
                        <a:t>. Debe permitir </a:t>
                      </a:r>
                      <a:r>
                        <a:rPr lang="es-ES" sz="1800" dirty="0">
                          <a:latin typeface="Courier New" panose="02070309020205020404" pitchFamily="49" charset="0"/>
                        </a:rPr>
                        <a:t>NULL</a:t>
                      </a:r>
                      <a:r>
                        <a:rPr lang="es-ES" sz="1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3566175"/>
                  </a:ext>
                </a:extLst>
              </a:tr>
            </a:tbl>
          </a:graphicData>
        </a:graphic>
      </p:graphicFrame>
    </p:spTree>
    <p:extLst>
      <p:ext uri="{BB962C8B-B14F-4D97-AF65-F5344CB8AC3E}">
        <p14:creationId xmlns:p14="http://schemas.microsoft.com/office/powerpoint/2010/main" val="20274692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1F1CA-CE3C-80EC-958F-3D6F85E4F2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B120D37-B13F-E009-1698-0A5039C7DC47}"/>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782E2A64-E620-4FDC-9B66-5289A7F9C27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2FE41A3-13F3-5604-025F-5044A3E1EAA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2CB14D35-FCF1-79DC-20F6-E9CB2B78616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AEF11FF-008F-170C-E3CC-8A20BB0335E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05D55CA-5EC6-4454-5600-A8CD31C2E96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E54844F-56D4-13CD-9734-93ED83C8DC5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CD653AC-B10C-6913-461A-A733077ED638}"/>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31A46772-220F-84E5-F83C-2A392928B81E}"/>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CAB9A545-5F19-5C87-61BB-E4975483C14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4" name="Tabla 13">
            <a:extLst>
              <a:ext uri="{FF2B5EF4-FFF2-40B4-BE49-F238E27FC236}">
                <a16:creationId xmlns:a16="http://schemas.microsoft.com/office/drawing/2014/main" id="{EE6C87CF-376D-1945-404D-9C849BB44C12}"/>
              </a:ext>
            </a:extLst>
          </p:cNvPr>
          <p:cNvGraphicFramePr>
            <a:graphicFrameLocks noGrp="1"/>
          </p:cNvGraphicFramePr>
          <p:nvPr/>
        </p:nvGraphicFramePr>
        <p:xfrm>
          <a:off x="3307893" y="2543838"/>
          <a:ext cx="12529135" cy="4525964"/>
        </p:xfrm>
        <a:graphic>
          <a:graphicData uri="http://schemas.openxmlformats.org/drawingml/2006/table">
            <a:tbl>
              <a:tblPr/>
              <a:tblGrid>
                <a:gridCol w="2505827">
                  <a:extLst>
                    <a:ext uri="{9D8B030D-6E8A-4147-A177-3AD203B41FA5}">
                      <a16:colId xmlns:a16="http://schemas.microsoft.com/office/drawing/2014/main" val="2610676289"/>
                    </a:ext>
                  </a:extLst>
                </a:gridCol>
                <a:gridCol w="2505827">
                  <a:extLst>
                    <a:ext uri="{9D8B030D-6E8A-4147-A177-3AD203B41FA5}">
                      <a16:colId xmlns:a16="http://schemas.microsoft.com/office/drawing/2014/main" val="1097042710"/>
                    </a:ext>
                  </a:extLst>
                </a:gridCol>
                <a:gridCol w="2505827">
                  <a:extLst>
                    <a:ext uri="{9D8B030D-6E8A-4147-A177-3AD203B41FA5}">
                      <a16:colId xmlns:a16="http://schemas.microsoft.com/office/drawing/2014/main" val="2996412133"/>
                    </a:ext>
                  </a:extLst>
                </a:gridCol>
                <a:gridCol w="2505827">
                  <a:extLst>
                    <a:ext uri="{9D8B030D-6E8A-4147-A177-3AD203B41FA5}">
                      <a16:colId xmlns:a16="http://schemas.microsoft.com/office/drawing/2014/main" val="1842422476"/>
                    </a:ext>
                  </a:extLst>
                </a:gridCol>
                <a:gridCol w="2505827">
                  <a:extLst>
                    <a:ext uri="{9D8B030D-6E8A-4147-A177-3AD203B41FA5}">
                      <a16:colId xmlns:a16="http://schemas.microsoft.com/office/drawing/2014/main" val="4203989792"/>
                    </a:ext>
                  </a:extLst>
                </a:gridCol>
              </a:tblGrid>
              <a:tr h="474947">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extLst>
                  <a:ext uri="{0D108BD9-81ED-4DB2-BD59-A6C34878D82A}">
                    <a16:rowId xmlns:a16="http://schemas.microsoft.com/office/drawing/2014/main" val="221086454"/>
                  </a:ext>
                </a:extLst>
              </a:tr>
              <a:tr h="1061646">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a:p>
                  </a:txBody>
                  <a:tcPr marL="83814" marR="83814" marT="41907" marB="41907" anchor="ctr">
                    <a:lnL>
                      <a:noFill/>
                    </a:lnL>
                    <a:lnR>
                      <a:noFill/>
                    </a:lnR>
                    <a:lnT>
                      <a:noFill/>
                    </a:lnT>
                    <a:lnB>
                      <a:noFill/>
                    </a:lnB>
                    <a:noFill/>
                  </a:tcPr>
                </a:tc>
                <a:extLst>
                  <a:ext uri="{0D108BD9-81ED-4DB2-BD59-A6C34878D82A}">
                    <a16:rowId xmlns:a16="http://schemas.microsoft.com/office/drawing/2014/main" val="1123942537"/>
                  </a:ext>
                </a:extLst>
              </a:tr>
              <a:tr h="866079">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4154553749"/>
                  </a:ext>
                </a:extLst>
              </a:tr>
              <a:tr h="1061646">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145045285"/>
                  </a:ext>
                </a:extLst>
              </a:tr>
              <a:tr h="1061646">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2686714905"/>
                  </a:ext>
                </a:extLst>
              </a:tr>
            </a:tbl>
          </a:graphicData>
        </a:graphic>
      </p:graphicFrame>
      <p:graphicFrame>
        <p:nvGraphicFramePr>
          <p:cNvPr id="12" name="Tabla 11">
            <a:extLst>
              <a:ext uri="{FF2B5EF4-FFF2-40B4-BE49-F238E27FC236}">
                <a16:creationId xmlns:a16="http://schemas.microsoft.com/office/drawing/2014/main" id="{E04A860C-FFBE-C935-FD04-B394E5C4F715}"/>
              </a:ext>
            </a:extLst>
          </p:cNvPr>
          <p:cNvGraphicFramePr>
            <a:graphicFrameLocks noGrp="1"/>
          </p:cNvGraphicFramePr>
          <p:nvPr>
            <p:extLst>
              <p:ext uri="{D42A27DB-BD31-4B8C-83A1-F6EECF244321}">
                <p14:modId xmlns:p14="http://schemas.microsoft.com/office/powerpoint/2010/main" val="363717402"/>
              </p:ext>
            </p:extLst>
          </p:nvPr>
        </p:nvGraphicFramePr>
        <p:xfrm>
          <a:off x="2975910" y="3626190"/>
          <a:ext cx="13551035" cy="4023360"/>
        </p:xfrm>
        <a:graphic>
          <a:graphicData uri="http://schemas.openxmlformats.org/drawingml/2006/table">
            <a:tbl>
              <a:tblPr/>
              <a:tblGrid>
                <a:gridCol w="2710207">
                  <a:extLst>
                    <a:ext uri="{9D8B030D-6E8A-4147-A177-3AD203B41FA5}">
                      <a16:colId xmlns:a16="http://schemas.microsoft.com/office/drawing/2014/main" val="2718596261"/>
                    </a:ext>
                  </a:extLst>
                </a:gridCol>
                <a:gridCol w="2710207">
                  <a:extLst>
                    <a:ext uri="{9D8B030D-6E8A-4147-A177-3AD203B41FA5}">
                      <a16:colId xmlns:a16="http://schemas.microsoft.com/office/drawing/2014/main" val="432804879"/>
                    </a:ext>
                  </a:extLst>
                </a:gridCol>
                <a:gridCol w="2710207">
                  <a:extLst>
                    <a:ext uri="{9D8B030D-6E8A-4147-A177-3AD203B41FA5}">
                      <a16:colId xmlns:a16="http://schemas.microsoft.com/office/drawing/2014/main" val="3216433560"/>
                    </a:ext>
                  </a:extLst>
                </a:gridCol>
                <a:gridCol w="2710207">
                  <a:extLst>
                    <a:ext uri="{9D8B030D-6E8A-4147-A177-3AD203B41FA5}">
                      <a16:colId xmlns:a16="http://schemas.microsoft.com/office/drawing/2014/main" val="994954247"/>
                    </a:ext>
                  </a:extLst>
                </a:gridCol>
                <a:gridCol w="2710207">
                  <a:extLst>
                    <a:ext uri="{9D8B030D-6E8A-4147-A177-3AD203B41FA5}">
                      <a16:colId xmlns:a16="http://schemas.microsoft.com/office/drawing/2014/main" val="2358417906"/>
                    </a:ext>
                  </a:extLst>
                </a:gridCol>
              </a:tblGrid>
              <a:tr h="0">
                <a:tc>
                  <a:txBody>
                    <a:bodyPr/>
                    <a:lstStyle/>
                    <a:p>
                      <a:pPr>
                        <a:buNone/>
                      </a:pPr>
                      <a:r>
                        <a:rPr lang="es-CO" sz="2000" dirty="0"/>
                        <a:t>Campo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Tipo Sugerido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¿Requerido?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¿Indexado?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Justificación Técnica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8537495"/>
                  </a:ext>
                </a:extLst>
              </a:tr>
              <a:tr h="477612">
                <a:tc>
                  <a:txBody>
                    <a:bodyPr/>
                    <a:lstStyle/>
                    <a:p>
                      <a:pPr>
                        <a:buNone/>
                      </a:pPr>
                      <a:r>
                        <a:rPr lang="es-CO" sz="2000" b="1" dirty="0" err="1"/>
                        <a:t>product_id</a:t>
                      </a:r>
                      <a:endParaRPr lang="es-CO"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dirty="0">
                          <a:latin typeface="Courier New" panose="02070309020205020404" pitchFamily="49" charset="0"/>
                        </a:rPr>
                        <a:t>CHAR(32)</a:t>
                      </a:r>
                      <a:endParaRPr lang="es-CO"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b="1"/>
                        <a:t>SÍ</a:t>
                      </a:r>
                      <a:r>
                        <a:rPr lang="es-CO" sz="2000"/>
                        <a:t> (FK)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b="1"/>
                        <a:t>SÍ</a:t>
                      </a:r>
                      <a:endParaRPr lang="es-CO"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FK estándar para JOINs.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3423353"/>
                  </a:ext>
                </a:extLst>
              </a:tr>
              <a:tr h="0">
                <a:tc>
                  <a:txBody>
                    <a:bodyPr/>
                    <a:lstStyle/>
                    <a:p>
                      <a:pPr>
                        <a:buNone/>
                      </a:pPr>
                      <a:r>
                        <a:rPr lang="es-CO" sz="2000" b="1" dirty="0" err="1"/>
                        <a:t>price</a:t>
                      </a:r>
                      <a:endParaRPr lang="es-CO"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latin typeface="Courier New" panose="02070309020205020404" pitchFamily="49" charset="0"/>
                        </a:rPr>
                        <a:t>DECIMAL(10,2)</a:t>
                      </a:r>
                      <a:endParaRPr lang="es-CO"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b="1" dirty="0"/>
                        <a:t>SÍ</a:t>
                      </a:r>
                      <a:endParaRPr lang="es-CO"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dirty="0"/>
                        <a:t>Nunca usar </a:t>
                      </a:r>
                      <a:r>
                        <a:rPr lang="es-CO" sz="2000" dirty="0">
                          <a:latin typeface="Courier New" panose="02070309020205020404" pitchFamily="49" charset="0"/>
                        </a:rPr>
                        <a:t>FLOAT</a:t>
                      </a:r>
                      <a:r>
                        <a:rPr lang="es-CO" sz="2000" dirty="0"/>
                        <a:t> para dinero. No se suele indexar salvo para rangos de precio.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9688924"/>
                  </a:ext>
                </a:extLst>
              </a:tr>
              <a:tr h="0">
                <a:tc>
                  <a:txBody>
                    <a:bodyPr/>
                    <a:lstStyle/>
                    <a:p>
                      <a:pPr>
                        <a:buNone/>
                      </a:pPr>
                      <a:r>
                        <a:rPr lang="es-CO" sz="2000" b="1"/>
                        <a:t>order_item_id</a:t>
                      </a:r>
                      <a:endParaRPr lang="es-CO"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latin typeface="Courier New" panose="02070309020205020404" pitchFamily="49" charset="0"/>
                        </a:rPr>
                        <a:t>INT</a:t>
                      </a:r>
                      <a:endParaRPr lang="es-CO"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b="1"/>
                        <a:t>SÍ</a:t>
                      </a:r>
                      <a:endParaRPr lang="es-CO"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000" dirty="0"/>
                        <a:t>Es parte de la PK compuesta, pero por sí solo tiene poca utilidad de búsqueda.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5554611"/>
                  </a:ext>
                </a:extLst>
              </a:tr>
            </a:tbl>
          </a:graphicData>
        </a:graphic>
      </p:graphicFrame>
      <p:sp>
        <p:nvSpPr>
          <p:cNvPr id="13" name="CuadroTexto 12">
            <a:extLst>
              <a:ext uri="{FF2B5EF4-FFF2-40B4-BE49-F238E27FC236}">
                <a16:creationId xmlns:a16="http://schemas.microsoft.com/office/drawing/2014/main" id="{FE54FD78-2D1D-4595-58A9-0782DD7FCCEA}"/>
              </a:ext>
            </a:extLst>
          </p:cNvPr>
          <p:cNvSpPr txBox="1"/>
          <p:nvPr/>
        </p:nvSpPr>
        <p:spPr>
          <a:xfrm>
            <a:off x="1530578" y="916185"/>
            <a:ext cx="5863473" cy="584775"/>
          </a:xfrm>
          <a:prstGeom prst="rect">
            <a:avLst/>
          </a:prstGeom>
          <a:noFill/>
        </p:spPr>
        <p:txBody>
          <a:bodyPr wrap="square">
            <a:spAutoFit/>
          </a:bodyPr>
          <a:lstStyle/>
          <a:p>
            <a:pPr>
              <a:buNone/>
            </a:pPr>
            <a:r>
              <a:rPr lang="es-ES" sz="3200" b="1" dirty="0"/>
              <a:t>Muestra</a:t>
            </a:r>
            <a:endParaRPr lang="es-ES" sz="4000" dirty="0"/>
          </a:p>
        </p:txBody>
      </p:sp>
    </p:spTree>
    <p:extLst>
      <p:ext uri="{BB962C8B-B14F-4D97-AF65-F5344CB8AC3E}">
        <p14:creationId xmlns:p14="http://schemas.microsoft.com/office/powerpoint/2010/main" val="36957639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761CE-C638-6CD1-DA65-04C04F7DF22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D5A95AF-8336-8909-472B-AF1A68985C5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FBCEB714-60C6-7A33-E435-A4FBC323228C}"/>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E3C70E6F-A3A2-31FC-3D66-6564F52387E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16C1ECC-FBB2-0C70-E900-2AE108D2BEB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870806F7-1DF4-F8A7-140D-1E2C277D947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268B4A4-D69F-AA10-5988-F32473308C5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3749E62F-E81D-6001-782D-9D2DBF29CB6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1B45A7F3-5602-854F-9C4B-D1C109A130E6}"/>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4DF7B5B-491D-D3AC-58A9-BBDBC32ED6F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DD84319-279D-91CE-C667-CFAEC00613F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2E18296-D80C-37CB-3961-306BA02AEB32}"/>
              </a:ext>
            </a:extLst>
          </p:cNvPr>
          <p:cNvSpPr txBox="1"/>
          <p:nvPr/>
        </p:nvSpPr>
        <p:spPr>
          <a:xfrm>
            <a:off x="1610903" y="2029520"/>
            <a:ext cx="6445577" cy="6001643"/>
          </a:xfrm>
          <a:prstGeom prst="rect">
            <a:avLst/>
          </a:prstGeom>
          <a:noFill/>
        </p:spPr>
        <p:txBody>
          <a:bodyPr wrap="square">
            <a:spAutoFit/>
          </a:bodyPr>
          <a:lstStyle/>
          <a:p>
            <a:pPr>
              <a:buNone/>
            </a:pPr>
            <a:r>
              <a:rPr lang="es-ES" sz="3200" b="1" dirty="0"/>
              <a:t>El Corazón Transaccional (</a:t>
            </a:r>
            <a:r>
              <a:rPr lang="es-ES" sz="3200" b="1" dirty="0" err="1"/>
              <a:t>Order</a:t>
            </a:r>
            <a:r>
              <a:rPr lang="es-ES" sz="3200" b="1" dirty="0"/>
              <a:t> </a:t>
            </a:r>
            <a:r>
              <a:rPr lang="es-ES" sz="3200" b="1" dirty="0" err="1"/>
              <a:t>Items</a:t>
            </a:r>
            <a:r>
              <a:rPr lang="es-ES" sz="3200" b="1" dirty="0"/>
              <a:t>)</a:t>
            </a:r>
          </a:p>
          <a:p>
            <a:pPr>
              <a:buNone/>
            </a:pPr>
            <a:r>
              <a:rPr lang="es-ES" sz="3200" b="1" dirty="0"/>
              <a:t>Análisis de </a:t>
            </a:r>
            <a:r>
              <a:rPr lang="es-ES" sz="3200" b="1" dirty="0">
                <a:latin typeface="Courier New" panose="02070309020205020404" pitchFamily="49" charset="0"/>
              </a:rPr>
              <a:t>olist_order_items_dataset.csv</a:t>
            </a:r>
            <a:endParaRPr lang="es-ES" sz="3200" dirty="0"/>
          </a:p>
          <a:p>
            <a:pPr>
              <a:buNone/>
            </a:pPr>
            <a:r>
              <a:rPr lang="es-ES" sz="3200" dirty="0"/>
              <a:t>Aquí hay una lección crítica de diseño: </a:t>
            </a:r>
            <a:r>
              <a:rPr lang="es-ES" sz="3200" b="1" dirty="0"/>
              <a:t>La Llave Compuesta</a:t>
            </a:r>
            <a:r>
              <a:rPr lang="es-ES" sz="3200" dirty="0"/>
              <a:t>.</a:t>
            </a:r>
          </a:p>
          <a:p>
            <a:pPr>
              <a:buFont typeface="Arial" panose="020B0604020202020204" pitchFamily="34" charset="0"/>
              <a:buChar char="•"/>
            </a:pPr>
            <a:r>
              <a:rPr lang="es-ES" sz="3200" dirty="0"/>
              <a:t>No hay un "ID único de ítem" global.</a:t>
            </a:r>
          </a:p>
          <a:p>
            <a:pPr>
              <a:buFont typeface="Arial" panose="020B0604020202020204" pitchFamily="34" charset="0"/>
              <a:buChar char="•"/>
            </a:pPr>
            <a:r>
              <a:rPr lang="es-ES" sz="3200" dirty="0"/>
              <a:t>La llave es la combinación de </a:t>
            </a:r>
            <a:r>
              <a:rPr lang="es-ES" sz="3200" dirty="0" err="1">
                <a:latin typeface="Courier New" panose="02070309020205020404" pitchFamily="49" charset="0"/>
              </a:rPr>
              <a:t>order_id</a:t>
            </a:r>
            <a:r>
              <a:rPr lang="es-ES" sz="3200" dirty="0"/>
              <a:t> + </a:t>
            </a:r>
            <a:r>
              <a:rPr lang="es-ES" sz="3200" dirty="0" err="1">
                <a:latin typeface="Courier New" panose="02070309020205020404" pitchFamily="49" charset="0"/>
              </a:rPr>
              <a:t>order_item_id</a:t>
            </a:r>
            <a:r>
              <a:rPr lang="es-ES" sz="3200" dirty="0"/>
              <a:t> (1, 2, 3...).</a:t>
            </a:r>
          </a:p>
        </p:txBody>
      </p:sp>
      <p:pic>
        <p:nvPicPr>
          <p:cNvPr id="15" name="Imagen 14">
            <a:extLst>
              <a:ext uri="{FF2B5EF4-FFF2-40B4-BE49-F238E27FC236}">
                <a16:creationId xmlns:a16="http://schemas.microsoft.com/office/drawing/2014/main" id="{A9B87A72-3DDF-080C-B772-1F294959A498}"/>
              </a:ext>
            </a:extLst>
          </p:cNvPr>
          <p:cNvPicPr>
            <a:picLocks noChangeAspect="1"/>
          </p:cNvPicPr>
          <p:nvPr/>
        </p:nvPicPr>
        <p:blipFill>
          <a:blip r:embed="rId5"/>
          <a:stretch>
            <a:fillRect/>
          </a:stretch>
        </p:blipFill>
        <p:spPr>
          <a:xfrm>
            <a:off x="8738422" y="2271860"/>
            <a:ext cx="8947113" cy="5516964"/>
          </a:xfrm>
          <a:prstGeom prst="rect">
            <a:avLst/>
          </a:prstGeom>
        </p:spPr>
      </p:pic>
    </p:spTree>
    <p:extLst>
      <p:ext uri="{BB962C8B-B14F-4D97-AF65-F5344CB8AC3E}">
        <p14:creationId xmlns:p14="http://schemas.microsoft.com/office/powerpoint/2010/main" val="36178766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9DC32-6EA5-4724-26C8-9B38A0BFB0D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E7041E9-73DE-62A5-32B5-2D237296FB32}"/>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B7E025A-C234-C187-4DC5-BA0BA14A3564}"/>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FE674308-DA3F-C818-4F4F-F7F058E863CA}"/>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43A5F6F8-8499-2F0D-75FA-F5444D02170D}"/>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37B5EDFA-B11F-ACAF-51C0-EA850D6483B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E408313-DFCD-7858-8285-98D06A82015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DFD9EBE9-90C4-E9B4-05DB-E725EF8682D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ABF8983-8E80-4C1A-1E5E-745206041616}"/>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F6C4841-CC09-E0B9-36CC-133888F999BD}"/>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7A8C2F05-6C67-2DCA-F1AF-FAED203801E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DBFBB4E0-D130-EEDF-E0A8-428A17CA7757}"/>
              </a:ext>
            </a:extLst>
          </p:cNvPr>
          <p:cNvSpPr txBox="1"/>
          <p:nvPr/>
        </p:nvSpPr>
        <p:spPr>
          <a:xfrm>
            <a:off x="1445738" y="817294"/>
            <a:ext cx="13033833" cy="1815882"/>
          </a:xfrm>
          <a:prstGeom prst="rect">
            <a:avLst/>
          </a:prstGeom>
          <a:noFill/>
        </p:spPr>
        <p:txBody>
          <a:bodyPr wrap="square">
            <a:spAutoFit/>
          </a:bodyPr>
          <a:lstStyle/>
          <a:p>
            <a:pPr>
              <a:buNone/>
            </a:pPr>
            <a:r>
              <a:rPr lang="es-ES" sz="2800" b="1" dirty="0"/>
              <a:t>Productos y Vendedores (Catálogos)</a:t>
            </a:r>
          </a:p>
          <a:p>
            <a:pPr>
              <a:buNone/>
            </a:pPr>
            <a:endParaRPr lang="es-ES" sz="2800" b="1" dirty="0"/>
          </a:p>
          <a:p>
            <a:pPr>
              <a:buNone/>
            </a:pPr>
            <a:r>
              <a:rPr lang="es-ES" sz="2800" b="1" dirty="0"/>
              <a:t>Análisis de </a:t>
            </a:r>
            <a:r>
              <a:rPr lang="es-ES" sz="2800" b="1" dirty="0" err="1">
                <a:latin typeface="Courier New" panose="02070309020205020404" pitchFamily="49" charset="0"/>
              </a:rPr>
              <a:t>products</a:t>
            </a:r>
            <a:r>
              <a:rPr lang="es-ES" sz="2800" b="1" dirty="0"/>
              <a:t> y </a:t>
            </a:r>
            <a:r>
              <a:rPr lang="es-ES" sz="2800" b="1" dirty="0" err="1">
                <a:latin typeface="Courier New" panose="02070309020205020404" pitchFamily="49" charset="0"/>
              </a:rPr>
              <a:t>sellers</a:t>
            </a:r>
            <a:endParaRPr lang="es-ES" sz="2800" dirty="0"/>
          </a:p>
          <a:p>
            <a:pPr>
              <a:buNone/>
            </a:pPr>
            <a:r>
              <a:rPr lang="es-ES" sz="2800" dirty="0"/>
              <a:t>Estas son tablas maestras. Su función es guardar las características estáticas.</a:t>
            </a:r>
          </a:p>
        </p:txBody>
      </p:sp>
      <p:pic>
        <p:nvPicPr>
          <p:cNvPr id="15" name="Imagen 14">
            <a:extLst>
              <a:ext uri="{FF2B5EF4-FFF2-40B4-BE49-F238E27FC236}">
                <a16:creationId xmlns:a16="http://schemas.microsoft.com/office/drawing/2014/main" id="{BFB28C8E-6E01-21E8-7FD3-31F9064C9AD2}"/>
              </a:ext>
            </a:extLst>
          </p:cNvPr>
          <p:cNvPicPr>
            <a:picLocks noChangeAspect="1"/>
          </p:cNvPicPr>
          <p:nvPr/>
        </p:nvPicPr>
        <p:blipFill>
          <a:blip r:embed="rId5"/>
          <a:stretch>
            <a:fillRect/>
          </a:stretch>
        </p:blipFill>
        <p:spPr>
          <a:xfrm>
            <a:off x="4067348" y="3287118"/>
            <a:ext cx="10888595" cy="6182588"/>
          </a:xfrm>
          <a:prstGeom prst="rect">
            <a:avLst/>
          </a:prstGeom>
        </p:spPr>
      </p:pic>
    </p:spTree>
    <p:extLst>
      <p:ext uri="{BB962C8B-B14F-4D97-AF65-F5344CB8AC3E}">
        <p14:creationId xmlns:p14="http://schemas.microsoft.com/office/powerpoint/2010/main" val="4615019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5A6A7-AE82-0D03-4A4A-73BB5F6F638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22391A1-D7CE-6E73-9E67-BBBD9CF5682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45E793D-0188-5C8C-C64E-5D1C791452D4}"/>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3A2D4A00-426F-BE67-5874-94851E346E78}"/>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A85679C4-953D-0533-3D7E-CB4B16CB3BE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45AC1C83-91B9-3D50-1468-A981D883863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364B8C95-7046-E825-B668-D94A3634882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C001AA3B-D36C-C864-FBF1-CBDAF99154F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BF2B61A6-6791-F8C3-9CFC-84FAE5928AE4}"/>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A971B63-8177-7618-E33C-B0AC2880044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83BA2EE-CDF0-1BC2-BFBC-05BD839EDC2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D2FEF8BD-7B82-247D-B7B6-9717D83CD355}"/>
              </a:ext>
            </a:extLst>
          </p:cNvPr>
          <p:cNvSpPr txBox="1"/>
          <p:nvPr/>
        </p:nvSpPr>
        <p:spPr>
          <a:xfrm>
            <a:off x="1559386" y="885770"/>
            <a:ext cx="13355763" cy="1938992"/>
          </a:xfrm>
          <a:prstGeom prst="rect">
            <a:avLst/>
          </a:prstGeom>
          <a:noFill/>
        </p:spPr>
        <p:txBody>
          <a:bodyPr wrap="square">
            <a:spAutoFit/>
          </a:bodyPr>
          <a:lstStyle/>
          <a:p>
            <a:pPr>
              <a:buNone/>
            </a:pPr>
            <a:r>
              <a:rPr lang="es-ES" sz="2000" b="1" dirty="0"/>
              <a:t>Pagos y Reseñas (Detalles Finales)</a:t>
            </a:r>
          </a:p>
          <a:p>
            <a:pPr>
              <a:buNone/>
            </a:pPr>
            <a:endParaRPr lang="es-ES" sz="2000" b="1" dirty="0"/>
          </a:p>
          <a:p>
            <a:pPr>
              <a:buNone/>
            </a:pPr>
            <a:r>
              <a:rPr lang="es-ES" sz="2000" b="1" dirty="0"/>
              <a:t>La importancia de la Integridad</a:t>
            </a:r>
          </a:p>
          <a:p>
            <a:pPr>
              <a:buNone/>
            </a:pPr>
            <a:endParaRPr lang="es-ES" sz="2000" dirty="0"/>
          </a:p>
          <a:p>
            <a:pPr marL="285750" indent="-285750">
              <a:buFont typeface="Arial" panose="020B0604020202020204" pitchFamily="34" charset="0"/>
              <a:buChar char="•"/>
            </a:pPr>
            <a:r>
              <a:rPr lang="es-ES" sz="2000" b="1" dirty="0"/>
              <a:t>Pagos:</a:t>
            </a:r>
            <a:r>
              <a:rPr lang="es-ES" sz="2000" dirty="0"/>
              <a:t> Usamos una llave compuesta o secuencial porque un pago puede dividirse.</a:t>
            </a:r>
          </a:p>
          <a:p>
            <a:pPr marL="285750" indent="-285750">
              <a:buFont typeface="Arial" panose="020B0604020202020204" pitchFamily="34" charset="0"/>
              <a:buChar char="•"/>
            </a:pPr>
            <a:r>
              <a:rPr lang="es-ES" sz="2000" b="1" dirty="0"/>
              <a:t>Reseñas:</a:t>
            </a:r>
            <a:r>
              <a:rPr lang="es-ES" sz="2000" dirty="0"/>
              <a:t> Texto libre (</a:t>
            </a:r>
            <a:r>
              <a:rPr lang="es-ES" sz="2000" dirty="0">
                <a:latin typeface="Courier New" panose="02070309020205020404" pitchFamily="49" charset="0"/>
              </a:rPr>
              <a:t>TEXT</a:t>
            </a:r>
            <a:r>
              <a:rPr lang="es-ES" sz="2000" dirty="0"/>
              <a:t> o </a:t>
            </a:r>
            <a:r>
              <a:rPr lang="es-ES" sz="2000" dirty="0">
                <a:latin typeface="Courier New" panose="02070309020205020404" pitchFamily="49" charset="0"/>
              </a:rPr>
              <a:t>VARCHAR</a:t>
            </a:r>
            <a:r>
              <a:rPr lang="es-ES" sz="2000" dirty="0"/>
              <a:t> largo).</a:t>
            </a:r>
          </a:p>
        </p:txBody>
      </p:sp>
      <p:pic>
        <p:nvPicPr>
          <p:cNvPr id="15" name="Imagen 14">
            <a:extLst>
              <a:ext uri="{FF2B5EF4-FFF2-40B4-BE49-F238E27FC236}">
                <a16:creationId xmlns:a16="http://schemas.microsoft.com/office/drawing/2014/main" id="{9536C118-59F2-12A7-59A9-442B3077D6BF}"/>
              </a:ext>
            </a:extLst>
          </p:cNvPr>
          <p:cNvPicPr>
            <a:picLocks noChangeAspect="1"/>
          </p:cNvPicPr>
          <p:nvPr/>
        </p:nvPicPr>
        <p:blipFill>
          <a:blip r:embed="rId5"/>
          <a:stretch>
            <a:fillRect/>
          </a:stretch>
        </p:blipFill>
        <p:spPr>
          <a:xfrm>
            <a:off x="2982834" y="3545056"/>
            <a:ext cx="13355763" cy="4101862"/>
          </a:xfrm>
          <a:prstGeom prst="rect">
            <a:avLst/>
          </a:prstGeom>
        </p:spPr>
      </p:pic>
    </p:spTree>
    <p:extLst>
      <p:ext uri="{BB962C8B-B14F-4D97-AF65-F5344CB8AC3E}">
        <p14:creationId xmlns:p14="http://schemas.microsoft.com/office/powerpoint/2010/main" val="24971442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27CAD-F95E-CC97-C429-D537DBB959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D6F2185-2651-143E-A444-3F50111FAB2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563663D1-AC95-7B54-B430-DA67578E98BD}"/>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C58B6C39-BBEB-A228-4A11-C80854305DDF}"/>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29F4927-1DF2-6906-99CC-38995E44420D}"/>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730C126F-89E4-0A70-878C-5D339B2079F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240B576D-1FD0-46E6-7145-63B7D7B458B5}"/>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C56985DF-343D-6706-9A65-53A1415DBF9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927B62D3-0C5E-9F77-5CDE-87BAAE2630C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12C8DE0B-7820-703C-8610-8449C180AE3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8C954F68-7F02-15F9-5BAD-104E543DC156}"/>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F31ADD70-B7B2-92C8-3A53-74FBB2F9CCE2}"/>
              </a:ext>
            </a:extLst>
          </p:cNvPr>
          <p:cNvSpPr txBox="1"/>
          <p:nvPr/>
        </p:nvSpPr>
        <p:spPr>
          <a:xfrm>
            <a:off x="2754983" y="510790"/>
            <a:ext cx="9186420" cy="1323439"/>
          </a:xfrm>
          <a:prstGeom prst="rect">
            <a:avLst/>
          </a:prstGeom>
          <a:noFill/>
        </p:spPr>
        <p:txBody>
          <a:bodyPr wrap="square">
            <a:spAutoFit/>
          </a:bodyPr>
          <a:lstStyle/>
          <a:p>
            <a:pPr>
              <a:buNone/>
            </a:pPr>
            <a:r>
              <a:rPr lang="es-ES" sz="2000" b="1" dirty="0"/>
              <a:t>El Modelo Físico Completo (ERD Final)</a:t>
            </a:r>
          </a:p>
          <a:p>
            <a:pPr>
              <a:buNone/>
            </a:pPr>
            <a:r>
              <a:rPr lang="es-ES" sz="2000" b="1" dirty="0"/>
              <a:t>La "Blue </a:t>
            </a:r>
            <a:r>
              <a:rPr lang="es-ES" sz="2000" b="1" dirty="0" err="1"/>
              <a:t>Print</a:t>
            </a:r>
            <a:r>
              <a:rPr lang="es-ES" sz="2000" b="1" dirty="0"/>
              <a:t>" para el DBA</a:t>
            </a:r>
            <a:endParaRPr lang="es-ES" sz="2000" dirty="0"/>
          </a:p>
          <a:p>
            <a:pPr>
              <a:buNone/>
            </a:pPr>
            <a:r>
              <a:rPr lang="es-ES" sz="2000" dirty="0"/>
              <a:t>Este diagrama contiene toda la información necesaria para escribir el comando </a:t>
            </a:r>
            <a:r>
              <a:rPr lang="es-ES" sz="2000" dirty="0">
                <a:latin typeface="Courier New" panose="02070309020205020404" pitchFamily="49" charset="0"/>
              </a:rPr>
              <a:t>CREATE TABLE</a:t>
            </a:r>
            <a:r>
              <a:rPr lang="es-ES" sz="2000" dirty="0"/>
              <a:t> en SQL.</a:t>
            </a:r>
          </a:p>
        </p:txBody>
      </p:sp>
      <p:pic>
        <p:nvPicPr>
          <p:cNvPr id="15" name="Imagen 14">
            <a:extLst>
              <a:ext uri="{FF2B5EF4-FFF2-40B4-BE49-F238E27FC236}">
                <a16:creationId xmlns:a16="http://schemas.microsoft.com/office/drawing/2014/main" id="{ABDC44B7-7B9E-9AA1-23BE-984A90E2C79A}"/>
              </a:ext>
            </a:extLst>
          </p:cNvPr>
          <p:cNvPicPr>
            <a:picLocks noChangeAspect="1"/>
          </p:cNvPicPr>
          <p:nvPr/>
        </p:nvPicPr>
        <p:blipFill>
          <a:blip r:embed="rId5"/>
          <a:stretch>
            <a:fillRect/>
          </a:stretch>
        </p:blipFill>
        <p:spPr>
          <a:xfrm>
            <a:off x="4297423" y="2180000"/>
            <a:ext cx="10155067" cy="6982799"/>
          </a:xfrm>
          <a:prstGeom prst="rect">
            <a:avLst/>
          </a:prstGeom>
        </p:spPr>
      </p:pic>
    </p:spTree>
    <p:extLst>
      <p:ext uri="{BB962C8B-B14F-4D97-AF65-F5344CB8AC3E}">
        <p14:creationId xmlns:p14="http://schemas.microsoft.com/office/powerpoint/2010/main" val="19378832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57DC1-977B-422F-F3A5-E96ACCB24FC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F79D7CB-11BB-C198-F746-1F77CFB4AC0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3B3272E-D02E-B58C-31F1-492CC1118C5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C9E53280-176D-F6BC-5055-DE825DF9948D}"/>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3A78E716-80A2-C407-24B0-272A4ABAAF4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8F68F2DB-2CBB-75D5-1E88-06C6C0097D0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259199F8-821F-9241-FA7E-37D7460EC04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8ED2E2B9-FFD0-7235-B2DB-522C7733338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7C082F5D-D6F6-E1DD-9AD6-DB158FEB21E7}"/>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46969D7-8896-540D-B4D3-4EEEE7F7285E}"/>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B7BC3751-0C83-48AD-F83C-E5CF6F8CC446}"/>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Tree>
    <p:extLst>
      <p:ext uri="{BB962C8B-B14F-4D97-AF65-F5344CB8AC3E}">
        <p14:creationId xmlns:p14="http://schemas.microsoft.com/office/powerpoint/2010/main" val="2402809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grpSp>
        <p:nvGrpSpPr>
          <p:cNvPr id="361" name="Google Shape;361;p8"/>
          <p:cNvGrpSpPr/>
          <p:nvPr/>
        </p:nvGrpSpPr>
        <p:grpSpPr>
          <a:xfrm rot="10800000">
            <a:off x="10392303" y="0"/>
            <a:ext cx="7895697" cy="10431661"/>
            <a:chOff x="0" y="-38100"/>
            <a:chExt cx="2079525" cy="2747433"/>
          </a:xfrm>
        </p:grpSpPr>
        <p:sp>
          <p:nvSpPr>
            <p:cNvPr id="362" name="Google Shape;362;p8"/>
            <p:cNvSpPr/>
            <p:nvPr/>
          </p:nvSpPr>
          <p:spPr>
            <a:xfrm>
              <a:off x="0" y="0"/>
              <a:ext cx="2079525" cy="2709333"/>
            </a:xfrm>
            <a:custGeom>
              <a:avLst/>
              <a:gdLst/>
              <a:ahLst/>
              <a:cxnLst/>
              <a:rect l="l" t="t" r="r" b="b"/>
              <a:pathLst>
                <a:path w="2079525" h="2709333" extrusionOk="0">
                  <a:moveTo>
                    <a:pt x="0" y="0"/>
                  </a:moveTo>
                  <a:lnTo>
                    <a:pt x="2079525" y="0"/>
                  </a:lnTo>
                  <a:lnTo>
                    <a:pt x="2079525" y="2709333"/>
                  </a:lnTo>
                  <a:lnTo>
                    <a:pt x="0" y="2709333"/>
                  </a:lnTo>
                  <a:close/>
                </a:path>
              </a:pathLst>
            </a:custGeom>
            <a:gradFill>
              <a:gsLst>
                <a:gs pos="0">
                  <a:srgbClr val="6B1374"/>
                </a:gs>
                <a:gs pos="33333">
                  <a:srgbClr val="700A89"/>
                </a:gs>
                <a:gs pos="66667">
                  <a:srgbClr val="C20052"/>
                </a:gs>
                <a:gs pos="100000">
                  <a:srgbClr val="FF0055"/>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3" name="Google Shape;363;p8"/>
            <p:cNvSpPr txBox="1"/>
            <p:nvPr/>
          </p:nvSpPr>
          <p:spPr>
            <a:xfrm>
              <a:off x="0" y="-38100"/>
              <a:ext cx="2079525"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364" name="Google Shape;364;p8"/>
          <p:cNvSpPr/>
          <p:nvPr/>
        </p:nvSpPr>
        <p:spPr>
          <a:xfrm>
            <a:off x="9562641" y="4953536"/>
            <a:ext cx="4777510" cy="4687932"/>
          </a:xfrm>
          <a:custGeom>
            <a:avLst/>
            <a:gdLst/>
            <a:ahLst/>
            <a:cxnLst/>
            <a:rect l="l" t="t" r="r" b="b"/>
            <a:pathLst>
              <a:path w="4777510" h="4687932" extrusionOk="0">
                <a:moveTo>
                  <a:pt x="0" y="0"/>
                </a:moveTo>
                <a:lnTo>
                  <a:pt x="4777511" y="0"/>
                </a:lnTo>
                <a:lnTo>
                  <a:pt x="4777511" y="4687932"/>
                </a:lnTo>
                <a:lnTo>
                  <a:pt x="0" y="46879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5" name="Google Shape;365;p8"/>
          <p:cNvSpPr/>
          <p:nvPr/>
        </p:nvSpPr>
        <p:spPr>
          <a:xfrm rot="10800000">
            <a:off x="14340152" y="455568"/>
            <a:ext cx="4777510" cy="4687932"/>
          </a:xfrm>
          <a:custGeom>
            <a:avLst/>
            <a:gdLst/>
            <a:ahLst/>
            <a:cxnLst/>
            <a:rect l="l" t="t" r="r" b="b"/>
            <a:pathLst>
              <a:path w="4777510" h="4687932" extrusionOk="0">
                <a:moveTo>
                  <a:pt x="0" y="0"/>
                </a:moveTo>
                <a:lnTo>
                  <a:pt x="4777510" y="0"/>
                </a:lnTo>
                <a:lnTo>
                  <a:pt x="4777510" y="4687932"/>
                </a:lnTo>
                <a:lnTo>
                  <a:pt x="0" y="46879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66" name="Google Shape;366;p8"/>
          <p:cNvGrpSpPr/>
          <p:nvPr/>
        </p:nvGrpSpPr>
        <p:grpSpPr>
          <a:xfrm rot="1460314">
            <a:off x="11030759" y="4449732"/>
            <a:ext cx="7356554" cy="1393786"/>
            <a:chOff x="0" y="-38100"/>
            <a:chExt cx="1937529" cy="367088"/>
          </a:xfrm>
        </p:grpSpPr>
        <p:sp>
          <p:nvSpPr>
            <p:cNvPr id="367" name="Google Shape;367;p8"/>
            <p:cNvSpPr/>
            <p:nvPr/>
          </p:nvSpPr>
          <p:spPr>
            <a:xfrm>
              <a:off x="0" y="0"/>
              <a:ext cx="1937528" cy="328988"/>
            </a:xfrm>
            <a:custGeom>
              <a:avLst/>
              <a:gdLst/>
              <a:ahLst/>
              <a:cxnLst/>
              <a:rect l="l" t="t" r="r" b="b"/>
              <a:pathLst>
                <a:path w="1937528" h="328988" extrusionOk="0">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8" name="Google Shape;368;p8"/>
            <p:cNvSpPr txBox="1"/>
            <p:nvPr/>
          </p:nvSpPr>
          <p:spPr>
            <a:xfrm>
              <a:off x="0" y="-38100"/>
              <a:ext cx="1937529" cy="367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69" name="Google Shape;369;p8"/>
          <p:cNvGrpSpPr/>
          <p:nvPr/>
        </p:nvGrpSpPr>
        <p:grpSpPr>
          <a:xfrm>
            <a:off x="2068637" y="2993049"/>
            <a:ext cx="6434234" cy="2940731"/>
            <a:chOff x="0" y="-560842"/>
            <a:chExt cx="8578979" cy="3920975"/>
          </a:xfrm>
        </p:grpSpPr>
        <p:grpSp>
          <p:nvGrpSpPr>
            <p:cNvPr id="370" name="Google Shape;370;p8"/>
            <p:cNvGrpSpPr/>
            <p:nvPr/>
          </p:nvGrpSpPr>
          <p:grpSpPr>
            <a:xfrm>
              <a:off x="0" y="-560842"/>
              <a:ext cx="8578979" cy="3920975"/>
              <a:chOff x="0" y="-38100"/>
              <a:chExt cx="582801" cy="266366"/>
            </a:xfrm>
          </p:grpSpPr>
          <p:sp>
            <p:nvSpPr>
              <p:cNvPr id="371" name="Google Shape;371;p8"/>
              <p:cNvSpPr/>
              <p:nvPr/>
            </p:nvSpPr>
            <p:spPr>
              <a:xfrm>
                <a:off x="0" y="0"/>
                <a:ext cx="582801" cy="228266"/>
              </a:xfrm>
              <a:custGeom>
                <a:avLst/>
                <a:gdLst/>
                <a:ahLst/>
                <a:cxnLst/>
                <a:rect l="l" t="t" r="r" b="b"/>
                <a:pathLst>
                  <a:path w="582801" h="228266" extrusionOk="0">
                    <a:moveTo>
                      <a:pt x="87467" y="0"/>
                    </a:moveTo>
                    <a:lnTo>
                      <a:pt x="495335" y="0"/>
                    </a:lnTo>
                    <a:cubicBezTo>
                      <a:pt x="543641" y="0"/>
                      <a:pt x="582801" y="39160"/>
                      <a:pt x="582801" y="87467"/>
                    </a:cubicBezTo>
                    <a:lnTo>
                      <a:pt x="582801" y="140800"/>
                    </a:lnTo>
                    <a:cubicBezTo>
                      <a:pt x="582801" y="189106"/>
                      <a:pt x="543641" y="228266"/>
                      <a:pt x="495335" y="228266"/>
                    </a:cubicBezTo>
                    <a:lnTo>
                      <a:pt x="87467" y="228266"/>
                    </a:lnTo>
                    <a:cubicBezTo>
                      <a:pt x="39160" y="228266"/>
                      <a:pt x="0" y="189106"/>
                      <a:pt x="0" y="140800"/>
                    </a:cubicBezTo>
                    <a:lnTo>
                      <a:pt x="0" y="87467"/>
                    </a:lnTo>
                    <a:cubicBezTo>
                      <a:pt x="0" y="39160"/>
                      <a:pt x="39160" y="0"/>
                      <a:pt x="87467" y="0"/>
                    </a:cubicBezTo>
                    <a:close/>
                  </a:path>
                </a:pathLst>
              </a:custGeom>
              <a:solidFill>
                <a:srgbClr val="000000">
                  <a:alpha val="0"/>
                </a:srgbClr>
              </a:solidFill>
              <a:ln w="38100" cap="rnd" cmpd="sng">
                <a:solidFill>
                  <a:srgbClr val="6B137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2" name="Google Shape;372;p8"/>
              <p:cNvSpPr txBox="1"/>
              <p:nvPr/>
            </p:nvSpPr>
            <p:spPr>
              <a:xfrm>
                <a:off x="0" y="-38100"/>
                <a:ext cx="582801" cy="266366"/>
              </a:xfrm>
              <a:prstGeom prst="rect">
                <a:avLst/>
              </a:prstGeom>
              <a:noFill/>
              <a:ln>
                <a:noFill/>
              </a:ln>
            </p:spPr>
            <p:txBody>
              <a:bodyPr spcFirstLastPara="1" wrap="square" lIns="50800" tIns="50800" rIns="50800" bIns="50800" anchor="ctr" anchorCtr="0">
                <a:noAutofit/>
              </a:bodyPr>
              <a:lstStyle/>
              <a:p>
                <a:pPr marL="0" marR="0" lvl="0" indent="0" algn="ctr" rtl="0">
                  <a:lnSpc>
                    <a:spcPct val="147777"/>
                  </a:lnSpc>
                  <a:spcBef>
                    <a:spcPts val="0"/>
                  </a:spcBef>
                  <a:spcAft>
                    <a:spcPts val="0"/>
                  </a:spcAft>
                  <a:buNone/>
                </a:pPr>
                <a:endParaRPr sz="1800">
                  <a:solidFill>
                    <a:schemeClr val="dk1"/>
                  </a:solidFill>
                  <a:latin typeface="Calibri"/>
                  <a:ea typeface="Calibri"/>
                  <a:cs typeface="Calibri"/>
                  <a:sym typeface="Calibri"/>
                </a:endParaRPr>
              </a:p>
            </p:txBody>
          </p:sp>
        </p:grpSp>
        <p:sp>
          <p:nvSpPr>
            <p:cNvPr id="373" name="Google Shape;373;p8"/>
            <p:cNvSpPr txBox="1"/>
            <p:nvPr/>
          </p:nvSpPr>
          <p:spPr>
            <a:xfrm>
              <a:off x="355297" y="630411"/>
              <a:ext cx="7868384" cy="2659190"/>
            </a:xfrm>
            <a:prstGeom prst="rect">
              <a:avLst/>
            </a:prstGeom>
            <a:noFill/>
            <a:ln>
              <a:noFill/>
            </a:ln>
          </p:spPr>
          <p:txBody>
            <a:bodyPr spcFirstLastPara="1" wrap="square" lIns="0" tIns="0" rIns="0" bIns="0" anchor="t" anchorCtr="0">
              <a:spAutoFit/>
            </a:bodyPr>
            <a:lstStyle/>
            <a:p>
              <a:pPr marL="0" marR="0" lvl="0" indent="0" algn="ctr" rtl="0">
                <a:lnSpc>
                  <a:spcPct val="180000"/>
                </a:lnSpc>
                <a:spcBef>
                  <a:spcPts val="0"/>
                </a:spcBef>
                <a:spcAft>
                  <a:spcPts val="0"/>
                </a:spcAft>
                <a:buNone/>
              </a:pPr>
              <a:r>
                <a:rPr lang="es-CO" sz="2400" dirty="0">
                  <a:solidFill>
                    <a:srgbClr val="1F1F1D"/>
                  </a:solidFill>
                  <a:latin typeface="Poppins"/>
                  <a:ea typeface="Poppins"/>
                  <a:cs typeface="Poppins"/>
                  <a:sym typeface="Poppins"/>
                </a:rPr>
                <a:t>Juan Esteban Mejía Velásquez</a:t>
              </a:r>
              <a:endParaRPr dirty="0"/>
            </a:p>
            <a:p>
              <a:pPr marL="0" marR="0" lvl="0" indent="0" algn="ctr" rtl="0">
                <a:lnSpc>
                  <a:spcPct val="216000"/>
                </a:lnSpc>
                <a:spcBef>
                  <a:spcPts val="0"/>
                </a:spcBef>
                <a:spcAft>
                  <a:spcPts val="0"/>
                </a:spcAft>
                <a:buNone/>
              </a:pPr>
              <a:r>
                <a:rPr lang="es-MX" sz="2000" dirty="0">
                  <a:solidFill>
                    <a:srgbClr val="1F1F1D"/>
                  </a:solidFill>
                  <a:latin typeface="Poppins"/>
                  <a:ea typeface="Poppins"/>
                  <a:cs typeface="Poppins"/>
                  <a:sym typeface="Poppins"/>
                </a:rPr>
                <a:t>Docente</a:t>
              </a:r>
              <a:endParaRPr sz="2000" dirty="0">
                <a:solidFill>
                  <a:srgbClr val="1F1F1D"/>
                </a:solidFill>
                <a:latin typeface="Poppins"/>
                <a:ea typeface="Poppins"/>
                <a:cs typeface="Poppins"/>
                <a:sym typeface="Poppins"/>
              </a:endParaRPr>
            </a:p>
            <a:p>
              <a:pPr marL="0" marR="0" lvl="0" indent="0" algn="ctr" rtl="0">
                <a:lnSpc>
                  <a:spcPct val="180000"/>
                </a:lnSpc>
                <a:spcBef>
                  <a:spcPts val="0"/>
                </a:spcBef>
                <a:spcAft>
                  <a:spcPts val="0"/>
                </a:spcAft>
                <a:buNone/>
              </a:pPr>
              <a:r>
                <a:rPr lang="es-MX" sz="2400" u="sng" dirty="0">
                  <a:solidFill>
                    <a:srgbClr val="1F1F1D"/>
                  </a:solidFill>
                  <a:latin typeface="Poppins"/>
                  <a:ea typeface="Poppins"/>
                  <a:cs typeface="Poppins"/>
                  <a:sym typeface="Poppins"/>
                </a:rPr>
                <a:t>Correo</a:t>
              </a:r>
              <a:endParaRPr dirty="0"/>
            </a:p>
          </p:txBody>
        </p:sp>
      </p:grpSp>
      <p:sp>
        <p:nvSpPr>
          <p:cNvPr id="374" name="Google Shape;374;p8">
            <a:hlinkClick r:id="rId4"/>
          </p:cNvPr>
          <p:cNvSpPr/>
          <p:nvPr/>
        </p:nvSpPr>
        <p:spPr>
          <a:xfrm>
            <a:off x="2068637" y="6536925"/>
            <a:ext cx="360000" cy="332550"/>
          </a:xfrm>
          <a:custGeom>
            <a:avLst/>
            <a:gdLst/>
            <a:ahLst/>
            <a:cxnLst/>
            <a:rect l="l" t="t" r="r" b="b"/>
            <a:pathLst>
              <a:path w="360000" h="332550" extrusionOk="0">
                <a:moveTo>
                  <a:pt x="0" y="0"/>
                </a:moveTo>
                <a:lnTo>
                  <a:pt x="360000" y="0"/>
                </a:lnTo>
                <a:lnTo>
                  <a:pt x="360000" y="332550"/>
                </a:lnTo>
                <a:lnTo>
                  <a:pt x="0" y="33255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5" name="Google Shape;375;p8">
            <a:hlinkClick r:id="rId6"/>
          </p:cNvPr>
          <p:cNvSpPr/>
          <p:nvPr/>
        </p:nvSpPr>
        <p:spPr>
          <a:xfrm>
            <a:off x="5758126" y="6535688"/>
            <a:ext cx="360000" cy="360000"/>
          </a:xfrm>
          <a:custGeom>
            <a:avLst/>
            <a:gdLst/>
            <a:ahLst/>
            <a:cxnLst/>
            <a:rect l="l" t="t" r="r" b="b"/>
            <a:pathLst>
              <a:path w="360000" h="360000" extrusionOk="0">
                <a:moveTo>
                  <a:pt x="0" y="0"/>
                </a:moveTo>
                <a:lnTo>
                  <a:pt x="360000" y="0"/>
                </a:lnTo>
                <a:lnTo>
                  <a:pt x="360000" y="360000"/>
                </a:lnTo>
                <a:lnTo>
                  <a:pt x="0" y="360000"/>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6" name="Google Shape;376;p8">
            <a:hlinkClick r:id="rId8"/>
          </p:cNvPr>
          <p:cNvSpPr/>
          <p:nvPr/>
        </p:nvSpPr>
        <p:spPr>
          <a:xfrm>
            <a:off x="5775261" y="7145700"/>
            <a:ext cx="360000" cy="360000"/>
          </a:xfrm>
          <a:custGeom>
            <a:avLst/>
            <a:gdLst/>
            <a:ahLst/>
            <a:cxnLst/>
            <a:rect l="l" t="t" r="r" b="b"/>
            <a:pathLst>
              <a:path w="360000" h="360000" extrusionOk="0">
                <a:moveTo>
                  <a:pt x="0" y="0"/>
                </a:moveTo>
                <a:lnTo>
                  <a:pt x="360000" y="0"/>
                </a:lnTo>
                <a:lnTo>
                  <a:pt x="360000" y="360000"/>
                </a:lnTo>
                <a:lnTo>
                  <a:pt x="0" y="360000"/>
                </a:lnTo>
                <a:lnTo>
                  <a:pt x="0" y="0"/>
                </a:lnTo>
                <a:close/>
              </a:path>
            </a:pathLst>
          </a:cu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7" name="Google Shape;377;p8"/>
          <p:cNvSpPr/>
          <p:nvPr/>
        </p:nvSpPr>
        <p:spPr>
          <a:xfrm>
            <a:off x="2096214" y="7144126"/>
            <a:ext cx="332423" cy="332422"/>
          </a:xfrm>
          <a:custGeom>
            <a:avLst/>
            <a:gdLst/>
            <a:ahLst/>
            <a:cxnLst/>
            <a:rect l="l" t="t" r="r" b="b"/>
            <a:pathLst>
              <a:path w="332423" h="332422" extrusionOk="0">
                <a:moveTo>
                  <a:pt x="0" y="0"/>
                </a:moveTo>
                <a:lnTo>
                  <a:pt x="332423" y="0"/>
                </a:lnTo>
                <a:lnTo>
                  <a:pt x="332423" y="332423"/>
                </a:lnTo>
                <a:lnTo>
                  <a:pt x="0" y="332423"/>
                </a:lnTo>
                <a:lnTo>
                  <a:pt x="0" y="0"/>
                </a:lnTo>
                <a:close/>
              </a:path>
            </a:pathLst>
          </a:cu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8" name="Google Shape;378;p8"/>
          <p:cNvSpPr txBox="1"/>
          <p:nvPr/>
        </p:nvSpPr>
        <p:spPr>
          <a:xfrm>
            <a:off x="6214196" y="7136825"/>
            <a:ext cx="1721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a:solidFill>
                  <a:srgbClr val="1F1F1D"/>
                </a:solidFill>
                <a:latin typeface="Poppins"/>
                <a:ea typeface="Poppins"/>
                <a:cs typeface="Poppins"/>
                <a:sym typeface="Poppins"/>
                <a:hlinkClick r:id="rId8">
                  <a:extLst>
                    <a:ext uri="{A12FA001-AC4F-418D-AE19-62706E023703}">
                      <ahyp:hlinkClr xmlns:ahyp="http://schemas.microsoft.com/office/drawing/2018/hyperlinkcolor" val="tx"/>
                    </a:ext>
                  </a:extLst>
                </a:hlinkClick>
              </a:rPr>
              <a:t>www.enyoi.co</a:t>
            </a:r>
            <a:endParaRPr/>
          </a:p>
        </p:txBody>
      </p:sp>
      <p:sp>
        <p:nvSpPr>
          <p:cNvPr id="379" name="Google Shape;379;p8"/>
          <p:cNvSpPr txBox="1"/>
          <p:nvPr/>
        </p:nvSpPr>
        <p:spPr>
          <a:xfrm>
            <a:off x="6212929" y="6526813"/>
            <a:ext cx="1048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dirty="0">
                <a:solidFill>
                  <a:srgbClr val="1F1F1D"/>
                </a:solidFill>
                <a:latin typeface="Poppins"/>
                <a:ea typeface="Poppins"/>
                <a:cs typeface="Poppins"/>
                <a:sym typeface="Poppins"/>
                <a:hlinkClick r:id="rId6">
                  <a:extLst>
                    <a:ext uri="{A12FA001-AC4F-418D-AE19-62706E023703}">
                      <ahyp:hlinkClr xmlns:ahyp="http://schemas.microsoft.com/office/drawing/2018/hyperlinkcolor" val="tx"/>
                    </a:ext>
                  </a:extLst>
                </a:hlinkClick>
              </a:rPr>
              <a:t>enyoi.co</a:t>
            </a:r>
            <a:endParaRPr dirty="0"/>
          </a:p>
        </p:txBody>
      </p:sp>
      <p:sp>
        <p:nvSpPr>
          <p:cNvPr id="380" name="Google Shape;380;p8"/>
          <p:cNvSpPr txBox="1"/>
          <p:nvPr/>
        </p:nvSpPr>
        <p:spPr>
          <a:xfrm>
            <a:off x="2520238" y="6526813"/>
            <a:ext cx="2467846" cy="43088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dirty="0">
                <a:solidFill>
                  <a:srgbClr val="1F1F1D"/>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+57 </a:t>
            </a:r>
            <a:r>
              <a:rPr lang="es-MX" sz="2000" u="sng" dirty="0">
                <a:solidFill>
                  <a:srgbClr val="1F1F1D"/>
                </a:solidFill>
                <a:latin typeface="Poppins"/>
                <a:ea typeface="Poppins"/>
                <a:cs typeface="Poppins"/>
                <a:sym typeface="Poppins"/>
              </a:rPr>
              <a:t>301 673 6729</a:t>
            </a:r>
            <a:endParaRPr dirty="0"/>
          </a:p>
        </p:txBody>
      </p:sp>
      <p:sp>
        <p:nvSpPr>
          <p:cNvPr id="381" name="Google Shape;381;p8"/>
          <p:cNvSpPr txBox="1"/>
          <p:nvPr/>
        </p:nvSpPr>
        <p:spPr>
          <a:xfrm>
            <a:off x="2520164" y="7136825"/>
            <a:ext cx="1048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a:solidFill>
                  <a:srgbClr val="1F1F1D"/>
                </a:solidFill>
                <a:latin typeface="Poppins"/>
                <a:ea typeface="Poppins"/>
                <a:cs typeface="Poppins"/>
                <a:sym typeface="Poppins"/>
                <a:hlinkClick r:id="rId11">
                  <a:extLst>
                    <a:ext uri="{A12FA001-AC4F-418D-AE19-62706E023703}">
                      <ahyp:hlinkClr xmlns:ahyp="http://schemas.microsoft.com/office/drawing/2018/hyperlinkcolor" val="tx"/>
                    </a:ext>
                  </a:extLst>
                </a:hlinkClick>
              </a:rPr>
              <a:t>enyoi.co</a:t>
            </a:r>
            <a:endParaRPr/>
          </a:p>
        </p:txBody>
      </p:sp>
      <p:grpSp>
        <p:nvGrpSpPr>
          <p:cNvPr id="382" name="Google Shape;382;p8"/>
          <p:cNvGrpSpPr/>
          <p:nvPr/>
        </p:nvGrpSpPr>
        <p:grpSpPr>
          <a:xfrm>
            <a:off x="2068637" y="6865719"/>
            <a:ext cx="2744745" cy="192288"/>
            <a:chOff x="0" y="-38100"/>
            <a:chExt cx="722896" cy="50643"/>
          </a:xfrm>
        </p:grpSpPr>
        <p:sp>
          <p:nvSpPr>
            <p:cNvPr id="383" name="Google Shape;383;p8"/>
            <p:cNvSpPr/>
            <p:nvPr/>
          </p:nvSpPr>
          <p:spPr>
            <a:xfrm>
              <a:off x="0" y="0"/>
              <a:ext cx="722896" cy="12543"/>
            </a:xfrm>
            <a:custGeom>
              <a:avLst/>
              <a:gdLst/>
              <a:ahLst/>
              <a:cxnLst/>
              <a:rect l="l" t="t" r="r" b="b"/>
              <a:pathLst>
                <a:path w="722896" h="12543" extrusionOk="0">
                  <a:moveTo>
                    <a:pt x="6272" y="0"/>
                  </a:moveTo>
                  <a:lnTo>
                    <a:pt x="716624" y="0"/>
                  </a:lnTo>
                  <a:cubicBezTo>
                    <a:pt x="718288" y="0"/>
                    <a:pt x="719883" y="661"/>
                    <a:pt x="721059" y="1837"/>
                  </a:cubicBezTo>
                  <a:cubicBezTo>
                    <a:pt x="722235" y="3013"/>
                    <a:pt x="722896" y="4608"/>
                    <a:pt x="722896" y="6272"/>
                  </a:cubicBezTo>
                  <a:lnTo>
                    <a:pt x="722896" y="6272"/>
                  </a:lnTo>
                  <a:cubicBezTo>
                    <a:pt x="722896" y="7935"/>
                    <a:pt x="722235" y="9530"/>
                    <a:pt x="721059" y="10706"/>
                  </a:cubicBezTo>
                  <a:cubicBezTo>
                    <a:pt x="719883" y="11882"/>
                    <a:pt x="718288" y="12543"/>
                    <a:pt x="716624"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4" name="Google Shape;384;p8"/>
            <p:cNvSpPr txBox="1"/>
            <p:nvPr/>
          </p:nvSpPr>
          <p:spPr>
            <a:xfrm>
              <a:off x="0" y="-38100"/>
              <a:ext cx="722896" cy="5064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85" name="Google Shape;385;p8"/>
          <p:cNvGrpSpPr/>
          <p:nvPr/>
        </p:nvGrpSpPr>
        <p:grpSpPr>
          <a:xfrm>
            <a:off x="5758126" y="6865719"/>
            <a:ext cx="2744745" cy="192288"/>
            <a:chOff x="0" y="-38100"/>
            <a:chExt cx="722896" cy="50643"/>
          </a:xfrm>
        </p:grpSpPr>
        <p:sp>
          <p:nvSpPr>
            <p:cNvPr id="386" name="Google Shape;386;p8"/>
            <p:cNvSpPr/>
            <p:nvPr/>
          </p:nvSpPr>
          <p:spPr>
            <a:xfrm>
              <a:off x="0" y="0"/>
              <a:ext cx="722896" cy="12543"/>
            </a:xfrm>
            <a:custGeom>
              <a:avLst/>
              <a:gdLst/>
              <a:ahLst/>
              <a:cxnLst/>
              <a:rect l="l" t="t" r="r" b="b"/>
              <a:pathLst>
                <a:path w="722896" h="12543" extrusionOk="0">
                  <a:moveTo>
                    <a:pt x="6272" y="0"/>
                  </a:moveTo>
                  <a:lnTo>
                    <a:pt x="716624" y="0"/>
                  </a:lnTo>
                  <a:cubicBezTo>
                    <a:pt x="718288" y="0"/>
                    <a:pt x="719883" y="661"/>
                    <a:pt x="721059" y="1837"/>
                  </a:cubicBezTo>
                  <a:cubicBezTo>
                    <a:pt x="722235" y="3013"/>
                    <a:pt x="722896" y="4608"/>
                    <a:pt x="722896" y="6272"/>
                  </a:cubicBezTo>
                  <a:lnTo>
                    <a:pt x="722896" y="6272"/>
                  </a:lnTo>
                  <a:cubicBezTo>
                    <a:pt x="722896" y="7935"/>
                    <a:pt x="722235" y="9530"/>
                    <a:pt x="721059" y="10706"/>
                  </a:cubicBezTo>
                  <a:cubicBezTo>
                    <a:pt x="719883" y="11882"/>
                    <a:pt x="718288" y="12543"/>
                    <a:pt x="716624"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8"/>
            <p:cNvSpPr txBox="1"/>
            <p:nvPr/>
          </p:nvSpPr>
          <p:spPr>
            <a:xfrm>
              <a:off x="0" y="-38100"/>
              <a:ext cx="722896" cy="5064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pic>
        <p:nvPicPr>
          <p:cNvPr id="388" name="Google Shape;388;p8"/>
          <p:cNvPicPr preferRelativeResize="0"/>
          <p:nvPr/>
        </p:nvPicPr>
        <p:blipFill rotWithShape="1">
          <a:blip r:embed="rId12">
            <a:alphaModFix/>
          </a:blip>
          <a:srcRect l="53990" t="15859" r="8554" b="69322"/>
          <a:stretch/>
        </p:blipFill>
        <p:spPr>
          <a:xfrm>
            <a:off x="5001939" y="578151"/>
            <a:ext cx="4721448" cy="1048052"/>
          </a:xfrm>
          <a:prstGeom prst="rect">
            <a:avLst/>
          </a:prstGeom>
          <a:noFill/>
          <a:ln>
            <a:noFill/>
          </a:ln>
        </p:spPr>
      </p:pic>
      <p:sp>
        <p:nvSpPr>
          <p:cNvPr id="389" name="Google Shape;389;p8"/>
          <p:cNvSpPr/>
          <p:nvPr/>
        </p:nvSpPr>
        <p:spPr>
          <a:xfrm>
            <a:off x="729281" y="455568"/>
            <a:ext cx="3004519" cy="1201808"/>
          </a:xfrm>
          <a:custGeom>
            <a:avLst/>
            <a:gdLst/>
            <a:ahLst/>
            <a:cxnLst/>
            <a:rect l="l" t="t" r="r" b="b"/>
            <a:pathLst>
              <a:path w="3457174" h="1382870" extrusionOk="0">
                <a:moveTo>
                  <a:pt x="0" y="0"/>
                </a:moveTo>
                <a:lnTo>
                  <a:pt x="3457174" y="0"/>
                </a:lnTo>
                <a:lnTo>
                  <a:pt x="3457174" y="1382870"/>
                </a:lnTo>
                <a:lnTo>
                  <a:pt x="0" y="1382870"/>
                </a:lnTo>
                <a:lnTo>
                  <a:pt x="0" y="0"/>
                </a:lnTo>
                <a:close/>
              </a:path>
            </a:pathLst>
          </a:custGeom>
          <a:blipFill rotWithShape="1">
            <a:blip r:embed="rId1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D3A58C-3D05-C046-9AAE-5BF1861D62B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3A38D67-ACFE-7E6A-241A-85CF4FF7B16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ED6A4A54-79A1-D495-ECC9-15083193F74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55546EC-FCB1-C406-8316-267FBA3CFEEB}"/>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9826FE44-05ED-CDD2-461F-443A65D2BF9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6E769E14-625D-0AA9-E817-AF151F659A5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849A2BB2-F7B8-2606-B971-ED8ABDE0F9E5}"/>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8E0FDD5-DAB9-AE31-9A2E-CD7242E20ED1}"/>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EEC7A90-2C63-DDEC-96C3-115A62F6749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DB933630-C05F-D99D-06A2-731433FFDFE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E10E46B-106D-8D50-57EE-14FC3AF6595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EE4BFA2C-8FF2-0D82-5E94-36CB7DDEB717}"/>
              </a:ext>
            </a:extLst>
          </p:cNvPr>
          <p:cNvSpPr txBox="1"/>
          <p:nvPr/>
        </p:nvSpPr>
        <p:spPr>
          <a:xfrm>
            <a:off x="1548352" y="312385"/>
            <a:ext cx="12912365" cy="156966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endParaRPr lang="es-ES" sz="3200" dirty="0"/>
          </a:p>
        </p:txBody>
      </p:sp>
      <p:sp>
        <p:nvSpPr>
          <p:cNvPr id="13" name="CuadroTexto 12">
            <a:extLst>
              <a:ext uri="{FF2B5EF4-FFF2-40B4-BE49-F238E27FC236}">
                <a16:creationId xmlns:a16="http://schemas.microsoft.com/office/drawing/2014/main" id="{D3334DFA-F701-CF24-E779-FA66716292C9}"/>
              </a:ext>
            </a:extLst>
          </p:cNvPr>
          <p:cNvSpPr txBox="1"/>
          <p:nvPr/>
        </p:nvSpPr>
        <p:spPr>
          <a:xfrm>
            <a:off x="1912370" y="2439679"/>
            <a:ext cx="13781388" cy="5262979"/>
          </a:xfrm>
          <a:prstGeom prst="rect">
            <a:avLst/>
          </a:prstGeom>
          <a:noFill/>
        </p:spPr>
        <p:txBody>
          <a:bodyPr wrap="square">
            <a:spAutoFit/>
          </a:bodyPr>
          <a:lstStyle/>
          <a:p>
            <a:r>
              <a:rPr lang="es-ES" sz="2800" dirty="0"/>
              <a:t>La combinación de estos dos indicadores siempre sigue un orden específico. Ubicado en el borde exterior de la relación, el símbolo de multiplicidad aparece primero. El símbolo que indica si la relación es obligatoria u opcional se muestra después del símbolo de multiplicidad.</a:t>
            </a:r>
          </a:p>
          <a:p>
            <a:endParaRPr lang="es-ES" sz="2800" dirty="0"/>
          </a:p>
          <a:p>
            <a:r>
              <a:rPr lang="es-ES" sz="2800" dirty="0"/>
              <a:t>En notación de pata de gallo:</a:t>
            </a:r>
          </a:p>
          <a:p>
            <a:endParaRPr lang="es-ES" sz="2800" dirty="0"/>
          </a:p>
          <a:p>
            <a:pPr marL="457200" indent="-457200">
              <a:buFont typeface="Arial" panose="020B0604020202020204" pitchFamily="34" charset="0"/>
              <a:buChar char="•"/>
            </a:pPr>
            <a:r>
              <a:rPr lang="es-ES" sz="2800" dirty="0"/>
              <a:t>Una multiplicidad de uno y una relación obligatoria se representan mediante una línea recta perpendicular a la línea de relación.</a:t>
            </a:r>
          </a:p>
          <a:p>
            <a:pPr marL="457200" indent="-457200">
              <a:buFont typeface="Arial" panose="020B0604020202020204" pitchFamily="34" charset="0"/>
              <a:buChar char="•"/>
            </a:pPr>
            <a:r>
              <a:rPr lang="es-ES" sz="2800" dirty="0"/>
              <a:t>Una multiplicidad de muchos se representa mediante el símbolo de la pata de gallo de tres puntas.</a:t>
            </a:r>
          </a:p>
          <a:p>
            <a:pPr marL="457200" indent="-457200">
              <a:buFont typeface="Arial" panose="020B0604020202020204" pitchFamily="34" charset="0"/>
              <a:buChar char="•"/>
            </a:pPr>
            <a:r>
              <a:rPr lang="es-ES" sz="2800" dirty="0"/>
              <a:t>Una relación opcional se representa mediante un círculo vacío.</a:t>
            </a:r>
            <a:endParaRPr lang="es-CO" sz="2800" dirty="0"/>
          </a:p>
        </p:txBody>
      </p:sp>
      <p:sp>
        <p:nvSpPr>
          <p:cNvPr id="14" name="AutoShape 2" descr="Imagen de ">
            <a:extLst>
              <a:ext uri="{FF2B5EF4-FFF2-40B4-BE49-F238E27FC236}">
                <a16:creationId xmlns:a16="http://schemas.microsoft.com/office/drawing/2014/main" id="{4F285B53-D60E-89A9-8D89-4AC4F4CD268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Tree>
    <p:extLst>
      <p:ext uri="{BB962C8B-B14F-4D97-AF65-F5344CB8AC3E}">
        <p14:creationId xmlns:p14="http://schemas.microsoft.com/office/powerpoint/2010/main" val="319411923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E0DDBAFD1725F409D01B56EA32EFDE3" ma:contentTypeVersion="7" ma:contentTypeDescription="Crear nuevo documento." ma:contentTypeScope="" ma:versionID="7dc7d2ffd02d580038770cdc54fb49b2">
  <xsd:schema xmlns:xsd="http://www.w3.org/2001/XMLSchema" xmlns:xs="http://www.w3.org/2001/XMLSchema" xmlns:p="http://schemas.microsoft.com/office/2006/metadata/properties" xmlns:ns2="6c275f7e-0654-4a6d-8904-2cca8e28e712" xmlns:ns3="cd0e0202-030e-462a-aa27-6a6a82479e70" targetNamespace="http://schemas.microsoft.com/office/2006/metadata/properties" ma:root="true" ma:fieldsID="6553f877db16f6ec9bb39e8e018c4235" ns2:_="" ns3:_="">
    <xsd:import namespace="6c275f7e-0654-4a6d-8904-2cca8e28e712"/>
    <xsd:import namespace="cd0e0202-030e-462a-aa27-6a6a82479e70"/>
    <xsd:element name="properties">
      <xsd:complexType>
        <xsd:sequence>
          <xsd:element name="documentManagement">
            <xsd:complexType>
              <xsd:all>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275f7e-0654-4a6d-8904-2cca8e28e712"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Etiquetas de imagen" ma:readOnly="false" ma:fieldId="{5cf76f15-5ced-4ddc-b409-7134ff3c332f}" ma:taxonomyMulti="true" ma:sspId="39d08eb0-6654-4c6a-ad6e-6625fbda6bf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d0e0202-030e-462a-aa27-6a6a82479e70"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821bf81b-0d50-4df5-8eec-576b1a7382f6}" ma:internalName="TaxCatchAll" ma:showField="CatchAllData" ma:web="cd0e0202-030e-462a-aa27-6a6a82479e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d0e0202-030e-462a-aa27-6a6a82479e70" xsi:nil="true"/>
    <lcf76f155ced4ddcb4097134ff3c332f xmlns="6c275f7e-0654-4a6d-8904-2cca8e28e71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2897171-D617-4035-84F5-B2C4786536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275f7e-0654-4a6d-8904-2cca8e28e712"/>
    <ds:schemaRef ds:uri="cd0e0202-030e-462a-aa27-6a6a82479e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E3D0385-A233-4172-ADB2-B697B7C47559}">
  <ds:schemaRefs>
    <ds:schemaRef ds:uri="http://schemas.microsoft.com/sharepoint/v3/contenttype/forms"/>
  </ds:schemaRefs>
</ds:datastoreItem>
</file>

<file path=customXml/itemProps3.xml><?xml version="1.0" encoding="utf-8"?>
<ds:datastoreItem xmlns:ds="http://schemas.openxmlformats.org/officeDocument/2006/customXml" ds:itemID="{AB26D1D1-A15E-45AB-876A-271BF38AB980}">
  <ds:schemaRefs>
    <ds:schemaRef ds:uri="http://schemas.microsoft.com/office/infopath/2007/PartnerControls"/>
    <ds:schemaRef ds:uri="cd0e0202-030e-462a-aa27-6a6a82479e70"/>
    <ds:schemaRef ds:uri="http://purl.org/dc/elements/1.1/"/>
    <ds:schemaRef ds:uri="http://schemas.microsoft.com/office/2006/documentManagement/types"/>
    <ds:schemaRef ds:uri="http://purl.org/dc/terms/"/>
    <ds:schemaRef ds:uri="http://schemas.openxmlformats.org/package/2006/metadata/core-properties"/>
    <ds:schemaRef ds:uri="http://purl.org/dc/dcmitype/"/>
    <ds:schemaRef ds:uri="6c275f7e-0654-4a6d-8904-2cca8e28e712"/>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7580</TotalTime>
  <Words>6362</Words>
  <Application>Microsoft Office PowerPoint</Application>
  <PresentationFormat>Personalizado</PresentationFormat>
  <Paragraphs>868</Paragraphs>
  <Slides>80</Slides>
  <Notes>2</Notes>
  <HiddenSlides>1</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80</vt:i4>
      </vt:variant>
    </vt:vector>
  </HeadingPairs>
  <TitlesOfParts>
    <vt:vector size="87" baseType="lpstr">
      <vt:lpstr>Calibri</vt:lpstr>
      <vt:lpstr>Poppins 1 Bold</vt:lpstr>
      <vt:lpstr>Poppins</vt:lpstr>
      <vt:lpstr>Google Sans Text</vt: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Administrador</dc:creator>
  <cp:lastModifiedBy>Juan Esteban Mejia Velasquez</cp:lastModifiedBy>
  <cp:revision>31</cp:revision>
  <dcterms:created xsi:type="dcterms:W3CDTF">2006-08-16T00:00:00Z</dcterms:created>
  <dcterms:modified xsi:type="dcterms:W3CDTF">2025-12-02T12:48:46Z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0x0101009E0DDBAFD1725F409D01B56EA32EFDE3</vt:lpwstr>
  </property>
  <property fmtid="{D5CDD505-2E9C-101B-9397-08002B2CF9AE}" pid="3" name="GUID">
    <vt:lpwstr>8ee56194-4f5f-4314-9a7c-fa71b263b52c</vt:lpwstr>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SharedWithUsers">
    <vt:lpwstr/>
  </property>
  <property fmtid="{D5CDD505-2E9C-101B-9397-08002B2CF9AE}" pid="8" name="TriggerFlowInfo">
    <vt:lpwstr/>
  </property>
  <property fmtid="{D5CDD505-2E9C-101B-9397-08002B2CF9AE}" pid="9" name="ComplianceAssetId">
    <vt:lpwstr/>
  </property>
  <property fmtid="{D5CDD505-2E9C-101B-9397-08002B2CF9AE}" pid="10" name="TemplateUrl">
    <vt:lpwstr/>
  </property>
  <property fmtid="{D5CDD505-2E9C-101B-9397-08002B2CF9AE}" pid="11" name="MediaServiceImageTags">
    <vt:lpwstr/>
  </property>
</Properties>
</file>